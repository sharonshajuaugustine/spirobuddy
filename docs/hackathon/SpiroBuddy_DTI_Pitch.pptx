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7" r:id="rId7"/>
    <p:sldId id="259" r:id="rId9"/>
    <p:sldId id="260" r:id="rId10"/>
    <p:sldId id="261" r:id="rId11"/>
    <p:sldId id="262" r:id="rId12"/>
    <p:sldId id="275" r:id="rId32"/>
    <p:sldId id="263" r:id="rId13"/>
    <p:sldId id="264" r:id="rId14"/>
    <p:sldId id="276" r:id="rId33"/>
    <p:sldId id="265" r:id="rId15"/>
    <p:sldId id="277" r:id="rId34"/>
    <p:sldId id="266" r:id="rId16"/>
    <p:sldId id="267" r:id="rId17"/>
    <p:sldId id="278" r:id="rId35"/>
    <p:sldId id="268" r:id="rId18"/>
    <p:sldId id="270" r:id="rId20"/>
    <p:sldId id="271" r:id="rId21"/>
    <p:sldId id="272" r:id="rId22"/>
    <p:sldId id="273" r:id="rId23"/>
    <p:sldId id="274" r:id="rId24"/>
  </p:sldIdLst>
  <p:sldSz cy="6858000" cx="12192000"/>
  <p:notesSz cx="6858000" cy="12192000"/>
  <p:embeddedFontLst>
    <p:embeddedFont>
      <p:font typeface="Play"/>
      <p:regular r:id="rId25"/>
      <p:bold r:id="rId26"/>
    </p:embeddedFont>
    <p:embeddedFont>
      <p:font typeface="Quattrocento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7ADF06-5147-4780-BFA7-53A4D7389C23}">
  <a:tblStyle styleId="{D57ADF06-5147-4780-BFA7-53A4D7389C2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7" Type="http://schemas.openxmlformats.org/officeDocument/2006/relationships/slide" Target="slides/slide2.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font" Target="fonts/Play-regular.fntdata"/><Relationship Id="rId26" Type="http://schemas.openxmlformats.org/officeDocument/2006/relationships/font" Target="fonts/Play-bold.fntdata"/><Relationship Id="rId27" Type="http://schemas.openxmlformats.org/officeDocument/2006/relationships/font" Target="fonts/QuattrocentoSans-regular.fntdata"/><Relationship Id="rId28" Type="http://schemas.openxmlformats.org/officeDocument/2006/relationships/font" Target="fonts/QuattrocentoSans-bold.fntdata"/><Relationship Id="rId29" Type="http://schemas.openxmlformats.org/officeDocument/2006/relationships/font" Target="fonts/QuattrocentoSans-italic.fntdata"/><Relationship Id="rId30" Type="http://schemas.openxmlformats.org/officeDocument/2006/relationships/font" Target="fonts/QuattrocentoSans-boldItalic.fntdata"/><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6111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6111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1580813"/>
            <a:ext cx="2971800" cy="6111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Honestly: about TRL three to four. The software works end to end, live. The sensor unit is not built, and nothing is tested on patients.</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txBox="1"/>
          <p:nvPr>
            <p:ph idx="1" type="body"/>
          </p:nvPr>
        </p:nvSpPr>
        <p:spPr>
          <a:xfrm>
            <a:off x="685800" y="5867400"/>
            <a:ext cx="5486400" cy="4800600"/>
          </a:xfrm>
          <a:prstGeom prst="rect">
            <a:avLst/>
          </a:prstGeom>
        </p:spPr>
        <p:txBody>
          <a:bodyPr anchorCtr="0" anchor="t" bIns="45700" lIns="91425" spcFirstLastPara="1" rIns="91425" wrap="square" tIns="45700">
            <a:noAutofit/>
          </a:bodyPr>
          <a:lstStyle/>
          <a:p>
            <a:r>
              <a:t>Good afternoon. I'm [name], from team SpiroBuddy, in the Health and Well-being track.</a:t>
            </a:r>
          </a:p>
          <a:p/>
          <a:p>
            <a:r>
              <a:t>After surgery, patients go home with a plastic breathing exerciser and are told to use it every hour, and nobody, not the nurse, not the family, not even the clinical trials, has checked whether they actually do; SpiroBuddy makes that visible.</a:t>
            </a:r>
          </a:p>
        </p:txBody>
      </p:sp>
      <p:sp>
        <p:nvSpPr>
          <p:cNvPr id="26" name="Google Shape;26;p2: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 separate lines in the 5-minute script.) The AI never diagnoses; it coaches and summarises. Red-flag words trigger a fixed "contact your nurse or call 112" message from word lists, not AI. Alerts follow fixed rules. Fake patients only today. Consent from the patient, in their language; the family member opts in; one word, STOP, ends messages. Nothing to do with payments in the hospital, nurse or patient apps.</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4: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4: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r>
              <a:t>After an operation, many patients go home with this: an incentive spirometer, a plastic breathing exerciser. Breathe in slowly, the disc rises, hold, ten times every waking hour. About one in ten adults having surgery gets a lung complication. Now the strange part. Reviews say the exerciser on its own makes little difference. But those trials almost never checked whether patients actually did it. Eighty-six percent of nurses say patients don't use it properly, mostly because they forget. In a Chennai study, only six percent did it right on day one. Nobody can see who is doing it. We make it visible.</a:t>
            </a:r>
          </a:p>
        </p:txBody>
      </p:sp>
      <p:sp>
        <p:nvSpPr>
          <p:cNvPr id="54" name="Google Shape;54;p4: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5: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5: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r>
              <a:t>Our impact metric is one number: the share of due hourly sessions completed. It is counted automatically. In a US trial, hourly reminders alone doubled the share of waking hours with exercise, from twenty-eight to fifty-eight percent. In our opening pilot, thirty patients on one ward, we will measure that same number on an Indian ward, and report it whatever it is. This serves SDG 3: target 3.8, access to quality care, and 3.4, recovery from heart and lung disease. We will not claim fewer complications until a proper study shows it.</a:t>
            </a:r>
          </a:p>
        </p:txBody>
      </p:sp>
      <p:sp>
        <p:nvSpPr>
          <p:cNvPr id="67" name="Google Shape;67;p5: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6: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6: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r>
              <a:t>Who is affected? Older patients after heart, abdominal and chest surgery. India records about forty-nine lakh major operations a year, and that is an undercount. Ward nurses, who teach it once and can't watch every patient every hour. And families. Two in three older Indians live with their children, but three in four older women can't read. We spoke to [number and roles of interviewees]. One told us: "[best quote]".</a:t>
            </a:r>
          </a:p>
        </p:txBody>
      </p:sp>
      <p:sp>
        <p:nvSpPr>
          <p:cNvPr id="81" name="Google Shape;81;p6: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7: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7: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r>
              <a:t>SpiroBuddy is the adherence and coaching layer for breathing exercise. The ordinary exerciser stands on a small base. A laser sensor reads how high the disc rises. A voice coaches each breath in the patient's own language: slower, hold, well done. The nurse sees who is falling behind. And a family member who opted in, with the patient's consent, gets one short WhatsApp update a day.</a:t>
            </a:r>
          </a:p>
        </p:txBody>
      </p:sp>
      <p:sp>
        <p:nvSpPr>
          <p:cNvPr id="94" name="Google Shape;94;p7: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8: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8: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r>
              <a:t>InSee in the US already reads the disc with a laser, in hospitals. We take the idea home, in Indian languages. Hospital-chain apps and ABHA health-locker apps exist too; our line is: any hospital or clinic, built for the elderly, in the patient's language, shown at the pharmacy counter.</a:t>
            </a:r>
          </a:p>
        </p:txBody>
      </p:sp>
      <p:sp>
        <p:nvSpPr>
          <p:cNvPr id="107" name="Google Shape;107;p8: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9: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9: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r>
              <a:t>Where is the AI? Three places. A small model labels each breath: good, too fast, too shallow, no hold. It is trained on simulated breaths, so its accuracy on real patients isn't measured yet, and simple rules run as a backup. A voice service speaks ten Indian languages and English, with recorded clips for offline use. A language model writes a short daily summary. It never diagnoses. Alerts come from fixed rules, on purpose.</a:t>
            </a:r>
          </a:p>
        </p:txBody>
      </p:sp>
      <p:sp>
        <p:nvSpPr>
          <p:cNvPr id="121" name="Google Shape;121;p9: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10: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r>
              <a:t>Let me show you the live site. We have no hardware yet, so breaths come from a simulator. I start a session. [Good breath] Listen: the coach speaks Hindi. [Too fast] Too fast. It says "slower" at once, and the screen turns amber. [Finish now] The session saves itself. Nothing to type. [I do not feel well] One safety button. It shows a fixed message: contact your nurse, or call one-one-two. That part uses no AI.</a:t>
            </a:r>
          </a:p>
          <a:p>
            <a:r>
              <a:t>Now the nurse's screen. [dashboard] Ravi is at the top, with his red flag. Every row shows sessions done out of sessions due today. [demo panel, missed slots, send summary] If Ravi misses two sessions, a ladder starts: a reminder, a family message, a nurse alert, then the nurse calls. These sends are previews, not real messages yet.</a:t>
            </a:r>
          </a:p>
        </p:txBody>
      </p:sp>
      <p:sp>
        <p:nvSpPr>
          <p:cNvPr id="134" name="Google Shape;134;p10: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11: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r>
              <a:t>(No separate lines in the 5-minute script.) We mapped evidence, law and costs before building. We measure what the trials almost never recorded: actual use. We have no pilot, no survey and no users yet. [Add the interviews here once they are done: say "we interviewed N people", never more than that.]</a:t>
            </a:r>
          </a:p>
        </p:txBody>
      </p:sp>
      <p:sp>
        <p:nvSpPr>
          <p:cNvPr id="147" name="Google Shape;147;p11: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12: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r>
              <a:t>Today one web service and one database run our demo with fictional patients. Planned growth is staged: one pilot hospital, ten, a hundred, then state programmes. Each patient episode should cost five to seven hundred rupees, an estimate; our planned price is about one thousand. Next, TB survivors: India's draft TB rehab guidance lists this exerciser.</a:t>
            </a:r>
          </a:p>
        </p:txBody>
      </p:sp>
      <p:sp>
        <p:nvSpPr>
          <p:cNvPr id="161" name="Google Shape;161;p12: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13: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r>
              <a:t>Who pays? The hospital. Under Ayushman Bharat, a bypass is paid at a fixed rate, so every extra bed-day comes out of the hospital's pocket. A ward day costs about twenty-three hundred rupees. Our unit costs about twenty-five hundred rupees, is lent at discharge and reused. We charge about one thousand rupees per patient episode, less than half a ward day.</a:t>
            </a:r>
          </a:p>
        </p:txBody>
      </p:sp>
      <p:sp>
        <p:nvSpPr>
          <p:cNvPr id="174" name="Google Shape;174;p13: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5-minute script has no separate lines for this slide. Say the headline.) The doctor types the prescription in the hospital software. The patient sees every medicine on their own phone, in their own language, and shows that screen at the pharmacy counter. The chemist scans the QR and sees the hospital's own copy, marked current. It is not AI reading a prescription photo. Demo data; not yet tested with a real pharmacy.</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5: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r>
              <a:t>(No separate lines in the 5-minute script.) We expect Class B under India's device rules, and will confirm with CDSCO before any patient study. The breath model is trained on simulated breaths; recording real breaths comes before any pilot.</a:t>
            </a:r>
          </a:p>
        </p:txBody>
      </p:sp>
      <p:sp>
        <p:nvSpPr>
          <p:cNvPr id="202" name="Google Shape;202;p15: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6: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6: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r>
              <a:t>Next: build one unit, record real breaths, then a thirty-patient pilot, with an ethics committee and the regulator's written view before that. We expect Class B under India's device rules.</a:t>
            </a:r>
          </a:p>
        </p:txBody>
      </p:sp>
      <p:sp>
        <p:nvSpPr>
          <p:cNvPr id="216" name="Google Shape;216;p16: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7: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17: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r>
              <a:t>We are [names, one role each]. Each of us owns one part and can explain it in sixty seconds.</a:t>
            </a:r>
          </a:p>
        </p:txBody>
      </p:sp>
      <p:sp>
        <p:nvSpPr>
          <p:cNvPr id="229" name="Google Shape;229;p17: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8: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8: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r>
              <a:t>(No separate lines in the 5-minute script.) Bench-test one unit, record real breaths, then a 30-patient pilot. Units are lent and reused, so hospitals buy no hardware. One NIDHI-PRAYAS grant could fund the pilot.</a:t>
            </a:r>
          </a:p>
        </p:txBody>
      </p:sp>
      <p:sp>
        <p:nvSpPr>
          <p:cNvPr id="242" name="Google Shape;242;p18: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9: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9: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r>
              <a:t>We are [names, one role each]. Our ask: an introduction to one hospital's nurse or physio team for that pilot, and guidance on the regulatory steps. SpiroBuddy. Every breath, coached and counted. Thank you.</a:t>
            </a:r>
          </a:p>
        </p:txBody>
      </p:sp>
      <p:sp>
        <p:nvSpPr>
          <p:cNvPr id="256" name="Google Shape;256;p19: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 separate lines in the 5-minute script.) The bigger picture is Arogya Sathi, "health companion", with the SpiroBuddy breathing coach: hospital, department, doctor, nurse and patient accounts under one hospital. The spirometer is device module one. Today the doctor's prescription, the nurse's list and the patient app run on the demo site; the rest is the roadmap.</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jp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hyperlink" Target="https://spirobuddy.onrender.co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0.xml"/></Relationships>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pic>
        <p:nvPicPr>
          <p:cNvPr descr="DTI Logo - Blue.png" id="28" name="Google Shape;28;p2"/>
          <p:cNvPicPr preferRelativeResize="0"/>
          <p:nvPr/>
        </p:nvPicPr>
        <p:blipFill rotWithShape="1">
          <a:blip r:embed="rId3">
            <a:alphaModFix/>
          </a:blip>
          <a:srcRect b="0" l="0" r="0" t="0"/>
          <a:stretch/>
        </p:blipFill>
        <p:spPr>
          <a:xfrm>
            <a:off x="10578732" y="261782"/>
            <a:ext cx="1208287" cy="570471"/>
          </a:xfrm>
          <a:prstGeom prst="rect">
            <a:avLst/>
          </a:prstGeom>
          <a:noFill/>
          <a:ln>
            <a:noFill/>
          </a:ln>
        </p:spPr>
      </p:pic>
      <p:sp>
        <p:nvSpPr>
          <p:cNvPr id="29" name="Google Shape;29;p2"/>
          <p:cNvSpPr/>
          <p:nvPr/>
        </p:nvSpPr>
        <p:spPr>
          <a:xfrm>
            <a:off x="509163" y="2757090"/>
            <a:ext cx="8401155"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4D9"/>
              </a:buClr>
              <a:buSzPts val="7200"/>
              <a:buFont typeface="Play"/>
              <a:buNone/>
            </a:pPr>
            <a:r>
              <a:rPr b="1" i="0" lang="en-IN" sz="7200" u="none" cap="none" strike="noStrike">
                <a:solidFill>
                  <a:srgbClr val="3FA4D9"/>
                </a:solidFill>
                <a:latin typeface="Play"/>
                <a:ea typeface="Play"/>
                <a:cs typeface="Play"/>
                <a:sym typeface="Play"/>
              </a:rPr>
              <a:t>SpiroBuddy</a:t>
            </a:r>
            <a:endParaRPr b="0" i="0" sz="7200" u="none" cap="none" strike="noStrike">
              <a:solidFill>
                <a:srgbClr val="3FA4D9"/>
              </a:solidFill>
              <a:latin typeface="Calibri"/>
              <a:ea typeface="Calibri"/>
              <a:cs typeface="Calibri"/>
              <a:sym typeface="Calibri"/>
            </a:endParaRPr>
          </a:p>
        </p:txBody>
      </p:sp>
      <p:sp>
        <p:nvSpPr>
          <p:cNvPr id="30" name="Google Shape;30;p2"/>
          <p:cNvSpPr/>
          <p:nvPr/>
        </p:nvSpPr>
        <p:spPr>
          <a:xfrm>
            <a:off x="509163" y="3978990"/>
            <a:ext cx="612648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IN" sz="1900" u="none" cap="none" strike="noStrike">
                <a:solidFill>
                  <a:srgbClr val="203050"/>
                </a:solidFill>
                <a:latin typeface="Arial"/>
                <a:ea typeface="Arial"/>
                <a:cs typeface="Arial"/>
                <a:sym typeface="Arial"/>
              </a:rPr>
              <a:t>After surgery, the hospital stays connected to the patient at home.</a:t>
            </a:r>
            <a:endParaRPr b="1" sz="1800">
              <a:solidFill>
                <a:schemeClr val="dk1"/>
              </a:solidFill>
              <a:latin typeface="Calibri"/>
              <a:ea typeface="Calibri"/>
              <a:cs typeface="Calibri"/>
              <a:sym typeface="Calibri"/>
            </a:endParaRPr>
          </a:p>
        </p:txBody>
      </p:sp>
      <p:sp>
        <p:nvSpPr>
          <p:cNvPr id="31" name="Google Shape;31;p2"/>
          <p:cNvSpPr/>
          <p:nvPr/>
        </p:nvSpPr>
        <p:spPr>
          <a:xfrm>
            <a:off x="7342486" y="1361155"/>
            <a:ext cx="4454694" cy="4878718"/>
          </a:xfrm>
          <a:prstGeom prst="roundRect">
            <a:avLst>
              <a:gd fmla="val 16667" name="adj"/>
            </a:avLst>
          </a:prstGeom>
          <a:solidFill>
            <a:srgbClr val="F4F7FA"/>
          </a:solidFill>
          <a:ln cap="flat" cmpd="sng" w="12700">
            <a:solidFill>
              <a:srgbClr val="6851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endParaRPr i="1" sz="1800">
              <a:solidFill>
                <a:schemeClr val="dk1"/>
              </a:solidFill>
              <a:latin typeface="Calibri"/>
              <a:ea typeface="Calibri"/>
              <a:cs typeface="Calibri"/>
              <a:sym typeface="Calibri"/>
            </a:endParaRPr>
          </a:p>
        </p:txBody>
      </p:sp>
      <p:cxnSp>
        <p:nvCxnSpPr>
          <p:cNvPr id="32" name="Google Shape;32;p2"/>
          <p:cNvCxnSpPr/>
          <p:nvPr/>
        </p:nvCxnSpPr>
        <p:spPr>
          <a:xfrm>
            <a:off x="509165" y="3770034"/>
            <a:ext cx="5586835" cy="0"/>
          </a:xfrm>
          <a:prstGeom prst="straightConnector1">
            <a:avLst/>
          </a:prstGeom>
          <a:noFill/>
          <a:ln cap="flat" cmpd="sng" w="28575">
            <a:solidFill>
              <a:schemeClr val="accent3"/>
            </a:solidFill>
            <a:prstDash val="solid"/>
            <a:miter lim="8000"/>
            <a:headEnd len="sm" w="sm" type="none"/>
            <a:tailEnd len="sm" w="sm" type="none"/>
          </a:ln>
        </p:spPr>
      </p:cxnSp>
      <p:sp>
        <p:nvSpPr>
          <p:cNvPr id="33" name="Google Shape;33;p2"/>
          <p:cNvSpPr/>
          <p:nvPr/>
        </p:nvSpPr>
        <p:spPr>
          <a:xfrm>
            <a:off x="509163" y="2200033"/>
            <a:ext cx="4736592" cy="40064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900"/>
              <a:buFont typeface="Arial"/>
              <a:buNone/>
            </a:pPr>
            <a:r>
              <a:rPr lang="en-IN" sz="1900">
                <a:solidFill>
                  <a:schemeClr val="accent3"/>
                </a:solidFill>
                <a:latin typeface="Arial"/>
                <a:ea typeface="Arial"/>
                <a:cs typeface="Arial"/>
                <a:sym typeface="Arial"/>
              </a:rPr>
              <a:t>Health &amp; Well-being  ·  SDG 3</a:t>
            </a:r>
            <a:r>
              <a:rPr b="0" lang="en-IN" sz="1900">
                <a:solidFill>
                  <a:schemeClr val="accent3"/>
                </a:solidFill>
                <a:latin typeface="Arial"/>
                <a:ea typeface="Arial"/>
                <a:cs typeface="Arial"/>
                <a:sym typeface="Arial"/>
              </a:rPr>
              <a:t/>
            </a:r>
            <a:r>
              <a:rPr lang="en-IN" sz="1900">
                <a:solidFill>
                  <a:schemeClr val="accent3"/>
                </a:solidFill>
                <a:latin typeface="Arial"/>
                <a:ea typeface="Arial"/>
                <a:cs typeface="Arial"/>
                <a:sym typeface="Arial"/>
              </a:rPr>
              <a:t/>
            </a:r>
            <a:endParaRPr sz="1800">
              <a:solidFill>
                <a:schemeClr val="accent3"/>
              </a:solidFill>
              <a:latin typeface="Calibri"/>
              <a:ea typeface="Calibri"/>
              <a:cs typeface="Calibri"/>
              <a:sym typeface="Calibri"/>
            </a:endParaRPr>
          </a:p>
        </p:txBody>
      </p:sp>
      <p:sp>
        <p:nvSpPr>
          <p:cNvPr id="34" name="Google Shape;34;p2"/>
          <p:cNvSpPr/>
          <p:nvPr/>
        </p:nvSpPr>
        <p:spPr>
          <a:xfrm>
            <a:off x="509163" y="5074920"/>
            <a:ext cx="6126480" cy="53034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1" lang="en-IN" sz="1900">
                <a:solidFill>
                  <a:srgbClr val="203050"/>
                </a:solidFill>
                <a:latin typeface="Arial"/>
                <a:ea typeface="Arial"/>
                <a:cs typeface="Arial"/>
                <a:sym typeface="Arial"/>
              </a:rPr>
              <a:t>- By </a:t>
            </a:r>
            <a:r>
              <a:rPr sz="1800" b="1" i="0">
                <a:solidFill>
                  <a:srgbClr val="5A3A00"/>
                </a:solidFill>
                <a:highlight>
                  <a:srgbClr val="FFE95C"/>
                </a:highlight>
                <a:latin typeface="Calibri"/>
              </a:rPr>
              <a:t>[ADD: team name]</a:t>
            </a:r>
            <a:endParaRPr i="1" sz="1800">
              <a:solidFill>
                <a:schemeClr val="dk1"/>
              </a:solidFill>
              <a:latin typeface="Calibri"/>
              <a:ea typeface="Calibri"/>
              <a:cs typeface="Calibri"/>
              <a:sym typeface="Calibri"/>
            </a:endParaRPr>
          </a:p>
        </p:txBody>
      </p:sp>
      <p:pic>
        <p:nvPicPr>
          <p:cNvPr id="35" name="Picture 34" descr="SpiroBuddy logo"/>
          <p:cNvPicPr>
            <a:picLocks noChangeAspect="1"/>
          </p:cNvPicPr>
          <p:nvPr/>
        </p:nvPicPr>
        <p:blipFill>
          <a:blip r:embed="rId5"/>
          <a:stretch>
            <a:fillRect/>
          </a:stretch>
        </p:blipFill>
        <p:spPr>
          <a:xfrm>
            <a:off x="384048" y="128016"/>
            <a:ext cx="676656" cy="676656"/>
          </a:xfrm>
          <a:prstGeom prst="rect">
            <a:avLst/>
          </a:prstGeom>
        </p:spPr>
      </p:pic>
      <p:sp>
        <p:nvSpPr>
          <p:cNvPr id="36" name="TextBox 35"/>
          <p:cNvSpPr txBox="1"/>
          <p:nvPr/>
        </p:nvSpPr>
        <p:spPr>
          <a:xfrm>
            <a:off x="509320" y="4544568"/>
            <a:ext cx="6126480" cy="365760"/>
          </a:xfrm>
          <a:prstGeom prst="rect">
            <a:avLst/>
          </a:prstGeom>
          <a:noFill/>
        </p:spPr>
        <p:txBody>
          <a:bodyPr wrap="square" lIns="0" rIns="0" tIns="0" bIns="0" anchor="ctr">
            <a:spAutoFit/>
          </a:bodyPr>
          <a:lstStyle/>
          <a:p>
            <a:pPr algn="l">
              <a:spcBef>
                <a:spcPts val="0"/>
              </a:spcBef>
              <a:spcAft>
                <a:spcPts val="0"/>
              </a:spcAft>
            </a:pPr>
            <a:r>
              <a:rPr sz="1800" b="1" i="0">
                <a:solidFill>
                  <a:srgbClr val="38A0D8"/>
                </a:solidFill>
                <a:latin typeface="Calibri"/>
              </a:rPr>
              <a:t>Every breath, coached and counted.</a:t>
            </a:r>
          </a:p>
        </p:txBody>
      </p:sp>
      <p:sp>
        <p:nvSpPr>
          <p:cNvPr id="37" name="TextBox 36"/>
          <p:cNvSpPr txBox="1"/>
          <p:nvPr/>
        </p:nvSpPr>
        <p:spPr>
          <a:xfrm>
            <a:off x="509320" y="5577840"/>
            <a:ext cx="6309360" cy="566928"/>
          </a:xfrm>
          <a:prstGeom prst="rect">
            <a:avLst/>
          </a:prstGeom>
          <a:noFill/>
        </p:spPr>
        <p:txBody>
          <a:bodyPr wrap="square" lIns="0" rIns="0" tIns="0" bIns="0" anchor="t">
            <a:spAutoFit/>
          </a:bodyPr>
          <a:lstStyle/>
          <a:p>
            <a:pPr algn="l">
              <a:spcBef>
                <a:spcPts val="0"/>
              </a:spcBef>
              <a:spcAft>
                <a:spcPts val="200"/>
              </a:spcAft>
            </a:pPr>
            <a:r>
              <a:rPr sz="1600" b="1" i="0">
                <a:solidFill>
                  <a:srgbClr val="253653"/>
                </a:solidFill>
                <a:latin typeface="Calibri"/>
              </a:rPr>
              <a:t>Live demo:</a:t>
            </a:r>
            <a:r>
              <a:rPr sz="1600" b="0" i="0">
                <a:solidFill>
                  <a:srgbClr val="253653"/>
                </a:solidFill>
                <a:latin typeface="Calibri"/>
              </a:rPr>
              <a:t> spirobuddy.onrender.com</a:t>
            </a:r>
          </a:p>
          <a:p>
            <a:pPr algn="l">
              <a:spcBef>
                <a:spcPts val="0"/>
              </a:spcBef>
              <a:spcAft>
                <a:spcPts val="0"/>
              </a:spcAft>
            </a:pPr>
            <a:r>
              <a:rPr sz="1400" b="0" i="0">
                <a:solidFill>
                  <a:srgbClr val="5B6B7D"/>
                </a:solidFill>
                <a:latin typeface="Calibri"/>
              </a:rPr>
              <a:t>Simulated breaths and fictional patients. The device is not built yet.</a:t>
            </a:r>
          </a:p>
        </p:txBody>
      </p:sp>
      <p:sp>
        <p:nvSpPr>
          <p:cNvPr id="38" name="TextBox 37"/>
          <p:cNvSpPr txBox="1"/>
          <p:nvPr/>
        </p:nvSpPr>
        <p:spPr>
          <a:xfrm>
            <a:off x="7342631" y="1499616"/>
            <a:ext cx="4453128" cy="320040"/>
          </a:xfrm>
          <a:prstGeom prst="rect">
            <a:avLst/>
          </a:prstGeom>
          <a:noFill/>
        </p:spPr>
        <p:txBody>
          <a:bodyPr wrap="square" lIns="0" rIns="0" tIns="0" bIns="0" anchor="ctr">
            <a:spAutoFit/>
          </a:bodyPr>
          <a:lstStyle/>
          <a:p>
            <a:pPr algn="ctr">
              <a:spcBef>
                <a:spcPts val="0"/>
              </a:spcBef>
              <a:spcAft>
                <a:spcPts val="0"/>
              </a:spcAft>
            </a:pPr>
            <a:r>
              <a:rPr sz="1400" b="1" i="0">
                <a:solidFill>
                  <a:srgbClr val="253653"/>
                </a:solidFill>
                <a:latin typeface="Calibri"/>
              </a:rPr>
              <a:t>Clip-on unit under an ordinary breathing exerciser</a:t>
            </a:r>
          </a:p>
        </p:txBody>
      </p:sp>
      <p:pic>
        <p:nvPicPr>
          <p:cNvPr id="39" name="Picture 38" descr="3D design model of the clip-on unit under a breathing exerciser, beside a phone. The device is not built yet."/>
          <p:cNvPicPr>
            <a:picLocks noChangeAspect="1"/>
          </p:cNvPicPr>
          <p:nvPr/>
        </p:nvPicPr>
        <p:blipFill>
          <a:blip r:embed="rId6"/>
          <a:stretch>
            <a:fillRect/>
          </a:stretch>
        </p:blipFill>
        <p:spPr>
          <a:xfrm>
            <a:off x="7580375" y="1911095"/>
            <a:ext cx="3977639" cy="3409405"/>
          </a:xfrm>
          <a:prstGeom prst="rect">
            <a:avLst/>
          </a:prstGeom>
          <a:ln w="9525">
            <a:solidFill>
              <a:srgbClr val="C9D2DB"/>
            </a:solidFill>
          </a:ln>
        </p:spPr>
      </p:pic>
      <p:sp>
        <p:nvSpPr>
          <p:cNvPr id="40" name="Rounded Rectangle 39"/>
          <p:cNvSpPr/>
          <p:nvPr/>
        </p:nvSpPr>
        <p:spPr>
          <a:xfrm>
            <a:off x="7923275" y="5485093"/>
            <a:ext cx="3291840" cy="329184"/>
          </a:xfrm>
          <a:prstGeom prst="roundRect">
            <a:avLst>
              <a:gd name="adj" fmla="val 41666"/>
            </a:avLst>
          </a:prstGeom>
          <a:solidFill>
            <a:srgbClr val="FFF5E1"/>
          </a:solidFill>
          <a:ln>
            <a:noFill/>
          </a:ln>
          <a:effectLst/>
        </p:spPr>
        <p:txBody>
          <a:bodyPr rtlCol="0" anchor="ctr" lIns="45720" rIns="45720" wrap="square"/>
          <a:lstStyle/>
          <a:p>
            <a:pPr algn="ctr">
              <a:spcBef>
                <a:spcPts val="0"/>
              </a:spcBef>
              <a:spcAft>
                <a:spcPts val="0"/>
              </a:spcAft>
            </a:pPr>
            <a:r>
              <a:rPr sz="1300" b="1" i="0">
                <a:solidFill>
                  <a:srgbClr val="8F5100"/>
                </a:solidFill>
                <a:latin typeface="Calibri"/>
              </a:rPr>
              <a:t>3D design model - device not built yet</a:t>
            </a:r>
          </a:p>
        </p:txBody>
      </p:sp>
      <p:sp>
        <p:nvSpPr>
          <p:cNvPr id="61" name="Google Shape;61;p4"/>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 name="Google Shape;62;p4"/>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4"/>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4"/>
              </a:buClr>
              <a:buSzPts val="3000"/>
              <a:buFont typeface="Play"/>
              <a:buNone/>
            </a:pPr>
            <a:r>
              <a:rPr b="1" lang="en-IN" sz="3000">
                <a:solidFill>
                  <a:schemeClr val="accent4"/>
                </a:solidFill>
                <a:latin typeface="Play"/>
                <a:ea typeface="Play"/>
                <a:cs typeface="Play"/>
                <a:sym typeface="Play"/>
              </a:rPr>
              <a:t>Problem Statement</a:t>
            </a:r>
            <a:endParaRPr sz="2400">
              <a:solidFill>
                <a:schemeClr val="accent4"/>
              </a:solidFill>
              <a:latin typeface="Calibri"/>
              <a:ea typeface="Calibri"/>
              <a:cs typeface="Calibri"/>
              <a:sym typeface="Calibri"/>
            </a:endParaRPr>
          </a:p>
        </p:txBody>
      </p:sp>
      <p:sp>
        <p:nvSpPr>
          <p:cNvPr id="58" name="Google Shape;58;p4"/>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 name="Google Shape;59;p4"/>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 name="Google Shape;60;p4"/>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 name="Google Shape;61;p4"/>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 name="Google Shape;62;p4"/>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63" name="Google Shape;63;p4"/>
          <p:cNvSpPr txBox="1"/>
          <p:nvPr/>
        </p:nvSpPr>
        <p:spPr>
          <a:xfrm>
            <a:off x="11109960" y="6547104"/>
            <a:ext cx="438912"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02</a:t>
            </a:r>
            <a:endParaRPr/>
          </a:p>
        </p:txBody>
      </p:sp>
      <p:pic>
        <p:nvPicPr>
          <p:cNvPr id="64" name="Picture 63" descr="Dolphin Tank India logo"/>
          <p:cNvPicPr>
            <a:picLocks noChangeAspect="1"/>
          </p:cNvPicPr>
          <p:nvPr/>
        </p:nvPicPr>
        <p:blipFill>
          <a:blip r:embed="rId3"/>
          <a:stretch>
            <a:fillRect/>
          </a:stretch>
        </p:blipFill>
        <p:spPr>
          <a:xfrm>
            <a:off x="10669520" y="146304"/>
            <a:ext cx="1387352" cy="654087"/>
          </a:xfrm>
          <a:prstGeom prst="rect">
            <a:avLst/>
          </a:prstGeom>
        </p:spPr>
      </p:pic>
      <p:sp>
        <p:nvSpPr>
          <p:cNvPr id="65" name="TextBox 64"/>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After surgery, patients are told to do a breathing exercise every hour. Nobody sees whether they do it.</a:t>
            </a:r>
          </a:p>
        </p:txBody>
      </p:sp>
      <p:sp>
        <p:nvSpPr>
          <p:cNvPr id="66" name="TextBox 65"/>
          <p:cNvSpPr txBox="1"/>
          <p:nvPr/>
        </p:nvSpPr>
        <p:spPr>
          <a:xfrm>
            <a:off x="658368" y="1847088"/>
            <a:ext cx="1188720" cy="274320"/>
          </a:xfrm>
          <a:prstGeom prst="rect">
            <a:avLst/>
          </a:prstGeom>
          <a:noFill/>
        </p:spPr>
        <p:txBody>
          <a:bodyPr wrap="square" lIns="0" rIns="0" tIns="0" bIns="0" anchor="t">
            <a:spAutoFit/>
          </a:bodyPr>
          <a:lstStyle/>
          <a:p>
            <a:pPr algn="l">
              <a:spcBef>
                <a:spcPts val="0"/>
              </a:spcBef>
              <a:spcAft>
                <a:spcPts val="0"/>
              </a:spcAft>
            </a:pPr>
            <a:r>
              <a:rPr sz="1400" b="1" i="0">
                <a:solidFill>
                  <a:srgbClr val="E57116"/>
                </a:solidFill>
                <a:latin typeface="Calibri"/>
              </a:rPr>
              <a:t>WHAT?</a:t>
            </a:r>
          </a:p>
        </p:txBody>
      </p:sp>
      <p:sp>
        <p:nvSpPr>
          <p:cNvPr id="67" name="TextBox 66"/>
          <p:cNvSpPr txBox="1"/>
          <p:nvPr/>
        </p:nvSpPr>
        <p:spPr>
          <a:xfrm>
            <a:off x="1828800" y="1828800"/>
            <a:ext cx="4160520" cy="932688"/>
          </a:xfrm>
          <a:prstGeom prst="rect">
            <a:avLst/>
          </a:prstGeom>
          <a:noFill/>
        </p:spPr>
        <p:txBody>
          <a:bodyPr wrap="square" lIns="0" rIns="0" tIns="0" bIns="0" anchor="t">
            <a:spAutoFit/>
          </a:bodyPr>
          <a:lstStyle/>
          <a:p>
            <a:pPr algn="l">
              <a:spcBef>
                <a:spcPts val="0"/>
              </a:spcBef>
              <a:spcAft>
                <a:spcPts val="0"/>
              </a:spcAft>
            </a:pPr>
            <a:r>
              <a:rPr sz="1500" b="0" i="0">
                <a:solidFill>
                  <a:srgbClr val="1F2933"/>
                </a:solidFill>
                <a:latin typeface="Calibri"/>
              </a:rPr>
              <a:t>Patients go home with a breathing exerciser (an incentive spirometer) and a paper prescription. Nobody can see if the exercise is done, or done right.</a:t>
            </a:r>
          </a:p>
        </p:txBody>
      </p:sp>
      <p:sp>
        <p:nvSpPr>
          <p:cNvPr id="68" name="TextBox 67"/>
          <p:cNvSpPr txBox="1"/>
          <p:nvPr/>
        </p:nvSpPr>
        <p:spPr>
          <a:xfrm>
            <a:off x="658368" y="2871216"/>
            <a:ext cx="1188720" cy="274320"/>
          </a:xfrm>
          <a:prstGeom prst="rect">
            <a:avLst/>
          </a:prstGeom>
          <a:noFill/>
        </p:spPr>
        <p:txBody>
          <a:bodyPr wrap="square" lIns="0" rIns="0" tIns="0" bIns="0" anchor="t">
            <a:spAutoFit/>
          </a:bodyPr>
          <a:lstStyle/>
          <a:p>
            <a:pPr algn="l">
              <a:spcBef>
                <a:spcPts val="0"/>
              </a:spcBef>
              <a:spcAft>
                <a:spcPts val="0"/>
              </a:spcAft>
            </a:pPr>
            <a:r>
              <a:rPr sz="1400" b="1" i="0">
                <a:solidFill>
                  <a:srgbClr val="E57116"/>
                </a:solidFill>
                <a:latin typeface="Calibri"/>
              </a:rPr>
              <a:t>WHO?</a:t>
            </a:r>
          </a:p>
        </p:txBody>
      </p:sp>
      <p:sp>
        <p:nvSpPr>
          <p:cNvPr id="69" name="TextBox 68"/>
          <p:cNvSpPr txBox="1"/>
          <p:nvPr/>
        </p:nvSpPr>
        <p:spPr>
          <a:xfrm>
            <a:off x="1828800" y="2852928"/>
            <a:ext cx="4160520" cy="548640"/>
          </a:xfrm>
          <a:prstGeom prst="rect">
            <a:avLst/>
          </a:prstGeom>
          <a:noFill/>
        </p:spPr>
        <p:txBody>
          <a:bodyPr wrap="square" lIns="0" rIns="0" tIns="0" bIns="0" anchor="t">
            <a:spAutoFit/>
          </a:bodyPr>
          <a:lstStyle/>
          <a:p>
            <a:pPr algn="l">
              <a:spcBef>
                <a:spcPts val="0"/>
              </a:spcBef>
              <a:spcAft>
                <a:spcPts val="0"/>
              </a:spcAft>
            </a:pPr>
            <a:r>
              <a:rPr sz="1500" b="0" i="0">
                <a:solidFill>
                  <a:srgbClr val="1F2933"/>
                </a:solidFill>
                <a:latin typeface="Calibri"/>
              </a:rPr>
              <a:t>Older patients after heart, chest and abdominal surgery; their ward nurses; their families.</a:t>
            </a:r>
          </a:p>
        </p:txBody>
      </p:sp>
      <p:sp>
        <p:nvSpPr>
          <p:cNvPr id="70" name="TextBox 69"/>
          <p:cNvSpPr txBox="1"/>
          <p:nvPr/>
        </p:nvSpPr>
        <p:spPr>
          <a:xfrm>
            <a:off x="658368" y="3511296"/>
            <a:ext cx="1188720" cy="274320"/>
          </a:xfrm>
          <a:prstGeom prst="rect">
            <a:avLst/>
          </a:prstGeom>
          <a:noFill/>
        </p:spPr>
        <p:txBody>
          <a:bodyPr wrap="square" lIns="0" rIns="0" tIns="0" bIns="0" anchor="t">
            <a:spAutoFit/>
          </a:bodyPr>
          <a:lstStyle/>
          <a:p>
            <a:pPr algn="l">
              <a:spcBef>
                <a:spcPts val="0"/>
              </a:spcBef>
              <a:spcAft>
                <a:spcPts val="0"/>
              </a:spcAft>
            </a:pPr>
            <a:r>
              <a:rPr sz="1400" b="1" i="0">
                <a:solidFill>
                  <a:srgbClr val="E57116"/>
                </a:solidFill>
                <a:latin typeface="Calibri"/>
              </a:rPr>
              <a:t>WHY NOW?</a:t>
            </a:r>
          </a:p>
        </p:txBody>
      </p:sp>
      <p:sp>
        <p:nvSpPr>
          <p:cNvPr id="71" name="TextBox 70"/>
          <p:cNvSpPr txBox="1"/>
          <p:nvPr/>
        </p:nvSpPr>
        <p:spPr>
          <a:xfrm>
            <a:off x="1828800" y="3493008"/>
            <a:ext cx="4160520" cy="749808"/>
          </a:xfrm>
          <a:prstGeom prst="rect">
            <a:avLst/>
          </a:prstGeom>
          <a:noFill/>
        </p:spPr>
        <p:txBody>
          <a:bodyPr wrap="square" lIns="0" rIns="0" tIns="0" bIns="0" anchor="t">
            <a:spAutoFit/>
          </a:bodyPr>
          <a:lstStyle/>
          <a:p>
            <a:pPr algn="l">
              <a:spcBef>
                <a:spcPts val="0"/>
              </a:spcBef>
              <a:spcAft>
                <a:spcPts val="0"/>
              </a:spcAft>
            </a:pPr>
            <a:r>
              <a:rPr sz="1500" b="0" i="0">
                <a:solidFill>
                  <a:srgbClr val="1F2933"/>
                </a:solidFill>
                <a:latin typeface="Calibri"/>
              </a:rPr>
              <a:t>87% of households have a mobile phone, and flat-rate insurance makes every extra bed-day the hospital's own cost.</a:t>
            </a:r>
          </a:p>
        </p:txBody>
      </p:sp>
      <p:sp>
        <p:nvSpPr>
          <p:cNvPr id="72" name="TextBox 71"/>
          <p:cNvSpPr txBox="1"/>
          <p:nvPr/>
        </p:nvSpPr>
        <p:spPr>
          <a:xfrm>
            <a:off x="658368" y="4352544"/>
            <a:ext cx="1188720" cy="274320"/>
          </a:xfrm>
          <a:prstGeom prst="rect">
            <a:avLst/>
          </a:prstGeom>
          <a:noFill/>
        </p:spPr>
        <p:txBody>
          <a:bodyPr wrap="square" lIns="0" rIns="0" tIns="0" bIns="0" anchor="t">
            <a:spAutoFit/>
          </a:bodyPr>
          <a:lstStyle/>
          <a:p>
            <a:pPr algn="l">
              <a:spcBef>
                <a:spcPts val="0"/>
              </a:spcBef>
              <a:spcAft>
                <a:spcPts val="0"/>
              </a:spcAft>
            </a:pPr>
            <a:r>
              <a:rPr sz="1400" b="1" i="0">
                <a:solidFill>
                  <a:srgbClr val="E57116"/>
                </a:solidFill>
                <a:latin typeface="Calibri"/>
              </a:rPr>
              <a:t>HOW BIG?</a:t>
            </a:r>
          </a:p>
        </p:txBody>
      </p:sp>
      <p:sp>
        <p:nvSpPr>
          <p:cNvPr id="73" name="TextBox 72"/>
          <p:cNvSpPr txBox="1"/>
          <p:nvPr/>
        </p:nvSpPr>
        <p:spPr>
          <a:xfrm>
            <a:off x="1828800" y="4334256"/>
            <a:ext cx="4160520" cy="548640"/>
          </a:xfrm>
          <a:prstGeom prst="rect">
            <a:avLst/>
          </a:prstGeom>
          <a:noFill/>
        </p:spPr>
        <p:txBody>
          <a:bodyPr wrap="square" lIns="0" rIns="0" tIns="0" bIns="0" anchor="t">
            <a:spAutoFit/>
          </a:bodyPr>
          <a:lstStyle/>
          <a:p>
            <a:pPr algn="l">
              <a:spcBef>
                <a:spcPts val="0"/>
              </a:spcBef>
              <a:spcAft>
                <a:spcPts val="0"/>
              </a:spcAft>
            </a:pPr>
            <a:r>
              <a:rPr sz="1500" b="0" i="0">
                <a:solidFill>
                  <a:srgbClr val="1F2933"/>
                </a:solidFill>
                <a:latin typeface="Calibri"/>
              </a:rPr>
              <a:t>About 49 lakh major operations a year in India's public records, an undercount.</a:t>
            </a:r>
          </a:p>
        </p:txBody>
      </p:sp>
      <p:sp>
        <p:nvSpPr>
          <p:cNvPr id="74" name="Rounded Rectangle 73"/>
          <p:cNvSpPr/>
          <p:nvPr/>
        </p:nvSpPr>
        <p:spPr>
          <a:xfrm>
            <a:off x="6309360" y="1828800"/>
            <a:ext cx="5230368" cy="969264"/>
          </a:xfrm>
          <a:prstGeom prst="roundRect">
            <a:avLst>
              <a:gd name="adj" fmla="val 6603"/>
            </a:avLst>
          </a:prstGeom>
          <a:solidFill>
            <a:srgbClr val="EAF4FB"/>
          </a:solidFill>
          <a:ln>
            <a:noFill/>
          </a:ln>
          <a:effectLst/>
        </p:spPr>
        <p:txBody>
          <a:bodyPr rtlCol="0" anchor="t" lIns="128016" rIns="128016" tIns="91440" bIns="91440"/>
          <a:lstStyle/>
          <a:p>
            <a:pPr algn="ctr"/>
          </a:p>
        </p:txBody>
      </p:sp>
      <p:sp>
        <p:nvSpPr>
          <p:cNvPr id="75" name="TextBox 74"/>
          <p:cNvSpPr txBox="1"/>
          <p:nvPr/>
        </p:nvSpPr>
        <p:spPr>
          <a:xfrm>
            <a:off x="6446520" y="1828800"/>
            <a:ext cx="1600200" cy="969264"/>
          </a:xfrm>
          <a:prstGeom prst="rect">
            <a:avLst/>
          </a:prstGeom>
          <a:noFill/>
        </p:spPr>
        <p:txBody>
          <a:bodyPr wrap="square" lIns="0" rIns="0" tIns="0" bIns="0" anchor="ctr">
            <a:spAutoFit/>
          </a:bodyPr>
          <a:lstStyle/>
          <a:p>
            <a:pPr algn="l">
              <a:spcBef>
                <a:spcPts val="0"/>
              </a:spcBef>
              <a:spcAft>
                <a:spcPts val="0"/>
              </a:spcAft>
            </a:pPr>
            <a:r>
              <a:rPr sz="3600" b="1" i="0">
                <a:solidFill>
                  <a:srgbClr val="38A0D8"/>
                </a:solidFill>
                <a:latin typeface="Calibri"/>
              </a:rPr>
              <a:t>1 in 10</a:t>
            </a:r>
          </a:p>
        </p:txBody>
      </p:sp>
      <p:sp>
        <p:nvSpPr>
          <p:cNvPr id="76" name="TextBox 75"/>
          <p:cNvSpPr txBox="1"/>
          <p:nvPr/>
        </p:nvSpPr>
        <p:spPr>
          <a:xfrm>
            <a:off x="8092440" y="1901952"/>
            <a:ext cx="3310127" cy="822960"/>
          </a:xfrm>
          <a:prstGeom prst="rect">
            <a:avLst/>
          </a:prstGeom>
          <a:noFill/>
        </p:spPr>
        <p:txBody>
          <a:bodyPr wrap="square" lIns="0" rIns="0" tIns="0" bIns="0" anchor="ctr">
            <a:spAutoFit/>
          </a:bodyPr>
          <a:lstStyle/>
          <a:p>
            <a:pPr algn="l">
              <a:spcBef>
                <a:spcPts val="0"/>
              </a:spcBef>
              <a:spcAft>
                <a:spcPts val="200"/>
              </a:spcAft>
            </a:pPr>
            <a:r>
              <a:rPr sz="1400" b="0" i="0">
                <a:solidFill>
                  <a:srgbClr val="1F2933"/>
                </a:solidFill>
                <a:latin typeface="Calibri"/>
              </a:rPr>
              <a:t>adults having surgery gets a lung complication</a:t>
            </a:r>
          </a:p>
          <a:p>
            <a:pPr algn="l">
              <a:spcBef>
                <a:spcPts val="0"/>
              </a:spcBef>
              <a:spcAft>
                <a:spcPts val="0"/>
              </a:spcAft>
            </a:pPr>
            <a:r>
              <a:rPr sz="1000" b="0" i="0">
                <a:solidFill>
                  <a:srgbClr val="5B6B7D"/>
                </a:solidFill>
                <a:latin typeface="Calibri"/>
              </a:rPr>
              <a:t>LAS VEGAS study, 29 countries, 2017</a:t>
            </a:r>
          </a:p>
        </p:txBody>
      </p:sp>
      <p:sp>
        <p:nvSpPr>
          <p:cNvPr id="77" name="Rounded Rectangle 76"/>
          <p:cNvSpPr/>
          <p:nvPr/>
        </p:nvSpPr>
        <p:spPr>
          <a:xfrm>
            <a:off x="6309360" y="2889504"/>
            <a:ext cx="5230368" cy="969264"/>
          </a:xfrm>
          <a:prstGeom prst="roundRect">
            <a:avLst>
              <a:gd name="adj" fmla="val 6603"/>
            </a:avLst>
          </a:prstGeom>
          <a:solidFill>
            <a:srgbClr val="EAF4FB"/>
          </a:solidFill>
          <a:ln>
            <a:noFill/>
          </a:ln>
          <a:effectLst/>
        </p:spPr>
        <p:txBody>
          <a:bodyPr rtlCol="0" anchor="t" lIns="128016" rIns="128016" tIns="91440" bIns="91440"/>
          <a:lstStyle/>
          <a:p>
            <a:pPr algn="ctr"/>
          </a:p>
        </p:txBody>
      </p:sp>
      <p:sp>
        <p:nvSpPr>
          <p:cNvPr id="78" name="TextBox 77"/>
          <p:cNvSpPr txBox="1"/>
          <p:nvPr/>
        </p:nvSpPr>
        <p:spPr>
          <a:xfrm>
            <a:off x="6446520" y="2889504"/>
            <a:ext cx="1600200" cy="969264"/>
          </a:xfrm>
          <a:prstGeom prst="rect">
            <a:avLst/>
          </a:prstGeom>
          <a:noFill/>
        </p:spPr>
        <p:txBody>
          <a:bodyPr wrap="square" lIns="0" rIns="0" tIns="0" bIns="0" anchor="ctr">
            <a:spAutoFit/>
          </a:bodyPr>
          <a:lstStyle/>
          <a:p>
            <a:pPr algn="l">
              <a:spcBef>
                <a:spcPts val="0"/>
              </a:spcBef>
              <a:spcAft>
                <a:spcPts val="0"/>
              </a:spcAft>
            </a:pPr>
            <a:r>
              <a:rPr sz="3600" b="1" i="0">
                <a:solidFill>
                  <a:srgbClr val="38A0D8"/>
                </a:solidFill>
                <a:latin typeface="Calibri"/>
              </a:rPr>
              <a:t>86%</a:t>
            </a:r>
          </a:p>
        </p:txBody>
      </p:sp>
      <p:sp>
        <p:nvSpPr>
          <p:cNvPr id="79" name="TextBox 78"/>
          <p:cNvSpPr txBox="1"/>
          <p:nvPr/>
        </p:nvSpPr>
        <p:spPr>
          <a:xfrm>
            <a:off x="8092440" y="2962656"/>
            <a:ext cx="3310127" cy="822960"/>
          </a:xfrm>
          <a:prstGeom prst="rect">
            <a:avLst/>
          </a:prstGeom>
          <a:noFill/>
        </p:spPr>
        <p:txBody>
          <a:bodyPr wrap="square" lIns="0" rIns="0" tIns="0" bIns="0" anchor="ctr">
            <a:spAutoFit/>
          </a:bodyPr>
          <a:lstStyle/>
          <a:p>
            <a:pPr algn="l">
              <a:spcBef>
                <a:spcPts val="0"/>
              </a:spcBef>
              <a:spcAft>
                <a:spcPts val="200"/>
              </a:spcAft>
            </a:pPr>
            <a:r>
              <a:rPr sz="1400" b="0" i="0">
                <a:solidFill>
                  <a:srgbClr val="1F2933"/>
                </a:solidFill>
                <a:latin typeface="Calibri"/>
              </a:rPr>
              <a:t>of US nurses and therapists say patients don't use the exerciser properly. Top reason: forgetting</a:t>
            </a:r>
          </a:p>
          <a:p>
            <a:pPr algn="l">
              <a:spcBef>
                <a:spcPts val="0"/>
              </a:spcBef>
              <a:spcAft>
                <a:spcPts val="0"/>
              </a:spcAft>
            </a:pPr>
            <a:r>
              <a:rPr sz="1000" b="0" i="0">
                <a:solidFill>
                  <a:srgbClr val="5B6B7D"/>
                </a:solidFill>
                <a:latin typeface="Calibri"/>
              </a:rPr>
              <a:t>Eltorai et al., Respir Care 2018</a:t>
            </a:r>
          </a:p>
        </p:txBody>
      </p:sp>
      <p:sp>
        <p:nvSpPr>
          <p:cNvPr id="80" name="Rounded Rectangle 79"/>
          <p:cNvSpPr/>
          <p:nvPr/>
        </p:nvSpPr>
        <p:spPr>
          <a:xfrm>
            <a:off x="6309360" y="3950208"/>
            <a:ext cx="5230368" cy="969264"/>
          </a:xfrm>
          <a:prstGeom prst="roundRect">
            <a:avLst>
              <a:gd name="adj" fmla="val 6603"/>
            </a:avLst>
          </a:prstGeom>
          <a:solidFill>
            <a:srgbClr val="EAF4FB"/>
          </a:solidFill>
          <a:ln>
            <a:noFill/>
          </a:ln>
          <a:effectLst/>
        </p:spPr>
        <p:txBody>
          <a:bodyPr rtlCol="0" anchor="t" lIns="128016" rIns="128016" tIns="91440" bIns="91440"/>
          <a:lstStyle/>
          <a:p>
            <a:pPr algn="ctr"/>
          </a:p>
        </p:txBody>
      </p:sp>
      <p:sp>
        <p:nvSpPr>
          <p:cNvPr id="81" name="TextBox 80"/>
          <p:cNvSpPr txBox="1"/>
          <p:nvPr/>
        </p:nvSpPr>
        <p:spPr>
          <a:xfrm>
            <a:off x="6446520" y="3950208"/>
            <a:ext cx="1600200" cy="969264"/>
          </a:xfrm>
          <a:prstGeom prst="rect">
            <a:avLst/>
          </a:prstGeom>
          <a:noFill/>
        </p:spPr>
        <p:txBody>
          <a:bodyPr wrap="square" lIns="0" rIns="0" tIns="0" bIns="0" anchor="ctr">
            <a:spAutoFit/>
          </a:bodyPr>
          <a:lstStyle/>
          <a:p>
            <a:pPr algn="l">
              <a:spcBef>
                <a:spcPts val="0"/>
              </a:spcBef>
              <a:spcAft>
                <a:spcPts val="0"/>
              </a:spcAft>
            </a:pPr>
            <a:r>
              <a:rPr sz="3600" b="1" i="0">
                <a:solidFill>
                  <a:srgbClr val="38A0D8"/>
                </a:solidFill>
                <a:latin typeface="Calibri"/>
              </a:rPr>
              <a:t>6%</a:t>
            </a:r>
          </a:p>
        </p:txBody>
      </p:sp>
      <p:sp>
        <p:nvSpPr>
          <p:cNvPr id="82" name="TextBox 81"/>
          <p:cNvSpPr txBox="1"/>
          <p:nvPr/>
        </p:nvSpPr>
        <p:spPr>
          <a:xfrm>
            <a:off x="8092440" y="4023360"/>
            <a:ext cx="3310127" cy="822960"/>
          </a:xfrm>
          <a:prstGeom prst="rect">
            <a:avLst/>
          </a:prstGeom>
          <a:noFill/>
        </p:spPr>
        <p:txBody>
          <a:bodyPr wrap="square" lIns="0" rIns="0" tIns="0" bIns="0" anchor="ctr">
            <a:spAutoFit/>
          </a:bodyPr>
          <a:lstStyle/>
          <a:p>
            <a:pPr algn="l">
              <a:spcBef>
                <a:spcPts val="0"/>
              </a:spcBef>
              <a:spcAft>
                <a:spcPts val="200"/>
              </a:spcAft>
            </a:pPr>
            <a:r>
              <a:rPr sz="1400" b="0" i="0">
                <a:solidFill>
                  <a:srgbClr val="1F2933"/>
                </a:solidFill>
                <a:latin typeface="Calibri"/>
              </a:rPr>
              <a:t>of 60 patients in a Chennai hospital did the exercise properly on day 1 after surgery</a:t>
            </a:r>
          </a:p>
          <a:p>
            <a:pPr algn="l">
              <a:spcBef>
                <a:spcPts val="0"/>
              </a:spcBef>
              <a:spcAft>
                <a:spcPts val="0"/>
              </a:spcAft>
            </a:pPr>
            <a:r>
              <a:rPr sz="1000" b="0" i="0">
                <a:solidFill>
                  <a:srgbClr val="5B6B7D"/>
                </a:solidFill>
                <a:latin typeface="Calibri"/>
              </a:rPr>
              <a:t>J Pharm Bioallied Sci 2024 (small study)</a:t>
            </a:r>
          </a:p>
        </p:txBody>
      </p:sp>
      <p:sp>
        <p:nvSpPr>
          <p:cNvPr id="83" name="Rounded Rectangle 82"/>
          <p:cNvSpPr/>
          <p:nvPr/>
        </p:nvSpPr>
        <p:spPr>
          <a:xfrm>
            <a:off x="658368" y="5084064"/>
            <a:ext cx="10881360" cy="822960"/>
          </a:xfrm>
          <a:prstGeom prst="roundRect">
            <a:avLst>
              <a:gd name="adj" fmla="val 7777"/>
            </a:avLst>
          </a:prstGeom>
          <a:solidFill>
            <a:srgbClr val="FDF1E7"/>
          </a:solidFill>
          <a:ln>
            <a:noFill/>
          </a:ln>
          <a:effectLst/>
        </p:spPr>
        <p:txBody>
          <a:bodyPr rtlCol="0" anchor="ctr" lIns="128016" rIns="128016" tIns="91440" bIns="91440" wrap="square"/>
          <a:lstStyle/>
          <a:p>
            <a:pPr algn="l">
              <a:spcBef>
                <a:spcPts val="0"/>
              </a:spcBef>
              <a:spcAft>
                <a:spcPts val="0"/>
              </a:spcAft>
            </a:pPr>
            <a:r>
              <a:rPr sz="1500" b="1" i="0">
                <a:solidFill>
                  <a:srgbClr val="253653"/>
                </a:solidFill>
                <a:latin typeface="Calibri"/>
              </a:rPr>
              <a:t>Why the evidence looks weak, and what we fix:</a:t>
            </a:r>
            <a:r>
              <a:rPr sz="1500" b="0" i="0">
                <a:solidFill>
                  <a:srgbClr val="1F2933"/>
                </a:solidFill>
                <a:latin typeface="Calibri"/>
              </a:rPr>
              <a:t> reviews find the exerciser on its own makes little difference. But those trials rarely recorded whether patients actually did the exercise. </a:t>
            </a:r>
            <a:r>
              <a:rPr sz="1500" b="1" i="0">
                <a:solidFill>
                  <a:srgbClr val="253653"/>
                </a:solidFill>
                <a:latin typeface="Calibri"/>
              </a:rPr>
              <a:t>SpiroBuddy makes that visible.</a:t>
            </a:r>
          </a:p>
        </p:txBody>
      </p:sp>
      <p:sp>
        <p:nvSpPr>
          <p:cNvPr id="84" name="TextBox 83"/>
          <p:cNvSpPr txBox="1"/>
          <p:nvPr/>
        </p:nvSpPr>
        <p:spPr>
          <a:xfrm>
            <a:off x="658368" y="6035040"/>
            <a:ext cx="9326880" cy="402336"/>
          </a:xfrm>
          <a:prstGeom prst="rect">
            <a:avLst/>
          </a:prstGeom>
          <a:noFill/>
        </p:spPr>
        <p:txBody>
          <a:bodyPr wrap="square" lIns="0" rIns="0" tIns="0" bIns="0" anchor="b">
            <a:spAutoFit/>
          </a:bodyPr>
          <a:lstStyle/>
          <a:p>
            <a:pPr algn="l">
              <a:spcBef>
                <a:spcPts val="0"/>
              </a:spcBef>
              <a:spcAft>
                <a:spcPts val="0"/>
              </a:spcAft>
            </a:pPr>
            <a:r>
              <a:rPr sz="1000" b="0" i="0">
                <a:solidFill>
                  <a:srgbClr val="5B6B7D"/>
                </a:solidFill>
                <a:latin typeface="Calibri"/>
              </a:rPr>
              <a:t>Sources: LAS VEGAS, Eur J Anaesthesiol 2017 · Eltorai et al., Respir Care 2018 (1,681 respondents) · J Pharm Bioallied Sci 2024 · LASI Wave 1 (87%) · Ayushman Bharat HBP 2022 rate list · Cochrane 2014 and a 2024 cardiac-surgery review (evidence)</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5"/>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4"/>
              </a:buClr>
              <a:buSzPts val="3000"/>
              <a:buFont typeface="Play"/>
              <a:buNone/>
            </a:pPr>
            <a:r>
              <a:rPr b="1" lang="en-IN" sz="3000">
                <a:solidFill>
                  <a:schemeClr val="accent4"/>
                </a:solidFill>
                <a:latin typeface="Play"/>
                <a:ea typeface="Play"/>
                <a:cs typeface="Play"/>
                <a:sym typeface="Play"/>
              </a:rPr>
              <a:t>Social Impact &amp; SDG Alignment</a:t>
            </a:r>
            <a:endParaRPr/>
          </a:p>
        </p:txBody>
      </p:sp>
      <p:sp>
        <p:nvSpPr>
          <p:cNvPr id="71" name="Google Shape;71;p5"/>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 name="Google Shape;72;p5"/>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 name="Google Shape;73;p5"/>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 name="Google Shape;74;p5"/>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 name="Google Shape;75;p5"/>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76" name="Google Shape;76;p5"/>
          <p:cNvSpPr txBox="1"/>
          <p:nvPr/>
        </p:nvSpPr>
        <p:spPr>
          <a:xfrm>
            <a:off x="11109960" y="6569294"/>
            <a:ext cx="438912" cy="138499"/>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03</a:t>
            </a:r>
            <a:endParaRPr b="1" sz="900">
              <a:solidFill>
                <a:srgbClr val="203050"/>
              </a:solidFill>
              <a:latin typeface="Arial"/>
              <a:ea typeface="Arial"/>
              <a:cs typeface="Arial"/>
              <a:sym typeface="Arial"/>
            </a:endParaRPr>
          </a:p>
        </p:txBody>
      </p:sp>
      <p:pic>
        <p:nvPicPr>
          <p:cNvPr id="77" name="Picture 76" descr="Dolphin Tank India logo"/>
          <p:cNvPicPr>
            <a:picLocks noChangeAspect="1"/>
          </p:cNvPicPr>
          <p:nvPr/>
        </p:nvPicPr>
        <p:blipFill>
          <a:blip r:embed="rId3"/>
          <a:stretch>
            <a:fillRect/>
          </a:stretch>
        </p:blipFill>
        <p:spPr>
          <a:xfrm>
            <a:off x="10669520" y="146304"/>
            <a:ext cx="1387352" cy="654087"/>
          </a:xfrm>
          <a:prstGeom prst="rect">
            <a:avLst/>
          </a:prstGeom>
        </p:spPr>
      </p:pic>
      <p:sp>
        <p:nvSpPr>
          <p:cNvPr id="78" name="TextBox 77"/>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Our impact metric is one number, counted automatically: sessions done ÷ sessions due.</a:t>
            </a:r>
          </a:p>
        </p:txBody>
      </p:sp>
      <p:sp>
        <p:nvSpPr>
          <p:cNvPr id="79" name="Rounded Rectangle 78"/>
          <p:cNvSpPr/>
          <p:nvPr/>
        </p:nvSpPr>
        <p:spPr>
          <a:xfrm>
            <a:off x="658368" y="1828800"/>
            <a:ext cx="4892040" cy="2121408"/>
          </a:xfrm>
          <a:prstGeom prst="roundRect">
            <a:avLst>
              <a:gd name="adj" fmla="val 3017"/>
            </a:avLst>
          </a:prstGeom>
          <a:solidFill>
            <a:srgbClr val="EAF4FB"/>
          </a:solidFill>
          <a:ln>
            <a:noFill/>
          </a:ln>
          <a:effectLst/>
        </p:spPr>
        <p:txBody>
          <a:bodyPr rtlCol="0" anchor="t" lIns="128016" rIns="128016" tIns="91440" bIns="91440" wrap="square"/>
          <a:lstStyle/>
          <a:p>
            <a:pPr algn="l">
              <a:spcBef>
                <a:spcPts val="0"/>
              </a:spcBef>
              <a:spcAft>
                <a:spcPts val="500"/>
              </a:spcAft>
            </a:pPr>
            <a:r>
              <a:rPr sz="1600" b="1" i="0">
                <a:solidFill>
                  <a:srgbClr val="253653"/>
                </a:solidFill>
                <a:latin typeface="Calibri"/>
              </a:rPr>
              <a:t>Primary beneficiaries</a:t>
            </a:r>
          </a:p>
          <a:p>
            <a:pPr algn="l">
              <a:spcBef>
                <a:spcPts val="0"/>
              </a:spcBef>
              <a:spcAft>
                <a:spcPts val="300"/>
              </a:spcAft>
            </a:pPr>
            <a:r>
              <a:rPr sz="1400" b="1" i="0">
                <a:solidFill>
                  <a:srgbClr val="1F2933"/>
                </a:solidFill>
                <a:latin typeface="Calibri"/>
              </a:rPr>
              <a:t>Patients</a:t>
            </a:r>
            <a:r>
              <a:rPr sz="1400" b="0" i="0">
                <a:solidFill>
                  <a:srgbClr val="1F2933"/>
                </a:solidFill>
                <a:latin typeface="Calibri"/>
              </a:rPr>
              <a:t> recovering at home after major surgery</a:t>
            </a:r>
          </a:p>
          <a:p>
            <a:pPr algn="l">
              <a:spcBef>
                <a:spcPts val="0"/>
              </a:spcBef>
              <a:spcAft>
                <a:spcPts val="300"/>
              </a:spcAft>
            </a:pPr>
            <a:r>
              <a:rPr sz="1400" b="1" i="0">
                <a:solidFill>
                  <a:srgbClr val="1F2933"/>
                </a:solidFill>
                <a:latin typeface="Calibri"/>
              </a:rPr>
              <a:t>Nurses</a:t>
            </a:r>
            <a:r>
              <a:rPr sz="1400" b="0" i="0">
                <a:solidFill>
                  <a:srgbClr val="1F2933"/>
                </a:solidFill>
                <a:latin typeface="Calibri"/>
              </a:rPr>
              <a:t>, who see which patient needs a call</a:t>
            </a:r>
          </a:p>
          <a:p>
            <a:pPr algn="l">
              <a:spcBef>
                <a:spcPts val="0"/>
              </a:spcBef>
              <a:spcAft>
                <a:spcPts val="300"/>
              </a:spcAft>
            </a:pPr>
            <a:r>
              <a:rPr sz="1400" b="1" i="0">
                <a:solidFill>
                  <a:srgbClr val="1F2933"/>
                </a:solidFill>
                <a:latin typeface="Calibri"/>
              </a:rPr>
              <a:t>Families</a:t>
            </a:r>
            <a:r>
              <a:rPr sz="1400" b="0" i="0">
                <a:solidFill>
                  <a:srgbClr val="1F2933"/>
                </a:solidFill>
                <a:latin typeface="Calibri"/>
              </a:rPr>
              <a:t>, updated only with the patient's consent</a:t>
            </a:r>
          </a:p>
          <a:p>
            <a:pPr algn="l">
              <a:spcBef>
                <a:spcPts val="400"/>
              </a:spcBef>
              <a:spcAft>
                <a:spcPts val="300"/>
              </a:spcAft>
            </a:pPr>
            <a:r>
              <a:rPr sz="1400" b="1" i="0">
                <a:solidFill>
                  <a:srgbClr val="1F2933"/>
                </a:solidFill>
                <a:latin typeface="Calibri"/>
              </a:rPr>
              <a:t>Expected outcome:</a:t>
            </a:r>
            <a:r>
              <a:rPr sz="1400" b="0" i="0">
                <a:solidFill>
                  <a:srgbClr val="1F2933"/>
                </a:solidFill>
                <a:latin typeface="Calibri"/>
              </a:rPr>
              <a:t> more of the prescribed sessions really done, and done right. We will not claim fewer complications until a proper study shows it.</a:t>
            </a:r>
          </a:p>
        </p:txBody>
      </p:sp>
      <p:graphicFrame>
        <p:nvGraphicFramePr>
          <p:cNvPr id="80" name="Table 79"/>
          <p:cNvGraphicFramePr>
            <a:graphicFrameLocks noGrp="1"/>
          </p:cNvGraphicFramePr>
          <p:nvPr/>
        </p:nvGraphicFramePr>
        <p:xfrm>
          <a:off x="5760720" y="1828800"/>
          <a:ext cx="5779006" cy="2084832"/>
        </p:xfrm>
        <a:graphic>
          <a:graphicData uri="http://schemas.openxmlformats.org/drawingml/2006/table">
            <a:tbl>
              <a:tblPr firstRow="0" bandRow="0">
                <a:tableStyleId>{5C22544A-7EE6-4342-B048-85BDC9FD1C3A}</a:tableStyleId>
              </a:tblPr>
              <a:tblGrid>
                <a:gridCol w="1874519"/>
                <a:gridCol w="3904487"/>
              </a:tblGrid>
              <a:tr h="384048">
                <a:tc>
                  <a:txBody>
                    <a:bodyPr wrap="square"/>
                    <a:lstStyle/>
                    <a:p>
                      <a:pPr algn="l">
                        <a:spcBef>
                          <a:spcPts val="0"/>
                        </a:spcBef>
                        <a:spcAft>
                          <a:spcPts val="0"/>
                        </a:spcAft>
                      </a:pPr>
                      <a:r>
                        <a:rPr sz="1400" b="1" i="0">
                          <a:solidFill>
                            <a:srgbClr val="FFFFFF"/>
                          </a:solidFill>
                          <a:latin typeface="Calibri"/>
                        </a:rPr>
                        <a:t>SDG 3 target</a:t>
                      </a:r>
                    </a:p>
                  </a:txBody>
                  <a:tcPr marL="91440" marR="91440" marT="54864" marB="54864" anchor="ctr">
                    <a:solidFill>
                      <a:srgbClr val="253653"/>
                    </a:solidFill>
                  </a:tcPr>
                </a:tc>
                <a:tc>
                  <a:txBody>
                    <a:bodyPr wrap="square"/>
                    <a:lstStyle/>
                    <a:p>
                      <a:pPr algn="l">
                        <a:spcBef>
                          <a:spcPts val="0"/>
                        </a:spcBef>
                        <a:spcAft>
                          <a:spcPts val="0"/>
                        </a:spcAft>
                      </a:pPr>
                      <a:r>
                        <a:rPr sz="1400" b="1" i="0">
                          <a:solidFill>
                            <a:srgbClr val="FFFFFF"/>
                          </a:solidFill>
                          <a:latin typeface="Calibri"/>
                        </a:rPr>
                        <a:t>Our honest link</a:t>
                      </a:r>
                    </a:p>
                  </a:txBody>
                  <a:tcPr marL="91440" marR="91440" marT="54864" marB="54864" anchor="ctr">
                    <a:solidFill>
                      <a:srgbClr val="253653"/>
                    </a:solidFill>
                  </a:tcPr>
                </a:tc>
              </a:tr>
              <a:tr h="566928">
                <a:tc>
                  <a:txBody>
                    <a:bodyPr wrap="square"/>
                    <a:lstStyle/>
                    <a:p>
                      <a:pPr algn="l">
                        <a:spcBef>
                          <a:spcPts val="0"/>
                        </a:spcBef>
                        <a:spcAft>
                          <a:spcPts val="0"/>
                        </a:spcAft>
                      </a:pPr>
                      <a:r>
                        <a:rPr sz="1400" b="1" i="0">
                          <a:solidFill>
                            <a:srgbClr val="253653"/>
                          </a:solidFill>
                          <a:latin typeface="Calibri"/>
                        </a:rPr>
                        <a:t>3.8 (main): access to quality care</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Follow-up of a standard post-surgery exercise reaches the home, in the patient's language</a:t>
                      </a:r>
                    </a:p>
                  </a:txBody>
                  <a:tcPr marL="91440" marR="91440" marT="54864" marB="54864" anchor="ctr">
                    <a:solidFill>
                      <a:srgbClr val="FFFFFF"/>
                    </a:solidFill>
                  </a:tcPr>
                </a:tc>
              </a:tr>
              <a:tr h="566928">
                <a:tc>
                  <a:txBody>
                    <a:bodyPr wrap="square"/>
                    <a:lstStyle/>
                    <a:p>
                      <a:pPr algn="l">
                        <a:spcBef>
                          <a:spcPts val="0"/>
                        </a:spcBef>
                        <a:spcAft>
                          <a:spcPts val="0"/>
                        </a:spcAft>
                      </a:pPr>
                      <a:r>
                        <a:rPr sz="1400" b="1" i="0">
                          <a:solidFill>
                            <a:srgbClr val="253653"/>
                          </a:solidFill>
                          <a:latin typeface="Calibri"/>
                        </a:rPr>
                        <a:t>3.4: non-communicable disease</a:t>
                      </a:r>
                    </a:p>
                  </a:txBody>
                  <a:tcPr marL="91440" marR="91440" marT="54864" marB="54864" anchor="ctr">
                    <a:solidFill>
                      <a:srgbClr val="F4F8FB"/>
                    </a:solidFill>
                  </a:tcPr>
                </a:tc>
                <a:tc>
                  <a:txBody>
                    <a:bodyPr wrap="square"/>
                    <a:lstStyle/>
                    <a:p>
                      <a:pPr algn="l">
                        <a:spcBef>
                          <a:spcPts val="0"/>
                        </a:spcBef>
                        <a:spcAft>
                          <a:spcPts val="0"/>
                        </a:spcAft>
                      </a:pPr>
                      <a:r>
                        <a:rPr sz="1400" b="0" i="0">
                          <a:solidFill>
                            <a:srgbClr val="1F2933"/>
                          </a:solidFill>
                          <a:latin typeface="Calibri"/>
                        </a:rPr>
                        <a:t>Supports recovery after heart and cancer surgery. We do not claim to change death rates</a:t>
                      </a:r>
                    </a:p>
                  </a:txBody>
                  <a:tcPr marL="91440" marR="91440" marT="54864" marB="54864" anchor="ctr">
                    <a:solidFill>
                      <a:srgbClr val="F4F8FB"/>
                    </a:solidFill>
                  </a:tcPr>
                </a:tc>
              </a:tr>
              <a:tr h="566928">
                <a:tc>
                  <a:txBody>
                    <a:bodyPr wrap="square"/>
                    <a:lstStyle/>
                    <a:p>
                      <a:pPr algn="l">
                        <a:spcBef>
                          <a:spcPts val="0"/>
                        </a:spcBef>
                        <a:spcAft>
                          <a:spcPts val="0"/>
                        </a:spcAft>
                      </a:pPr>
                      <a:r>
                        <a:rPr sz="1400" b="1" i="0">
                          <a:solidFill>
                            <a:srgbClr val="253653"/>
                          </a:solidFill>
                          <a:latin typeface="Calibri"/>
                        </a:rPr>
                        <a:t>3.c: health workforce</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One nurse sees which of many patients needs a call</a:t>
                      </a:r>
                    </a:p>
                  </a:txBody>
                  <a:tcPr marL="91440" marR="91440" marT="54864" marB="54864" anchor="ctr">
                    <a:solidFill>
                      <a:srgbClr val="FFFFFF"/>
                    </a:solidFill>
                  </a:tcPr>
                </a:tc>
              </a:tr>
            </a:tbl>
          </a:graphicData>
        </a:graphic>
      </p:graphicFrame>
      <p:graphicFrame>
        <p:nvGraphicFramePr>
          <p:cNvPr id="81" name="Table 80"/>
          <p:cNvGraphicFramePr>
            <a:graphicFrameLocks noGrp="1"/>
          </p:cNvGraphicFramePr>
          <p:nvPr/>
        </p:nvGraphicFramePr>
        <p:xfrm>
          <a:off x="658368" y="4133087"/>
          <a:ext cx="7360920" cy="1700784"/>
        </p:xfrm>
        <a:graphic>
          <a:graphicData uri="http://schemas.openxmlformats.org/drawingml/2006/table">
            <a:tbl>
              <a:tblPr firstRow="0" bandRow="0">
                <a:tableStyleId>{5C22544A-7EE6-4342-B048-85BDC9FD1C3A}</a:tableStyleId>
              </a:tblPr>
              <a:tblGrid>
                <a:gridCol w="2240280"/>
                <a:gridCol w="2468880"/>
                <a:gridCol w="2651760"/>
              </a:tblGrid>
              <a:tr h="384048">
                <a:tc>
                  <a:txBody>
                    <a:bodyPr wrap="square"/>
                    <a:lstStyle/>
                    <a:p>
                      <a:pPr algn="l">
                        <a:spcBef>
                          <a:spcPts val="0"/>
                        </a:spcBef>
                        <a:spcAft>
                          <a:spcPts val="0"/>
                        </a:spcAft>
                      </a:pPr>
                      <a:r>
                        <a:rPr sz="1400" b="1" i="0">
                          <a:solidFill>
                            <a:srgbClr val="FFFFFF"/>
                          </a:solidFill>
                          <a:latin typeface="Calibri"/>
                        </a:rPr>
                        <a:t>Impact metric</a:t>
                      </a:r>
                    </a:p>
                  </a:txBody>
                  <a:tcPr marL="91440" marR="91440" marT="54864" marB="54864" anchor="ctr">
                    <a:solidFill>
                      <a:srgbClr val="253653"/>
                    </a:solidFill>
                  </a:tcPr>
                </a:tc>
                <a:tc>
                  <a:txBody>
                    <a:bodyPr wrap="square"/>
                    <a:lstStyle/>
                    <a:p>
                      <a:pPr algn="l">
                        <a:spcBef>
                          <a:spcPts val="0"/>
                        </a:spcBef>
                        <a:spcAft>
                          <a:spcPts val="0"/>
                        </a:spcAft>
                      </a:pPr>
                      <a:r>
                        <a:rPr sz="1400" b="1" i="0">
                          <a:solidFill>
                            <a:srgbClr val="FFFFFF"/>
                          </a:solidFill>
                          <a:latin typeface="Calibri"/>
                        </a:rPr>
                        <a:t>Today (demo)</a:t>
                      </a:r>
                    </a:p>
                  </a:txBody>
                  <a:tcPr marL="91440" marR="91440" marT="54864" marB="54864" anchor="ctr">
                    <a:solidFill>
                      <a:srgbClr val="253653"/>
                    </a:solidFill>
                  </a:tcPr>
                </a:tc>
                <a:tc>
                  <a:txBody>
                    <a:bodyPr wrap="square"/>
                    <a:lstStyle/>
                    <a:p>
                      <a:pPr algn="l">
                        <a:spcBef>
                          <a:spcPts val="0"/>
                        </a:spcBef>
                        <a:spcAft>
                          <a:spcPts val="0"/>
                        </a:spcAft>
                      </a:pPr>
                      <a:r>
                        <a:rPr sz="1400" b="1" i="0">
                          <a:solidFill>
                            <a:srgbClr val="FFFFFF"/>
                          </a:solidFill>
                          <a:latin typeface="Calibri"/>
                        </a:rPr>
                        <a:t>Opening pilot (planned)</a:t>
                      </a:r>
                    </a:p>
                  </a:txBody>
                  <a:tcPr marL="91440" marR="91440" marT="54864" marB="54864" anchor="ctr">
                    <a:solidFill>
                      <a:srgbClr val="253653"/>
                    </a:solidFill>
                  </a:tcPr>
                </a:tc>
              </a:tr>
              <a:tr h="658368">
                <a:tc>
                  <a:txBody>
                    <a:bodyPr wrap="square"/>
                    <a:lstStyle/>
                    <a:p>
                      <a:pPr algn="l">
                        <a:spcBef>
                          <a:spcPts val="0"/>
                        </a:spcBef>
                        <a:spcAft>
                          <a:spcPts val="0"/>
                        </a:spcAft>
                      </a:pPr>
                      <a:r>
                        <a:rPr sz="1400" b="1" i="0">
                          <a:solidFill>
                            <a:srgbClr val="253653"/>
                          </a:solidFill>
                          <a:latin typeface="Calibri"/>
                        </a:rPr>
                        <a:t>Sessions done ÷ sessions due</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Counted automatically; simulated breaths, fictional patients</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Measured on one ward: 30 patients, 3 months. No Indian baseline exists yet</a:t>
                      </a:r>
                    </a:p>
                  </a:txBody>
                  <a:tcPr marL="91440" marR="91440" marT="54864" marB="54864" anchor="ctr">
                    <a:solidFill>
                      <a:srgbClr val="FFFFFF"/>
                    </a:solidFill>
                  </a:tcPr>
                </a:tc>
              </a:tr>
              <a:tr h="658368">
                <a:tc>
                  <a:txBody>
                    <a:bodyPr wrap="square"/>
                    <a:lstStyle/>
                    <a:p>
                      <a:pPr algn="l">
                        <a:spcBef>
                          <a:spcPts val="0"/>
                        </a:spcBef>
                        <a:spcAft>
                          <a:spcPts val="0"/>
                        </a:spcAft>
                      </a:pPr>
                      <a:r>
                        <a:rPr sz="1400" b="1" i="0">
                          <a:solidFill>
                            <a:srgbClr val="253653"/>
                          </a:solidFill>
                          <a:latin typeface="Calibri"/>
                        </a:rPr>
                        <a:t>Breaths done correctly (speed, depth, hold)</a:t>
                      </a:r>
                    </a:p>
                  </a:txBody>
                  <a:tcPr marL="91440" marR="91440" marT="54864" marB="54864" anchor="ctr">
                    <a:solidFill>
                      <a:srgbClr val="F4F8FB"/>
                    </a:solidFill>
                  </a:tcPr>
                </a:tc>
                <a:tc>
                  <a:txBody>
                    <a:bodyPr wrap="square"/>
                    <a:lstStyle/>
                    <a:p>
                      <a:pPr algn="l">
                        <a:spcBef>
                          <a:spcPts val="0"/>
                        </a:spcBef>
                        <a:spcAft>
                          <a:spcPts val="0"/>
                        </a:spcAft>
                      </a:pPr>
                      <a:r>
                        <a:rPr sz="1400" b="0" i="0">
                          <a:solidFill>
                            <a:srgbClr val="1F2933"/>
                          </a:solidFill>
                          <a:latin typeface="Calibri"/>
                        </a:rPr>
                        <a:t>Labelled by a model trained on simulated breaths</a:t>
                      </a:r>
                    </a:p>
                  </a:txBody>
                  <a:tcPr marL="91440" marR="91440" marT="54864" marB="54864" anchor="ctr">
                    <a:solidFill>
                      <a:srgbClr val="F4F8FB"/>
                    </a:solidFill>
                  </a:tcPr>
                </a:tc>
                <a:tc>
                  <a:txBody>
                    <a:bodyPr wrap="square"/>
                    <a:lstStyle/>
                    <a:p>
                      <a:pPr algn="l">
                        <a:spcBef>
                          <a:spcPts val="0"/>
                        </a:spcBef>
                        <a:spcAft>
                          <a:spcPts val="0"/>
                        </a:spcAft>
                      </a:pPr>
                      <a:r>
                        <a:rPr sz="1400" b="0" i="0">
                          <a:solidFill>
                            <a:srgbClr val="1F2933"/>
                          </a:solidFill>
                          <a:latin typeface="Calibri"/>
                        </a:rPr>
                        <a:t>Real breaths recorded and the model re-trained before the pilot</a:t>
                      </a:r>
                    </a:p>
                  </a:txBody>
                  <a:tcPr marL="91440" marR="91440" marT="54864" marB="54864" anchor="ctr">
                    <a:solidFill>
                      <a:srgbClr val="F4F8FB"/>
                    </a:solidFill>
                  </a:tcPr>
                </a:tc>
              </a:tr>
            </a:tbl>
          </a:graphicData>
        </a:graphic>
      </p:graphicFrame>
      <p:sp>
        <p:nvSpPr>
          <p:cNvPr id="82" name="Rounded Rectangle 81"/>
          <p:cNvSpPr/>
          <p:nvPr/>
        </p:nvSpPr>
        <p:spPr>
          <a:xfrm>
            <a:off x="8202168" y="4133087"/>
            <a:ext cx="3337560" cy="1755648"/>
          </a:xfrm>
          <a:prstGeom prst="roundRect">
            <a:avLst>
              <a:gd name="adj" fmla="val 3645"/>
            </a:avLst>
          </a:prstGeom>
          <a:solidFill>
            <a:srgbClr val="EAF4FB"/>
          </a:solidFill>
          <a:ln>
            <a:noFill/>
          </a:ln>
          <a:effectLst/>
        </p:spPr>
        <p:txBody>
          <a:bodyPr rtlCol="0" anchor="t" lIns="128016" rIns="128016" tIns="91440" bIns="91440"/>
          <a:lstStyle/>
          <a:p>
            <a:pPr algn="ctr"/>
          </a:p>
        </p:txBody>
      </p:sp>
      <p:sp>
        <p:nvSpPr>
          <p:cNvPr id="83" name="TextBox 82"/>
          <p:cNvSpPr txBox="1"/>
          <p:nvPr/>
        </p:nvSpPr>
        <p:spPr>
          <a:xfrm>
            <a:off x="8321040" y="4187952"/>
            <a:ext cx="3108960" cy="548640"/>
          </a:xfrm>
          <a:prstGeom prst="rect">
            <a:avLst/>
          </a:prstGeom>
          <a:noFill/>
        </p:spPr>
        <p:txBody>
          <a:bodyPr wrap="square" lIns="0" rIns="0" tIns="0" bIns="0" anchor="ctr">
            <a:spAutoFit/>
          </a:bodyPr>
          <a:lstStyle/>
          <a:p>
            <a:pPr algn="l">
              <a:spcBef>
                <a:spcPts val="0"/>
              </a:spcBef>
              <a:spcAft>
                <a:spcPts val="0"/>
              </a:spcAft>
            </a:pPr>
            <a:r>
              <a:rPr sz="3200" b="1" i="0">
                <a:solidFill>
                  <a:srgbClr val="38A0D8"/>
                </a:solidFill>
                <a:latin typeface="Calibri"/>
              </a:rPr>
              <a:t>28% → 58%</a:t>
            </a:r>
          </a:p>
        </p:txBody>
      </p:sp>
      <p:sp>
        <p:nvSpPr>
          <p:cNvPr id="84" name="TextBox 83"/>
          <p:cNvSpPr txBox="1"/>
          <p:nvPr/>
        </p:nvSpPr>
        <p:spPr>
          <a:xfrm>
            <a:off x="8321040" y="4754880"/>
            <a:ext cx="3108960" cy="1097280"/>
          </a:xfrm>
          <a:prstGeom prst="rect">
            <a:avLst/>
          </a:prstGeom>
          <a:noFill/>
        </p:spPr>
        <p:txBody>
          <a:bodyPr wrap="square" lIns="0" rIns="0" tIns="0" bIns="0" anchor="t">
            <a:spAutoFit/>
          </a:bodyPr>
          <a:lstStyle/>
          <a:p>
            <a:pPr algn="l">
              <a:spcBef>
                <a:spcPts val="0"/>
              </a:spcBef>
              <a:spcAft>
                <a:spcPts val="300"/>
              </a:spcAft>
            </a:pPr>
            <a:r>
              <a:rPr sz="1400" b="0" i="0">
                <a:solidFill>
                  <a:srgbClr val="1F2933"/>
                </a:solidFill>
                <a:latin typeface="Calibri"/>
              </a:rPr>
              <a:t>of waking hours with exercise, when patients got an hourly reminder</a:t>
            </a:r>
          </a:p>
          <a:p>
            <a:pPr algn="l">
              <a:spcBef>
                <a:spcPts val="0"/>
              </a:spcBef>
              <a:spcAft>
                <a:spcPts val="0"/>
              </a:spcAft>
            </a:pPr>
            <a:r>
              <a:rPr sz="1000" b="0" i="0">
                <a:solidFill>
                  <a:srgbClr val="5B6B7D"/>
                </a:solidFill>
                <a:latin typeface="Calibri"/>
              </a:rPr>
              <a:t>US randomised trial, 145 bypass patients. JAMA Surgery 2019</a:t>
            </a:r>
          </a:p>
        </p:txBody>
      </p:sp>
      <p:sp>
        <p:nvSpPr>
          <p:cNvPr id="85" name="TextBox 84"/>
          <p:cNvSpPr txBox="1"/>
          <p:nvPr/>
        </p:nvSpPr>
        <p:spPr>
          <a:xfrm>
            <a:off x="658368" y="6035040"/>
            <a:ext cx="9326880" cy="402336"/>
          </a:xfrm>
          <a:prstGeom prst="rect">
            <a:avLst/>
          </a:prstGeom>
          <a:noFill/>
        </p:spPr>
        <p:txBody>
          <a:bodyPr wrap="square" lIns="0" rIns="0" tIns="0" bIns="0" anchor="b">
            <a:spAutoFit/>
          </a:bodyPr>
          <a:lstStyle/>
          <a:p>
            <a:pPr algn="l">
              <a:spcBef>
                <a:spcPts val="0"/>
              </a:spcBef>
              <a:spcAft>
                <a:spcPts val="0"/>
              </a:spcAft>
            </a:pPr>
            <a:r>
              <a:rPr sz="1000" b="0" i="0">
                <a:solidFill>
                  <a:srgbClr val="5B6B7D"/>
                </a:solidFill>
                <a:latin typeface="Calibri"/>
              </a:rPr>
              <a:t>SDG wording checked against the UN targets. The pilot size is a plan; we state no numeric outcome target.</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6"/>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3000">
                <a:solidFill>
                  <a:schemeClr val="accent4"/>
                </a:solidFill>
                <a:latin typeface="Play"/>
                <a:ea typeface="Play"/>
                <a:cs typeface="Play"/>
                <a:sym typeface="Play"/>
              </a:rPr>
              <a:t>Target Beneficiaries</a:t>
            </a:r>
            <a:endParaRPr sz="2400">
              <a:solidFill>
                <a:schemeClr val="accent4"/>
              </a:solidFill>
              <a:latin typeface="Calibri"/>
              <a:ea typeface="Calibri"/>
              <a:cs typeface="Calibri"/>
              <a:sym typeface="Calibri"/>
            </a:endParaRPr>
          </a:p>
        </p:txBody>
      </p:sp>
      <p:sp>
        <p:nvSpPr>
          <p:cNvPr id="85" name="Google Shape;85;p6"/>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 name="Google Shape;86;p6"/>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 name="Google Shape;87;p6"/>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 name="Google Shape;88;p6"/>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 name="Google Shape;89;p6"/>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90" name="Google Shape;90;p6"/>
          <p:cNvSpPr txBox="1"/>
          <p:nvPr/>
        </p:nvSpPr>
        <p:spPr>
          <a:xfrm>
            <a:off x="11109960" y="6569294"/>
            <a:ext cx="438912" cy="138499"/>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04</a:t>
            </a:r>
            <a:endParaRPr b="1" sz="900">
              <a:solidFill>
                <a:srgbClr val="203050"/>
              </a:solidFill>
              <a:latin typeface="Arial"/>
              <a:ea typeface="Arial"/>
              <a:cs typeface="Arial"/>
              <a:sym typeface="Arial"/>
            </a:endParaRPr>
          </a:p>
        </p:txBody>
      </p:sp>
      <p:pic>
        <p:nvPicPr>
          <p:cNvPr id="91" name="Picture 90" descr="Dolphin Tank India logo"/>
          <p:cNvPicPr>
            <a:picLocks noChangeAspect="1"/>
          </p:cNvPicPr>
          <p:nvPr/>
        </p:nvPicPr>
        <p:blipFill>
          <a:blip r:embed="rId3"/>
          <a:stretch>
            <a:fillRect/>
          </a:stretch>
        </p:blipFill>
        <p:spPr>
          <a:xfrm>
            <a:off x="10669520" y="146304"/>
            <a:ext cx="1387352" cy="654087"/>
          </a:xfrm>
          <a:prstGeom prst="rect">
            <a:avLst/>
          </a:prstGeom>
        </p:spPr>
      </p:pic>
      <p:sp>
        <p:nvSpPr>
          <p:cNvPr id="92" name="TextBox 91"/>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The people who need it most cannot be asked to learn a complicated app.</a:t>
            </a:r>
          </a:p>
        </p:txBody>
      </p:sp>
      <p:sp>
        <p:nvSpPr>
          <p:cNvPr id="93" name="Rounded Rectangle 92"/>
          <p:cNvSpPr/>
          <p:nvPr/>
        </p:nvSpPr>
        <p:spPr>
          <a:xfrm>
            <a:off x="658368" y="1810512"/>
            <a:ext cx="3474720" cy="2944368"/>
          </a:xfrm>
          <a:prstGeom prst="roundRect">
            <a:avLst>
              <a:gd name="adj" fmla="val 2173"/>
            </a:avLst>
          </a:prstGeom>
          <a:solidFill>
            <a:srgbClr val="EAF4FB"/>
          </a:solidFill>
          <a:ln>
            <a:noFill/>
          </a:ln>
          <a:effectLst/>
        </p:spPr>
        <p:txBody>
          <a:bodyPr rtlCol="0" anchor="t" lIns="128016" rIns="128016" tIns="91440" bIns="91440" wrap="square"/>
          <a:lstStyle/>
          <a:p>
            <a:pPr algn="l">
              <a:spcBef>
                <a:spcPts val="0"/>
              </a:spcBef>
              <a:spcAft>
                <a:spcPts val="500"/>
              </a:spcAft>
            </a:pPr>
            <a:r>
              <a:rPr sz="1700" b="1" i="0">
                <a:solidFill>
                  <a:srgbClr val="253653"/>
                </a:solidFill>
                <a:latin typeface="Calibri"/>
              </a:rPr>
              <a:t>Ravi, 58 - the patient</a:t>
            </a:r>
          </a:p>
          <a:p>
            <a:pPr algn="l">
              <a:spcBef>
                <a:spcPts val="0"/>
              </a:spcBef>
              <a:spcAft>
                <a:spcPts val="500"/>
              </a:spcAft>
            </a:pPr>
            <a:r>
              <a:rPr sz="1400" b="0" i="0">
                <a:solidFill>
                  <a:srgbClr val="1F2933"/>
                </a:solidFill>
                <a:latin typeface="Calibri"/>
              </a:rPr>
              <a:t>Going home after abdominal surgery. Speaks Hindi; uses the family phone.</a:t>
            </a:r>
          </a:p>
          <a:p>
            <a:pPr algn="l">
              <a:spcBef>
                <a:spcPts val="0"/>
              </a:spcBef>
              <a:spcAft>
                <a:spcPts val="500"/>
              </a:spcAft>
            </a:pPr>
            <a:r>
              <a:rPr sz="1400" b="1" i="0">
                <a:solidFill>
                  <a:srgbClr val="1F2933"/>
                </a:solidFill>
                <a:latin typeface="Calibri"/>
              </a:rPr>
              <a:t>Pain:</a:t>
            </a:r>
            <a:r>
              <a:rPr sz="1400" b="0" i="0">
                <a:solidFill>
                  <a:srgbClr val="1F2933"/>
                </a:solidFill>
                <a:latin typeface="Calibri"/>
              </a:rPr>
              <a:t> forgets the exercise or breathes too fast, and nobody sees. Paper prescriptions get lost.</a:t>
            </a:r>
          </a:p>
          <a:p>
            <a:pPr algn="l">
              <a:spcBef>
                <a:spcPts val="0"/>
              </a:spcBef>
              <a:spcAft>
                <a:spcPts val="500"/>
              </a:spcAft>
            </a:pPr>
            <a:r>
              <a:rPr sz="1400" b="1" i="0">
                <a:solidFill>
                  <a:srgbClr val="1F2933"/>
                </a:solidFill>
                <a:latin typeface="Calibri"/>
              </a:rPr>
              <a:t>Needs:</a:t>
            </a:r>
            <a:r>
              <a:rPr sz="1400" b="0" i="0">
                <a:solidFill>
                  <a:srgbClr val="1F2933"/>
                </a:solidFill>
                <a:latin typeface="Calibri"/>
              </a:rPr>
              <a:t> a voice in his language, one big button, no typing.</a:t>
            </a:r>
          </a:p>
          <a:p>
            <a:pPr algn="l">
              <a:spcBef>
                <a:spcPts val="300"/>
              </a:spcBef>
              <a:spcAft>
                <a:spcPts val="100"/>
              </a:spcAft>
            </a:pPr>
            <a:r>
              <a:rPr sz="1400" b="1" i="0">
                <a:solidFill>
                  <a:srgbClr val="38A0D8"/>
                </a:solidFill>
                <a:latin typeface="Calibri"/>
              </a:rPr>
              <a:t>Only 41% of older Indians own a smartphone</a:t>
            </a:r>
          </a:p>
          <a:p>
            <a:pPr algn="l">
              <a:spcBef>
                <a:spcPts val="0"/>
              </a:spcBef>
              <a:spcAft>
                <a:spcPts val="0"/>
              </a:spcAft>
            </a:pPr>
            <a:r>
              <a:rPr sz="1000" b="0" i="0">
                <a:solidFill>
                  <a:srgbClr val="5B6B7D"/>
                </a:solidFill>
                <a:latin typeface="Calibri"/>
              </a:rPr>
              <a:t>HelpAge India 2025</a:t>
            </a:r>
          </a:p>
        </p:txBody>
      </p:sp>
      <p:sp>
        <p:nvSpPr>
          <p:cNvPr id="94" name="Rounded Rectangle 93"/>
          <p:cNvSpPr/>
          <p:nvPr/>
        </p:nvSpPr>
        <p:spPr>
          <a:xfrm>
            <a:off x="4361688" y="1810512"/>
            <a:ext cx="3474720" cy="2944368"/>
          </a:xfrm>
          <a:prstGeom prst="roundRect">
            <a:avLst>
              <a:gd name="adj" fmla="val 2173"/>
            </a:avLst>
          </a:prstGeom>
          <a:solidFill>
            <a:srgbClr val="EAF4FB"/>
          </a:solidFill>
          <a:ln>
            <a:noFill/>
          </a:ln>
          <a:effectLst/>
        </p:spPr>
        <p:txBody>
          <a:bodyPr rtlCol="0" anchor="t" lIns="128016" rIns="128016" tIns="91440" bIns="91440" wrap="square"/>
          <a:lstStyle/>
          <a:p>
            <a:pPr algn="l">
              <a:spcBef>
                <a:spcPts val="0"/>
              </a:spcBef>
              <a:spcAft>
                <a:spcPts val="500"/>
              </a:spcAft>
            </a:pPr>
            <a:r>
              <a:rPr sz="1700" b="1" i="0">
                <a:solidFill>
                  <a:srgbClr val="253653"/>
                </a:solidFill>
                <a:latin typeface="Calibri"/>
              </a:rPr>
              <a:t>Sister Anjali - the ward nurse</a:t>
            </a:r>
          </a:p>
          <a:p>
            <a:pPr algn="l">
              <a:spcBef>
                <a:spcPts val="0"/>
              </a:spcBef>
              <a:spcAft>
                <a:spcPts val="500"/>
              </a:spcAft>
            </a:pPr>
            <a:r>
              <a:rPr sz="1400" b="0" i="0">
                <a:solidFill>
                  <a:srgbClr val="1F2933"/>
                </a:solidFill>
                <a:latin typeface="Calibri"/>
              </a:rPr>
              <a:t>Teaches the exercise once, at discharge.</a:t>
            </a:r>
          </a:p>
          <a:p>
            <a:pPr algn="l">
              <a:spcBef>
                <a:spcPts val="0"/>
              </a:spcBef>
              <a:spcAft>
                <a:spcPts val="500"/>
              </a:spcAft>
            </a:pPr>
            <a:r>
              <a:rPr sz="1400" b="1" i="0">
                <a:solidFill>
                  <a:srgbClr val="1F2933"/>
                </a:solidFill>
                <a:latin typeface="Calibri"/>
              </a:rPr>
              <a:t>Pain:</a:t>
            </a:r>
            <a:r>
              <a:rPr sz="1400" b="0" i="0">
                <a:solidFill>
                  <a:srgbClr val="1F2933"/>
                </a:solidFill>
                <a:latin typeface="Calibri"/>
              </a:rPr>
              <a:t> cannot check every patient every hour.</a:t>
            </a:r>
          </a:p>
          <a:p>
            <a:pPr algn="l">
              <a:spcBef>
                <a:spcPts val="0"/>
              </a:spcBef>
              <a:spcAft>
                <a:spcPts val="500"/>
              </a:spcAft>
            </a:pPr>
            <a:r>
              <a:rPr sz="1400" b="1" i="0">
                <a:solidFill>
                  <a:srgbClr val="1F2933"/>
                </a:solidFill>
                <a:latin typeface="Calibri"/>
              </a:rPr>
              <a:t>Needs:</a:t>
            </a:r>
            <a:r>
              <a:rPr sz="1400" b="0" i="0">
                <a:solidFill>
                  <a:srgbClr val="1F2933"/>
                </a:solidFill>
                <a:latin typeface="Calibri"/>
              </a:rPr>
              <a:t> one list with the most urgent patient on top, and an alert only when someone needs a call.</a:t>
            </a:r>
          </a:p>
          <a:p>
            <a:pPr algn="l">
              <a:spcBef>
                <a:spcPts val="300"/>
              </a:spcBef>
              <a:spcAft>
                <a:spcPts val="100"/>
              </a:spcAft>
            </a:pPr>
            <a:r>
              <a:rPr sz="1400" b="1" i="0">
                <a:solidFill>
                  <a:srgbClr val="38A0D8"/>
                </a:solidFill>
                <a:latin typeface="Calibri"/>
              </a:rPr>
              <a:t>2.6 nurses per 1,000 people; the WHO benchmark is 3</a:t>
            </a:r>
          </a:p>
          <a:p>
            <a:pPr algn="l">
              <a:spcBef>
                <a:spcPts val="0"/>
              </a:spcBef>
              <a:spcAft>
                <a:spcPts val="0"/>
              </a:spcAft>
            </a:pPr>
            <a:r>
              <a:rPr sz="1000" b="0" i="0">
                <a:solidFill>
                  <a:srgbClr val="5B6B7D"/>
                </a:solidFill>
                <a:latin typeface="Calibri"/>
              </a:rPr>
              <a:t>Rajya Sabha reply, July 2026</a:t>
            </a:r>
          </a:p>
        </p:txBody>
      </p:sp>
      <p:sp>
        <p:nvSpPr>
          <p:cNvPr id="95" name="Rounded Rectangle 94"/>
          <p:cNvSpPr/>
          <p:nvPr/>
        </p:nvSpPr>
        <p:spPr>
          <a:xfrm>
            <a:off x="8065008" y="1810512"/>
            <a:ext cx="3474720" cy="2944368"/>
          </a:xfrm>
          <a:prstGeom prst="roundRect">
            <a:avLst>
              <a:gd name="adj" fmla="val 2173"/>
            </a:avLst>
          </a:prstGeom>
          <a:solidFill>
            <a:srgbClr val="EAF4FB"/>
          </a:solidFill>
          <a:ln>
            <a:noFill/>
          </a:ln>
          <a:effectLst/>
        </p:spPr>
        <p:txBody>
          <a:bodyPr rtlCol="0" anchor="t" lIns="128016" rIns="128016" tIns="91440" bIns="91440" wrap="square"/>
          <a:lstStyle/>
          <a:p>
            <a:pPr algn="l">
              <a:spcBef>
                <a:spcPts val="0"/>
              </a:spcBef>
              <a:spcAft>
                <a:spcPts val="500"/>
              </a:spcAft>
            </a:pPr>
            <a:r>
              <a:rPr sz="1700" b="1" i="0">
                <a:solidFill>
                  <a:srgbClr val="253653"/>
                </a:solidFill>
                <a:latin typeface="Calibri"/>
              </a:rPr>
              <a:t>Amit - the son, far away</a:t>
            </a:r>
          </a:p>
          <a:p>
            <a:pPr algn="l">
              <a:spcBef>
                <a:spcPts val="0"/>
              </a:spcBef>
              <a:spcAft>
                <a:spcPts val="500"/>
              </a:spcAft>
            </a:pPr>
            <a:r>
              <a:rPr sz="1400" b="0" i="0">
                <a:solidFill>
                  <a:srgbClr val="1F2933"/>
                </a:solidFill>
                <a:latin typeface="Calibri"/>
              </a:rPr>
              <a:t>Works in another city and worries.</a:t>
            </a:r>
          </a:p>
          <a:p>
            <a:pPr algn="l">
              <a:spcBef>
                <a:spcPts val="0"/>
              </a:spcBef>
              <a:spcAft>
                <a:spcPts val="500"/>
              </a:spcAft>
            </a:pPr>
            <a:r>
              <a:rPr sz="1400" b="1" i="0">
                <a:solidFill>
                  <a:srgbClr val="1F2933"/>
                </a:solidFill>
                <a:latin typeface="Calibri"/>
              </a:rPr>
              <a:t>Pain:</a:t>
            </a:r>
            <a:r>
              <a:rPr sz="1400" b="0" i="0">
                <a:solidFill>
                  <a:srgbClr val="1F2933"/>
                </a:solidFill>
                <a:latin typeface="Calibri"/>
              </a:rPr>
              <a:t> can only ask on the phone.</a:t>
            </a:r>
          </a:p>
          <a:p>
            <a:pPr algn="l">
              <a:spcBef>
                <a:spcPts val="0"/>
              </a:spcBef>
              <a:spcAft>
                <a:spcPts val="500"/>
              </a:spcAft>
            </a:pPr>
            <a:r>
              <a:rPr sz="1400" b="1" i="0">
                <a:solidFill>
                  <a:srgbClr val="1F2933"/>
                </a:solidFill>
                <a:latin typeface="Calibri"/>
              </a:rPr>
              <a:t>Needs:</a:t>
            </a:r>
            <a:r>
              <a:rPr sz="1400" b="0" i="0">
                <a:solidFill>
                  <a:srgbClr val="1F2933"/>
                </a:solidFill>
                <a:latin typeface="Calibri"/>
              </a:rPr>
              <a:t> a short daily update, and only if his father agrees to share it.</a:t>
            </a:r>
          </a:p>
          <a:p>
            <a:pPr algn="l">
              <a:spcBef>
                <a:spcPts val="300"/>
              </a:spcBef>
              <a:spcAft>
                <a:spcPts val="100"/>
              </a:spcAft>
            </a:pPr>
            <a:r>
              <a:rPr sz="1400" b="1" i="0">
                <a:solidFill>
                  <a:srgbClr val="38A0D8"/>
                </a:solidFill>
                <a:latin typeface="Calibri"/>
              </a:rPr>
              <a:t>2 in 3 older Indians live with their children; 3 in 4 older women can't read</a:t>
            </a:r>
          </a:p>
          <a:p>
            <a:pPr algn="l">
              <a:spcBef>
                <a:spcPts val="0"/>
              </a:spcBef>
              <a:spcAft>
                <a:spcPts val="0"/>
              </a:spcAft>
            </a:pPr>
            <a:r>
              <a:rPr sz="1000" b="0" i="0">
                <a:solidFill>
                  <a:srgbClr val="5B6B7D"/>
                </a:solidFill>
                <a:latin typeface="Calibri"/>
              </a:rPr>
              <a:t>LASI Wave 1</a:t>
            </a:r>
          </a:p>
        </p:txBody>
      </p:sp>
      <p:sp>
        <p:nvSpPr>
          <p:cNvPr id="96" name="Rounded Rectangle 95"/>
          <p:cNvSpPr/>
          <p:nvPr/>
        </p:nvSpPr>
        <p:spPr>
          <a:xfrm>
            <a:off x="658368" y="4937760"/>
            <a:ext cx="10881360" cy="457200"/>
          </a:xfrm>
          <a:prstGeom prst="roundRect">
            <a:avLst>
              <a:gd name="adj" fmla="val 14000"/>
            </a:avLst>
          </a:prstGeom>
          <a:solidFill>
            <a:srgbClr val="F1F3F5"/>
          </a:solidFill>
          <a:ln>
            <a:noFill/>
          </a:ln>
          <a:effectLst/>
        </p:spPr>
        <p:txBody>
          <a:bodyPr rtlCol="0" anchor="ctr" lIns="128016" rIns="128016" tIns="91440" bIns="91440" wrap="square"/>
          <a:lstStyle/>
          <a:p>
            <a:pPr algn="l">
              <a:spcBef>
                <a:spcPts val="0"/>
              </a:spcBef>
              <a:spcAft>
                <a:spcPts val="0"/>
              </a:spcAft>
            </a:pPr>
            <a:r>
              <a:rPr sz="1400" b="1" i="0">
                <a:solidFill>
                  <a:srgbClr val="253653"/>
                </a:solidFill>
                <a:latin typeface="Calibri"/>
              </a:rPr>
              <a:t>User journey:</a:t>
            </a:r>
            <a:r>
              <a:rPr sz="1400" b="0" i="0">
                <a:solidFill>
                  <a:srgbClr val="1F2933"/>
                </a:solidFill>
                <a:latin typeface="Calibri"/>
              </a:rPr>
              <a:t> discharge with a plan → coached practice at home → nurse sees who needs a call → pharmacy counter → follow-up visit</a:t>
            </a:r>
          </a:p>
        </p:txBody>
      </p:sp>
      <p:sp>
        <p:nvSpPr>
          <p:cNvPr id="97" name="Rounded Rectangle 96"/>
          <p:cNvSpPr/>
          <p:nvPr/>
        </p:nvSpPr>
        <p:spPr>
          <a:xfrm>
            <a:off x="658368" y="5468112"/>
            <a:ext cx="10881360" cy="457200"/>
          </a:xfrm>
          <a:prstGeom prst="roundRect">
            <a:avLst>
              <a:gd name="adj" fmla="val 14000"/>
            </a:avLst>
          </a:prstGeom>
          <a:solidFill>
            <a:srgbClr val="FFFBE6"/>
          </a:solidFill>
          <a:ln w="12700">
            <a:solidFill>
              <a:srgbClr val="C9A227"/>
            </a:solidFill>
            <a:prstDash val="dash"/>
          </a:ln>
          <a:effectLst/>
        </p:spPr>
        <p:txBody>
          <a:bodyPr rtlCol="0" anchor="ctr" lIns="128016" rIns="128016" tIns="91440" bIns="91440" wrap="square"/>
          <a:lstStyle/>
          <a:p>
            <a:pPr algn="l">
              <a:spcBef>
                <a:spcPts val="0"/>
              </a:spcBef>
              <a:spcAft>
                <a:spcPts val="0"/>
              </a:spcAft>
            </a:pPr>
            <a:r>
              <a:rPr sz="1400" b="1" i="0">
                <a:solidFill>
                  <a:srgbClr val="253653"/>
                </a:solidFill>
                <a:latin typeface="Calibri"/>
              </a:rPr>
              <a:t>Interview findings:</a:t>
            </a:r>
            <a:r>
              <a:rPr sz="1400" b="0" i="0">
                <a:solidFill>
                  <a:srgbClr val="1F2933"/>
                </a:solidFill>
                <a:latin typeface="Calibri"/>
              </a:rPr>
              <a:t> </a:t>
            </a:r>
            <a:r>
              <a:rPr sz="1400" b="1" i="0">
                <a:solidFill>
                  <a:srgbClr val="5A3A00"/>
                </a:solidFill>
                <a:highlight>
                  <a:srgbClr val="FFE95C"/>
                </a:highlight>
                <a:latin typeface="Calibri"/>
              </a:rPr>
              <a:t>[ADD: 3 interviewees - role, city]</a:t>
            </a:r>
            <a:r>
              <a:rPr sz="1400" b="0" i="0">
                <a:solidFill>
                  <a:srgbClr val="1F2933"/>
                </a:solidFill>
                <a:latin typeface="Calibri"/>
              </a:rPr>
              <a:t>  ·  </a:t>
            </a:r>
            <a:r>
              <a:rPr sz="1400" b="1" i="0">
                <a:solidFill>
                  <a:srgbClr val="5A3A00"/>
                </a:solidFill>
                <a:highlight>
                  <a:srgbClr val="FFE95C"/>
                </a:highlight>
                <a:latin typeface="Calibri"/>
              </a:rPr>
              <a:t>[ADD: one short quote, used with permission]</a:t>
            </a:r>
          </a:p>
        </p:txBody>
      </p:sp>
      <p:sp>
        <p:nvSpPr>
          <p:cNvPr id="98" name="TextBox 97"/>
          <p:cNvSpPr txBox="1"/>
          <p:nvPr/>
        </p:nvSpPr>
        <p:spPr>
          <a:xfrm>
            <a:off x="658368" y="6035040"/>
            <a:ext cx="9326880" cy="402336"/>
          </a:xfrm>
          <a:prstGeom prst="rect">
            <a:avLst/>
          </a:prstGeom>
          <a:noFill/>
        </p:spPr>
        <p:txBody>
          <a:bodyPr wrap="square" lIns="0" rIns="0" tIns="0" bIns="0" anchor="b">
            <a:spAutoFit/>
          </a:bodyPr>
          <a:lstStyle/>
          <a:p>
            <a:pPr algn="l">
              <a:spcBef>
                <a:spcPts val="0"/>
              </a:spcBef>
              <a:spcAft>
                <a:spcPts val="0"/>
              </a:spcAft>
            </a:pPr>
            <a:r>
              <a:rPr sz="1000" b="0" i="0">
                <a:solidFill>
                  <a:srgbClr val="5B6B7D"/>
                </a:solidFill>
                <a:latin typeface="Calibri"/>
              </a:rPr>
              <a:t>The three personas are illustrative, not real people. They are based on published research and appear in the demo.</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7"/>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3000">
                <a:solidFill>
                  <a:schemeClr val="accent4"/>
                </a:solidFill>
                <a:latin typeface="Play"/>
                <a:ea typeface="Play"/>
                <a:cs typeface="Play"/>
                <a:sym typeface="Play"/>
              </a:rPr>
              <a:t>Solution Overview</a:t>
            </a:r>
            <a:endParaRPr sz="2400">
              <a:solidFill>
                <a:schemeClr val="accent4"/>
              </a:solidFill>
              <a:latin typeface="Calibri"/>
              <a:ea typeface="Calibri"/>
              <a:cs typeface="Calibri"/>
              <a:sym typeface="Calibri"/>
            </a:endParaRPr>
          </a:p>
        </p:txBody>
      </p:sp>
      <p:sp>
        <p:nvSpPr>
          <p:cNvPr id="98" name="Google Shape;98;p7"/>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 name="Google Shape;99;p7"/>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0" name="Google Shape;100;p7"/>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 name="Google Shape;101;p7"/>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 name="Google Shape;102;p7"/>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103" name="Google Shape;103;p7"/>
          <p:cNvSpPr txBox="1"/>
          <p:nvPr/>
        </p:nvSpPr>
        <p:spPr>
          <a:xfrm>
            <a:off x="11109960" y="6569294"/>
            <a:ext cx="438912" cy="138499"/>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05</a:t>
            </a:r>
            <a:endParaRPr b="1" sz="900">
              <a:solidFill>
                <a:srgbClr val="203050"/>
              </a:solidFill>
              <a:latin typeface="Arial"/>
              <a:ea typeface="Arial"/>
              <a:cs typeface="Arial"/>
              <a:sym typeface="Arial"/>
            </a:endParaRPr>
          </a:p>
        </p:txBody>
      </p:sp>
      <p:pic>
        <p:nvPicPr>
          <p:cNvPr id="104" name="Picture 103" descr="Dolphin Tank India logo"/>
          <p:cNvPicPr>
            <a:picLocks noChangeAspect="1"/>
          </p:cNvPicPr>
          <p:nvPr/>
        </p:nvPicPr>
        <p:blipFill>
          <a:blip r:embed="rId3"/>
          <a:stretch>
            <a:fillRect/>
          </a:stretch>
        </p:blipFill>
        <p:spPr>
          <a:xfrm>
            <a:off x="10669520" y="146304"/>
            <a:ext cx="1387352" cy="654087"/>
          </a:xfrm>
          <a:prstGeom prst="rect">
            <a:avLst/>
          </a:prstGeom>
        </p:spPr>
      </p:pic>
      <p:sp>
        <p:nvSpPr>
          <p:cNvPr id="105" name="TextBox 104"/>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Pillar 1: proof that the breathing exercise was really done.</a:t>
            </a:r>
          </a:p>
        </p:txBody>
      </p:sp>
      <p:sp>
        <p:nvSpPr>
          <p:cNvPr id="106" name="Oval 105"/>
          <p:cNvSpPr/>
          <p:nvPr/>
        </p:nvSpPr>
        <p:spPr>
          <a:xfrm>
            <a:off x="658368" y="1810512"/>
            <a:ext cx="329184" cy="329184"/>
          </a:xfrm>
          <a:prstGeom prst="ellipse">
            <a:avLst/>
          </a:prstGeom>
          <a:solidFill>
            <a:srgbClr val="253653"/>
          </a:solidFill>
          <a:ln>
            <a:noFill/>
          </a:ln>
          <a:effectLst/>
        </p:spPr>
        <p:txBody>
          <a:bodyPr rtlCol="0" anchor="ctr" lIns="0" rIns="0" tIns="0" bIns="0" wrap="square"/>
          <a:lstStyle/>
          <a:p>
            <a:pPr algn="ctr">
              <a:spcBef>
                <a:spcPts val="0"/>
              </a:spcBef>
              <a:spcAft>
                <a:spcPts val="0"/>
              </a:spcAft>
            </a:pPr>
            <a:r>
              <a:rPr sz="1400" b="1" i="0">
                <a:solidFill>
                  <a:srgbClr val="FFFFFF"/>
                </a:solidFill>
                <a:latin typeface="Calibri"/>
              </a:rPr>
              <a:t>1</a:t>
            </a:r>
          </a:p>
        </p:txBody>
      </p:sp>
      <p:sp>
        <p:nvSpPr>
          <p:cNvPr id="107" name="TextBox 106"/>
          <p:cNvSpPr txBox="1"/>
          <p:nvPr/>
        </p:nvSpPr>
        <p:spPr>
          <a:xfrm>
            <a:off x="1078992" y="1810512"/>
            <a:ext cx="2103120" cy="329184"/>
          </a:xfrm>
          <a:prstGeom prst="rect">
            <a:avLst/>
          </a:prstGeom>
          <a:noFill/>
        </p:spPr>
        <p:txBody>
          <a:bodyPr wrap="square" lIns="0" rIns="0" tIns="0" bIns="0" anchor="ctr">
            <a:spAutoFit/>
          </a:bodyPr>
          <a:lstStyle/>
          <a:p>
            <a:pPr algn="l">
              <a:spcBef>
                <a:spcPts val="0"/>
              </a:spcBef>
              <a:spcAft>
                <a:spcPts val="0"/>
              </a:spcAft>
            </a:pPr>
            <a:r>
              <a:rPr sz="1700" b="1" i="0">
                <a:solidFill>
                  <a:srgbClr val="253653"/>
                </a:solidFill>
                <a:latin typeface="Calibri"/>
              </a:rPr>
              <a:t>Clip-on unit</a:t>
            </a:r>
          </a:p>
        </p:txBody>
      </p:sp>
      <p:pic>
        <p:nvPicPr>
          <p:cNvPr id="108" name="Picture 107" descr="3D design model of the clip-on unit under a breathing exerciser. The device is not built yet."/>
          <p:cNvPicPr>
            <a:picLocks noChangeAspect="1"/>
          </p:cNvPicPr>
          <p:nvPr/>
        </p:nvPicPr>
        <p:blipFill>
          <a:blip r:embed="rId4"/>
          <a:stretch>
            <a:fillRect/>
          </a:stretch>
        </p:blipFill>
        <p:spPr>
          <a:xfrm>
            <a:off x="711708" y="2249424"/>
            <a:ext cx="2453640" cy="2103120"/>
          </a:xfrm>
          <a:prstGeom prst="rect">
            <a:avLst/>
          </a:prstGeom>
          <a:ln w="9525">
            <a:solidFill>
              <a:srgbClr val="C9D2DB"/>
            </a:solidFill>
          </a:ln>
        </p:spPr>
      </p:pic>
      <p:sp>
        <p:nvSpPr>
          <p:cNvPr id="109" name="TextBox 108"/>
          <p:cNvSpPr txBox="1"/>
          <p:nvPr/>
        </p:nvSpPr>
        <p:spPr>
          <a:xfrm>
            <a:off x="658368" y="4443984"/>
            <a:ext cx="2560320" cy="658368"/>
          </a:xfrm>
          <a:prstGeom prst="rect">
            <a:avLst/>
          </a:prstGeom>
          <a:noFill/>
        </p:spPr>
        <p:txBody>
          <a:bodyPr wrap="square" lIns="0" rIns="0" tIns="0" bIns="0" anchor="t">
            <a:spAutoFit/>
          </a:bodyPr>
          <a:lstStyle/>
          <a:p>
            <a:pPr algn="l">
              <a:spcBef>
                <a:spcPts val="0"/>
              </a:spcBef>
              <a:spcAft>
                <a:spcPts val="0"/>
              </a:spcAft>
            </a:pPr>
            <a:r>
              <a:rPr sz="1400" b="0" i="0">
                <a:solidFill>
                  <a:srgbClr val="1F2933"/>
                </a:solidFill>
                <a:latin typeface="Calibri"/>
              </a:rPr>
              <a:t>A small base under an ordinary breathing exerciser reads how high the disc rises.</a:t>
            </a:r>
          </a:p>
        </p:txBody>
      </p:sp>
      <p:sp>
        <p:nvSpPr>
          <p:cNvPr id="110" name="Rounded Rectangle 109"/>
          <p:cNvSpPr/>
          <p:nvPr/>
        </p:nvSpPr>
        <p:spPr>
          <a:xfrm>
            <a:off x="658368" y="5120640"/>
            <a:ext cx="2485339" cy="274320"/>
          </a:xfrm>
          <a:prstGeom prst="roundRect">
            <a:avLst>
              <a:gd name="adj" fmla="val 50000"/>
            </a:avLst>
          </a:prstGeom>
          <a:solidFill>
            <a:srgbClr val="FFF5E1"/>
          </a:solidFill>
          <a:ln>
            <a:noFill/>
          </a:ln>
          <a:effectLst/>
        </p:spPr>
        <p:txBody>
          <a:bodyPr rtlCol="0" anchor="ctr" lIns="45720" rIns="45720" wrap="square"/>
          <a:lstStyle/>
          <a:p>
            <a:pPr algn="ctr">
              <a:spcBef>
                <a:spcPts val="0"/>
              </a:spcBef>
              <a:spcAft>
                <a:spcPts val="0"/>
              </a:spcAft>
            </a:pPr>
            <a:r>
              <a:rPr sz="1200" b="1" i="0">
                <a:solidFill>
                  <a:srgbClr val="8F5100"/>
                </a:solidFill>
                <a:latin typeface="Calibri"/>
              </a:rPr>
              <a:t>3D design model · not built yet</a:t>
            </a:r>
          </a:p>
        </p:txBody>
      </p:sp>
      <p:sp>
        <p:nvSpPr>
          <p:cNvPr id="111" name="Chevron 110"/>
          <p:cNvSpPr/>
          <p:nvPr/>
        </p:nvSpPr>
        <p:spPr>
          <a:xfrm>
            <a:off x="3246119" y="3154680"/>
            <a:ext cx="155448" cy="292608"/>
          </a:xfrm>
          <a:prstGeom prst="chevron">
            <a:avLst/>
          </a:prstGeom>
          <a:solidFill>
            <a:srgbClr val="E57116"/>
          </a:solidFill>
          <a:ln>
            <a:noFill/>
          </a:ln>
          <a:effectLst/>
        </p:spPr>
        <p:txBody>
          <a:bodyPr rtlCol="0" anchor="ctr"/>
          <a:lstStyle/>
          <a:p>
            <a:pPr algn="ctr"/>
          </a:p>
        </p:txBody>
      </p:sp>
      <p:sp>
        <p:nvSpPr>
          <p:cNvPr id="112" name="Oval 111"/>
          <p:cNvSpPr/>
          <p:nvPr/>
        </p:nvSpPr>
        <p:spPr>
          <a:xfrm>
            <a:off x="3432017" y="1810512"/>
            <a:ext cx="329184" cy="329184"/>
          </a:xfrm>
          <a:prstGeom prst="ellipse">
            <a:avLst/>
          </a:prstGeom>
          <a:solidFill>
            <a:srgbClr val="253653"/>
          </a:solidFill>
          <a:ln>
            <a:noFill/>
          </a:ln>
          <a:effectLst/>
        </p:spPr>
        <p:txBody>
          <a:bodyPr rtlCol="0" anchor="ctr" lIns="0" rIns="0" tIns="0" bIns="0" wrap="square"/>
          <a:lstStyle/>
          <a:p>
            <a:pPr algn="ctr">
              <a:spcBef>
                <a:spcPts val="0"/>
              </a:spcBef>
              <a:spcAft>
                <a:spcPts val="0"/>
              </a:spcAft>
            </a:pPr>
            <a:r>
              <a:rPr sz="1400" b="1" i="0">
                <a:solidFill>
                  <a:srgbClr val="FFFFFF"/>
                </a:solidFill>
                <a:latin typeface="Calibri"/>
              </a:rPr>
              <a:t>2</a:t>
            </a:r>
          </a:p>
        </p:txBody>
      </p:sp>
      <p:sp>
        <p:nvSpPr>
          <p:cNvPr id="113" name="TextBox 112"/>
          <p:cNvSpPr txBox="1"/>
          <p:nvPr/>
        </p:nvSpPr>
        <p:spPr>
          <a:xfrm>
            <a:off x="3852641" y="1810512"/>
            <a:ext cx="2103120" cy="329184"/>
          </a:xfrm>
          <a:prstGeom prst="rect">
            <a:avLst/>
          </a:prstGeom>
          <a:noFill/>
        </p:spPr>
        <p:txBody>
          <a:bodyPr wrap="square" lIns="0" rIns="0" tIns="0" bIns="0" anchor="ctr">
            <a:spAutoFit/>
          </a:bodyPr>
          <a:lstStyle/>
          <a:p>
            <a:pPr algn="l">
              <a:spcBef>
                <a:spcPts val="0"/>
              </a:spcBef>
              <a:spcAft>
                <a:spcPts val="0"/>
              </a:spcAft>
            </a:pPr>
            <a:r>
              <a:rPr sz="1700" b="1" i="0">
                <a:solidFill>
                  <a:srgbClr val="253653"/>
                </a:solidFill>
                <a:latin typeface="Calibri"/>
              </a:rPr>
              <a:t>Voice coach</a:t>
            </a:r>
          </a:p>
        </p:txBody>
      </p:sp>
      <p:pic>
        <p:nvPicPr>
          <p:cNvPr id="114" name="Picture 113" descr="Patient app screenshot: Hindi breathing coach showing 1890 mL and the word Hold. Demo data, fictional patient."/>
          <p:cNvPicPr>
            <a:picLocks noChangeAspect="1"/>
          </p:cNvPicPr>
          <p:nvPr/>
        </p:nvPicPr>
        <p:blipFill>
          <a:blip r:embed="rId5"/>
          <a:stretch>
            <a:fillRect/>
          </a:stretch>
        </p:blipFill>
        <p:spPr>
          <a:xfrm>
            <a:off x="3998945" y="2249424"/>
            <a:ext cx="1426463" cy="2103119"/>
          </a:xfrm>
          <a:prstGeom prst="roundRect">
            <a:avLst>
              <a:gd name="adj" fmla="val 5500"/>
            </a:avLst>
          </a:prstGeom>
          <a:ln w="9525">
            <a:solidFill>
              <a:srgbClr val="C9D2DB"/>
            </a:solidFill>
          </a:ln>
        </p:spPr>
      </p:pic>
      <p:sp>
        <p:nvSpPr>
          <p:cNvPr id="115" name="TextBox 114"/>
          <p:cNvSpPr txBox="1"/>
          <p:nvPr/>
        </p:nvSpPr>
        <p:spPr>
          <a:xfrm>
            <a:off x="3432017" y="4443984"/>
            <a:ext cx="2560320" cy="658368"/>
          </a:xfrm>
          <a:prstGeom prst="rect">
            <a:avLst/>
          </a:prstGeom>
          <a:noFill/>
        </p:spPr>
        <p:txBody>
          <a:bodyPr wrap="square" lIns="0" rIns="0" tIns="0" bIns="0" anchor="t">
            <a:spAutoFit/>
          </a:bodyPr>
          <a:lstStyle/>
          <a:p>
            <a:pPr algn="l">
              <a:spcBef>
                <a:spcPts val="0"/>
              </a:spcBef>
              <a:spcAft>
                <a:spcPts val="0"/>
              </a:spcAft>
            </a:pPr>
            <a:r>
              <a:rPr sz="1400" b="0" i="0">
                <a:solidFill>
                  <a:srgbClr val="1F2933"/>
                </a:solidFill>
                <a:latin typeface="Calibri"/>
              </a:rPr>
              <a:t>Coaches every breath in the patient's language: slower, hold, well done.</a:t>
            </a:r>
          </a:p>
        </p:txBody>
      </p:sp>
      <p:sp>
        <p:nvSpPr>
          <p:cNvPr id="116" name="Rounded Rectangle 115"/>
          <p:cNvSpPr/>
          <p:nvPr/>
        </p:nvSpPr>
        <p:spPr>
          <a:xfrm>
            <a:off x="3432017" y="5120640"/>
            <a:ext cx="1486814" cy="274320"/>
          </a:xfrm>
          <a:prstGeom prst="roundRect">
            <a:avLst>
              <a:gd name="adj" fmla="val 50000"/>
            </a:avLst>
          </a:prstGeom>
          <a:solidFill>
            <a:srgbClr val="FFF5E1"/>
          </a:solidFill>
          <a:ln>
            <a:noFill/>
          </a:ln>
          <a:effectLst/>
        </p:spPr>
        <p:txBody>
          <a:bodyPr rtlCol="0" anchor="ctr" lIns="45720" rIns="45720" wrap="square"/>
          <a:lstStyle/>
          <a:p>
            <a:pPr algn="ctr">
              <a:spcBef>
                <a:spcPts val="0"/>
              </a:spcBef>
              <a:spcAft>
                <a:spcPts val="0"/>
              </a:spcAft>
            </a:pPr>
            <a:r>
              <a:rPr sz="1200" b="1" i="0">
                <a:solidFill>
                  <a:srgbClr val="8F5100"/>
                </a:solidFill>
                <a:latin typeface="Calibri"/>
              </a:rPr>
              <a:t>Simulated breaths</a:t>
            </a:r>
          </a:p>
        </p:txBody>
      </p:sp>
      <p:sp>
        <p:nvSpPr>
          <p:cNvPr id="117" name="Chevron 116"/>
          <p:cNvSpPr/>
          <p:nvPr/>
        </p:nvSpPr>
        <p:spPr>
          <a:xfrm>
            <a:off x="6019769" y="3154680"/>
            <a:ext cx="155448" cy="292608"/>
          </a:xfrm>
          <a:prstGeom prst="chevron">
            <a:avLst/>
          </a:prstGeom>
          <a:solidFill>
            <a:srgbClr val="E57116"/>
          </a:solidFill>
          <a:ln>
            <a:noFill/>
          </a:ln>
          <a:effectLst/>
        </p:spPr>
        <p:txBody>
          <a:bodyPr rtlCol="0" anchor="ctr"/>
          <a:lstStyle/>
          <a:p>
            <a:pPr algn="ctr"/>
          </a:p>
        </p:txBody>
      </p:sp>
      <p:sp>
        <p:nvSpPr>
          <p:cNvPr id="118" name="Oval 117"/>
          <p:cNvSpPr/>
          <p:nvPr/>
        </p:nvSpPr>
        <p:spPr>
          <a:xfrm>
            <a:off x="6205667" y="1810512"/>
            <a:ext cx="329184" cy="329184"/>
          </a:xfrm>
          <a:prstGeom prst="ellipse">
            <a:avLst/>
          </a:prstGeom>
          <a:solidFill>
            <a:srgbClr val="253653"/>
          </a:solidFill>
          <a:ln>
            <a:noFill/>
          </a:ln>
          <a:effectLst/>
        </p:spPr>
        <p:txBody>
          <a:bodyPr rtlCol="0" anchor="ctr" lIns="0" rIns="0" tIns="0" bIns="0" wrap="square"/>
          <a:lstStyle/>
          <a:p>
            <a:pPr algn="ctr">
              <a:spcBef>
                <a:spcPts val="0"/>
              </a:spcBef>
              <a:spcAft>
                <a:spcPts val="0"/>
              </a:spcAft>
            </a:pPr>
            <a:r>
              <a:rPr sz="1400" b="1" i="0">
                <a:solidFill>
                  <a:srgbClr val="FFFFFF"/>
                </a:solidFill>
                <a:latin typeface="Calibri"/>
              </a:rPr>
              <a:t>3</a:t>
            </a:r>
          </a:p>
        </p:txBody>
      </p:sp>
      <p:sp>
        <p:nvSpPr>
          <p:cNvPr id="119" name="TextBox 118"/>
          <p:cNvSpPr txBox="1"/>
          <p:nvPr/>
        </p:nvSpPr>
        <p:spPr>
          <a:xfrm>
            <a:off x="6626291" y="1810512"/>
            <a:ext cx="2103120" cy="329184"/>
          </a:xfrm>
          <a:prstGeom prst="rect">
            <a:avLst/>
          </a:prstGeom>
          <a:noFill/>
        </p:spPr>
        <p:txBody>
          <a:bodyPr wrap="square" lIns="0" rIns="0" tIns="0" bIns="0" anchor="ctr">
            <a:spAutoFit/>
          </a:bodyPr>
          <a:lstStyle/>
          <a:p>
            <a:pPr algn="l">
              <a:spcBef>
                <a:spcPts val="0"/>
              </a:spcBef>
              <a:spcAft>
                <a:spcPts val="0"/>
              </a:spcAft>
            </a:pPr>
            <a:r>
              <a:rPr sz="1700" b="1" i="0">
                <a:solidFill>
                  <a:srgbClr val="253653"/>
                </a:solidFill>
                <a:latin typeface="Calibri"/>
              </a:rPr>
              <a:t>Nurse list</a:t>
            </a:r>
          </a:p>
        </p:txBody>
      </p:sp>
      <p:pic>
        <p:nvPicPr>
          <p:cNvPr id="120" name="Picture 119" descr="Nurse dashboard screenshot: patients today and the triage list. Demo data, fictional patients."/>
          <p:cNvPicPr>
            <a:picLocks noChangeAspect="1"/>
          </p:cNvPicPr>
          <p:nvPr/>
        </p:nvPicPr>
        <p:blipFill>
          <a:blip r:embed="rId6"/>
          <a:stretch>
            <a:fillRect/>
          </a:stretch>
        </p:blipFill>
        <p:spPr>
          <a:xfrm>
            <a:off x="6205667" y="2502962"/>
            <a:ext cx="2560320" cy="1596044"/>
          </a:xfrm>
          <a:prstGeom prst="rect">
            <a:avLst/>
          </a:prstGeom>
          <a:ln w="9525">
            <a:solidFill>
              <a:srgbClr val="C9D2DB"/>
            </a:solidFill>
          </a:ln>
        </p:spPr>
      </p:pic>
      <p:sp>
        <p:nvSpPr>
          <p:cNvPr id="121" name="TextBox 120"/>
          <p:cNvSpPr txBox="1"/>
          <p:nvPr/>
        </p:nvSpPr>
        <p:spPr>
          <a:xfrm>
            <a:off x="6205667" y="4443984"/>
            <a:ext cx="2560320" cy="658368"/>
          </a:xfrm>
          <a:prstGeom prst="rect">
            <a:avLst/>
          </a:prstGeom>
          <a:noFill/>
        </p:spPr>
        <p:txBody>
          <a:bodyPr wrap="square" lIns="0" rIns="0" tIns="0" bIns="0" anchor="t">
            <a:spAutoFit/>
          </a:bodyPr>
          <a:lstStyle/>
          <a:p>
            <a:pPr algn="l">
              <a:spcBef>
                <a:spcPts val="0"/>
              </a:spcBef>
              <a:spcAft>
                <a:spcPts val="0"/>
              </a:spcAft>
            </a:pPr>
            <a:r>
              <a:rPr sz="1400" b="0" i="0">
                <a:solidFill>
                  <a:srgbClr val="1F2933"/>
                </a:solidFill>
                <a:latin typeface="Calibri"/>
              </a:rPr>
              <a:t>Shows who is falling behind. Fixed rules, not AI, pick who needs a call.</a:t>
            </a:r>
          </a:p>
        </p:txBody>
      </p:sp>
      <p:sp>
        <p:nvSpPr>
          <p:cNvPr id="122" name="Rounded Rectangle 121"/>
          <p:cNvSpPr/>
          <p:nvPr/>
        </p:nvSpPr>
        <p:spPr>
          <a:xfrm>
            <a:off x="6205667" y="5120640"/>
            <a:ext cx="1415491" cy="274320"/>
          </a:xfrm>
          <a:prstGeom prst="roundRect">
            <a:avLst>
              <a:gd name="adj" fmla="val 50000"/>
            </a:avLst>
          </a:prstGeom>
          <a:solidFill>
            <a:srgbClr val="E6F4EA"/>
          </a:solidFill>
          <a:ln>
            <a:noFill/>
          </a:ln>
          <a:effectLst/>
        </p:spPr>
        <p:txBody>
          <a:bodyPr rtlCol="0" anchor="ctr" lIns="45720" rIns="45720" wrap="square"/>
          <a:lstStyle/>
          <a:p>
            <a:pPr algn="ctr">
              <a:spcBef>
                <a:spcPts val="0"/>
              </a:spcBef>
              <a:spcAft>
                <a:spcPts val="0"/>
              </a:spcAft>
            </a:pPr>
            <a:r>
              <a:rPr sz="1200" b="1" i="0">
                <a:solidFill>
                  <a:srgbClr val="1B7035"/>
                </a:solidFill>
                <a:latin typeface="Calibri"/>
              </a:rPr>
              <a:t>Live · demo data</a:t>
            </a:r>
          </a:p>
        </p:txBody>
      </p:sp>
      <p:sp>
        <p:nvSpPr>
          <p:cNvPr id="123" name="Chevron 122"/>
          <p:cNvSpPr/>
          <p:nvPr/>
        </p:nvSpPr>
        <p:spPr>
          <a:xfrm>
            <a:off x="8793419" y="3154680"/>
            <a:ext cx="155448" cy="292608"/>
          </a:xfrm>
          <a:prstGeom prst="chevron">
            <a:avLst/>
          </a:prstGeom>
          <a:solidFill>
            <a:srgbClr val="E57116"/>
          </a:solidFill>
          <a:ln>
            <a:noFill/>
          </a:ln>
          <a:effectLst/>
        </p:spPr>
        <p:txBody>
          <a:bodyPr rtlCol="0" anchor="ctr"/>
          <a:lstStyle/>
          <a:p>
            <a:pPr algn="ctr"/>
          </a:p>
        </p:txBody>
      </p:sp>
      <p:sp>
        <p:nvSpPr>
          <p:cNvPr id="124" name="Oval 123"/>
          <p:cNvSpPr/>
          <p:nvPr/>
        </p:nvSpPr>
        <p:spPr>
          <a:xfrm>
            <a:off x="8979316" y="1810512"/>
            <a:ext cx="329184" cy="329184"/>
          </a:xfrm>
          <a:prstGeom prst="ellipse">
            <a:avLst/>
          </a:prstGeom>
          <a:solidFill>
            <a:srgbClr val="253653"/>
          </a:solidFill>
          <a:ln>
            <a:noFill/>
          </a:ln>
          <a:effectLst/>
        </p:spPr>
        <p:txBody>
          <a:bodyPr rtlCol="0" anchor="ctr" lIns="0" rIns="0" tIns="0" bIns="0" wrap="square"/>
          <a:lstStyle/>
          <a:p>
            <a:pPr algn="ctr">
              <a:spcBef>
                <a:spcPts val="0"/>
              </a:spcBef>
              <a:spcAft>
                <a:spcPts val="0"/>
              </a:spcAft>
            </a:pPr>
            <a:r>
              <a:rPr sz="1400" b="1" i="0">
                <a:solidFill>
                  <a:srgbClr val="FFFFFF"/>
                </a:solidFill>
                <a:latin typeface="Calibri"/>
              </a:rPr>
              <a:t>4</a:t>
            </a:r>
          </a:p>
        </p:txBody>
      </p:sp>
      <p:sp>
        <p:nvSpPr>
          <p:cNvPr id="125" name="TextBox 124"/>
          <p:cNvSpPr txBox="1"/>
          <p:nvPr/>
        </p:nvSpPr>
        <p:spPr>
          <a:xfrm>
            <a:off x="9399940" y="1810512"/>
            <a:ext cx="2103120" cy="329184"/>
          </a:xfrm>
          <a:prstGeom prst="rect">
            <a:avLst/>
          </a:prstGeom>
          <a:noFill/>
        </p:spPr>
        <p:txBody>
          <a:bodyPr wrap="square" lIns="0" rIns="0" tIns="0" bIns="0" anchor="ctr">
            <a:spAutoFit/>
          </a:bodyPr>
          <a:lstStyle/>
          <a:p>
            <a:pPr algn="l">
              <a:spcBef>
                <a:spcPts val="0"/>
              </a:spcBef>
              <a:spcAft>
                <a:spcPts val="0"/>
              </a:spcAft>
            </a:pPr>
            <a:r>
              <a:rPr sz="1700" b="1" i="0">
                <a:solidFill>
                  <a:srgbClr val="253653"/>
                </a:solidFill>
                <a:latin typeface="Calibri"/>
              </a:rPr>
              <a:t>Family update</a:t>
            </a:r>
          </a:p>
        </p:txBody>
      </p:sp>
      <p:pic>
        <p:nvPicPr>
          <p:cNvPr id="126" name="Picture 125" descr="Family page screenshot in Hindi: father is doing well today. Demo data, fictional patient."/>
          <p:cNvPicPr>
            <a:picLocks noChangeAspect="1"/>
          </p:cNvPicPr>
          <p:nvPr/>
        </p:nvPicPr>
        <p:blipFill>
          <a:blip r:embed="rId7"/>
          <a:stretch>
            <a:fillRect/>
          </a:stretch>
        </p:blipFill>
        <p:spPr>
          <a:xfrm>
            <a:off x="9470806" y="2249424"/>
            <a:ext cx="1577339" cy="2103119"/>
          </a:xfrm>
          <a:prstGeom prst="roundRect">
            <a:avLst>
              <a:gd name="adj" fmla="val 5500"/>
            </a:avLst>
          </a:prstGeom>
          <a:ln w="9525">
            <a:solidFill>
              <a:srgbClr val="C9D2DB"/>
            </a:solidFill>
          </a:ln>
        </p:spPr>
      </p:pic>
      <p:sp>
        <p:nvSpPr>
          <p:cNvPr id="127" name="TextBox 126"/>
          <p:cNvSpPr txBox="1"/>
          <p:nvPr/>
        </p:nvSpPr>
        <p:spPr>
          <a:xfrm>
            <a:off x="8979316" y="4443984"/>
            <a:ext cx="2560320" cy="658368"/>
          </a:xfrm>
          <a:prstGeom prst="rect">
            <a:avLst/>
          </a:prstGeom>
          <a:noFill/>
        </p:spPr>
        <p:txBody>
          <a:bodyPr wrap="square" lIns="0" rIns="0" tIns="0" bIns="0" anchor="t">
            <a:spAutoFit/>
          </a:bodyPr>
          <a:lstStyle/>
          <a:p>
            <a:pPr algn="l">
              <a:spcBef>
                <a:spcPts val="0"/>
              </a:spcBef>
              <a:spcAft>
                <a:spcPts val="0"/>
              </a:spcAft>
            </a:pPr>
            <a:r>
              <a:rPr sz="1400" b="0" i="0">
                <a:solidFill>
                  <a:srgbClr val="1F2933"/>
                </a:solidFill>
                <a:latin typeface="Calibri"/>
              </a:rPr>
              <a:t>A family member who opted in, with the patient's consent, sees today's progress.</a:t>
            </a:r>
          </a:p>
        </p:txBody>
      </p:sp>
      <p:sp>
        <p:nvSpPr>
          <p:cNvPr id="128" name="Rounded Rectangle 127"/>
          <p:cNvSpPr/>
          <p:nvPr/>
        </p:nvSpPr>
        <p:spPr>
          <a:xfrm>
            <a:off x="8979316" y="5120640"/>
            <a:ext cx="2414015" cy="274320"/>
          </a:xfrm>
          <a:prstGeom prst="roundRect">
            <a:avLst>
              <a:gd name="adj" fmla="val 50000"/>
            </a:avLst>
          </a:prstGeom>
          <a:solidFill>
            <a:srgbClr val="E6F4EA"/>
          </a:solidFill>
          <a:ln>
            <a:noFill/>
          </a:ln>
          <a:effectLst/>
        </p:spPr>
        <p:txBody>
          <a:bodyPr rtlCol="0" anchor="ctr" lIns="45720" rIns="45720" wrap="square"/>
          <a:lstStyle/>
          <a:p>
            <a:pPr algn="ctr">
              <a:spcBef>
                <a:spcPts val="0"/>
              </a:spcBef>
              <a:spcAft>
                <a:spcPts val="0"/>
              </a:spcAft>
            </a:pPr>
            <a:r>
              <a:rPr sz="1200" b="1" i="0">
                <a:solidFill>
                  <a:srgbClr val="1B7035"/>
                </a:solidFill>
                <a:latin typeface="Calibri"/>
              </a:rPr>
              <a:t>Live page · WhatsApp simulated</a:t>
            </a:r>
          </a:p>
        </p:txBody>
      </p:sp>
      <p:sp>
        <p:nvSpPr>
          <p:cNvPr id="129" name="Rounded Rectangle 128"/>
          <p:cNvSpPr/>
          <p:nvPr/>
        </p:nvSpPr>
        <p:spPr>
          <a:xfrm>
            <a:off x="658368" y="5504688"/>
            <a:ext cx="10881360" cy="438912"/>
          </a:xfrm>
          <a:prstGeom prst="roundRect">
            <a:avLst>
              <a:gd name="adj" fmla="val 14583"/>
            </a:avLst>
          </a:prstGeom>
          <a:solidFill>
            <a:srgbClr val="EAF4FB"/>
          </a:solidFill>
          <a:ln>
            <a:noFill/>
          </a:ln>
          <a:effectLst/>
        </p:spPr>
        <p:txBody>
          <a:bodyPr rtlCol="0" anchor="ctr" lIns="128016" rIns="128016" tIns="91440" bIns="91440" wrap="square"/>
          <a:lstStyle/>
          <a:p>
            <a:pPr algn="ctr">
              <a:spcBef>
                <a:spcPts val="0"/>
              </a:spcBef>
              <a:spcAft>
                <a:spcPts val="0"/>
              </a:spcAft>
            </a:pPr>
            <a:r>
              <a:rPr sz="1500" b="1" i="0">
                <a:solidFill>
                  <a:srgbClr val="253653"/>
                </a:solidFill>
                <a:latin typeface="Calibri"/>
              </a:rPr>
              <a:t>Problem:</a:t>
            </a:r>
            <a:r>
              <a:rPr sz="1500" b="0" i="0">
                <a:solidFill>
                  <a:srgbClr val="1F2933"/>
                </a:solidFill>
                <a:latin typeface="Calibri"/>
              </a:rPr>
              <a:t> nobody sees  →  </a:t>
            </a:r>
            <a:r>
              <a:rPr sz="1500" b="1" i="0">
                <a:solidFill>
                  <a:srgbClr val="253653"/>
                </a:solidFill>
                <a:latin typeface="Calibri"/>
              </a:rPr>
              <a:t>Solution:</a:t>
            </a:r>
            <a:r>
              <a:rPr sz="1500" b="0" i="0">
                <a:solidFill>
                  <a:srgbClr val="1F2933"/>
                </a:solidFill>
                <a:latin typeface="Calibri"/>
              </a:rPr>
              <a:t> measure, coach, show  →  </a:t>
            </a:r>
            <a:r>
              <a:rPr sz="1500" b="1" i="0">
                <a:solidFill>
                  <a:srgbClr val="253653"/>
                </a:solidFill>
                <a:latin typeface="Calibri"/>
              </a:rPr>
              <a:t>Outcome we measure:</a:t>
            </a:r>
            <a:r>
              <a:rPr sz="1500" b="0" i="0">
                <a:solidFill>
                  <a:srgbClr val="1F2933"/>
                </a:solidFill>
                <a:latin typeface="Calibri"/>
              </a:rPr>
              <a:t> sessions done ÷ sessions due</a:t>
            </a:r>
          </a:p>
        </p:txBody>
      </p:sp>
      <p:sp>
        <p:nvSpPr>
          <p:cNvPr id="130" name="TextBox 129"/>
          <p:cNvSpPr txBox="1"/>
          <p:nvPr/>
        </p:nvSpPr>
        <p:spPr>
          <a:xfrm>
            <a:off x="658368" y="6035040"/>
            <a:ext cx="9326880" cy="402336"/>
          </a:xfrm>
          <a:prstGeom prst="rect">
            <a:avLst/>
          </a:prstGeom>
          <a:noFill/>
        </p:spPr>
        <p:txBody>
          <a:bodyPr wrap="square" lIns="0" rIns="0" tIns="0" bIns="0" anchor="b">
            <a:spAutoFit/>
          </a:bodyPr>
          <a:lstStyle/>
          <a:p>
            <a:pPr algn="l">
              <a:spcBef>
                <a:spcPts val="0"/>
              </a:spcBef>
              <a:spcAft>
                <a:spcPts val="0"/>
              </a:spcAft>
            </a:pPr>
            <a:r>
              <a:rPr sz="1000" b="0" i="0">
                <a:solidFill>
                  <a:srgbClr val="5B6B7D"/>
                </a:solidFill>
                <a:latin typeface="Calibri"/>
              </a:rPr>
              <a:t>Screenshots 2-4: Demo data - fictional patient. Picture 1: 3D design model - device not built yet.</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8"/>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3000">
                <a:solidFill>
                  <a:schemeClr val="accent4"/>
                </a:solidFill>
                <a:latin typeface="Play"/>
                <a:ea typeface="Play"/>
                <a:cs typeface="Play"/>
                <a:sym typeface="Play"/>
              </a:rPr>
              <a:t>Innovation &amp; Differentiation</a:t>
            </a:r>
            <a:endParaRPr/>
          </a:p>
        </p:txBody>
      </p:sp>
      <p:sp>
        <p:nvSpPr>
          <p:cNvPr id="111" name="Google Shape;111;p8"/>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 name="Google Shape;112;p8"/>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 name="Google Shape;113;p8"/>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 name="Google Shape;114;p8"/>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 name="Google Shape;115;p8"/>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116" name="Google Shape;116;p8"/>
          <p:cNvSpPr txBox="1"/>
          <p:nvPr/>
        </p:nvSpPr>
        <p:spPr>
          <a:xfrm>
            <a:off x="11109960" y="6569294"/>
            <a:ext cx="438912" cy="138499"/>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07</a:t>
            </a:r>
            <a:endParaRPr b="1" sz="900">
              <a:solidFill>
                <a:srgbClr val="203050"/>
              </a:solidFill>
              <a:latin typeface="Arial"/>
              <a:ea typeface="Arial"/>
              <a:cs typeface="Arial"/>
              <a:sym typeface="Arial"/>
            </a:endParaRPr>
          </a:p>
        </p:txBody>
      </p:sp>
      <p:pic>
        <p:nvPicPr>
          <p:cNvPr id="117" name="Picture 116" descr="Dolphin Tank India logo"/>
          <p:cNvPicPr>
            <a:picLocks noChangeAspect="1"/>
          </p:cNvPicPr>
          <p:nvPr/>
        </p:nvPicPr>
        <p:blipFill>
          <a:blip r:embed="rId3"/>
          <a:stretch>
            <a:fillRect/>
          </a:stretch>
        </p:blipFill>
        <p:spPr>
          <a:xfrm>
            <a:off x="10669520" y="146304"/>
            <a:ext cx="1387352" cy="654087"/>
          </a:xfrm>
          <a:prstGeom prst="rect">
            <a:avLst/>
          </a:prstGeom>
        </p:spPr>
      </p:pic>
      <p:sp>
        <p:nvSpPr>
          <p:cNvPr id="118" name="TextBox 117"/>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Trackers and hospital apps already exist. Our difference: any hospital, built for the elderly, in the patient's language.</a:t>
            </a:r>
          </a:p>
        </p:txBody>
      </p:sp>
      <p:graphicFrame>
        <p:nvGraphicFramePr>
          <p:cNvPr id="119" name="Table 118"/>
          <p:cNvGraphicFramePr>
            <a:graphicFrameLocks noGrp="1"/>
          </p:cNvGraphicFramePr>
          <p:nvPr/>
        </p:nvGraphicFramePr>
        <p:xfrm>
          <a:off x="658368" y="1828800"/>
          <a:ext cx="10881360" cy="2304288"/>
        </p:xfrm>
        <a:graphic>
          <a:graphicData uri="http://schemas.openxmlformats.org/drawingml/2006/table">
            <a:tbl>
              <a:tblPr firstRow="0" bandRow="0">
                <a:tableStyleId>{5C22544A-7EE6-4342-B048-85BDC9FD1C3A}</a:tableStyleId>
              </a:tblPr>
              <a:tblGrid>
                <a:gridCol w="2926080"/>
                <a:gridCol w="3566160"/>
                <a:gridCol w="4389120"/>
              </a:tblGrid>
              <a:tr h="384048">
                <a:tc>
                  <a:txBody>
                    <a:bodyPr wrap="square"/>
                    <a:lstStyle/>
                    <a:p>
                      <a:pPr algn="l">
                        <a:spcBef>
                          <a:spcPts val="0"/>
                        </a:spcBef>
                        <a:spcAft>
                          <a:spcPts val="0"/>
                        </a:spcAft>
                      </a:pPr>
                      <a:r>
                        <a:rPr sz="1400" b="1" i="0">
                          <a:solidFill>
                            <a:srgbClr val="FFFFFF"/>
                          </a:solidFill>
                          <a:latin typeface="Calibri"/>
                        </a:rPr>
                        <a:t>Existing alternative</a:t>
                      </a:r>
                    </a:p>
                  </a:txBody>
                  <a:tcPr marL="91440" marR="91440" marT="54864" marB="54864" anchor="ctr">
                    <a:solidFill>
                      <a:srgbClr val="253653"/>
                    </a:solidFill>
                  </a:tcPr>
                </a:tc>
                <a:tc>
                  <a:txBody>
                    <a:bodyPr wrap="square"/>
                    <a:lstStyle/>
                    <a:p>
                      <a:pPr algn="l">
                        <a:spcBef>
                          <a:spcPts val="0"/>
                        </a:spcBef>
                        <a:spcAft>
                          <a:spcPts val="0"/>
                        </a:spcAft>
                      </a:pPr>
                      <a:r>
                        <a:rPr sz="1400" b="1" i="0">
                          <a:solidFill>
                            <a:srgbClr val="FFFFFF"/>
                          </a:solidFill>
                          <a:latin typeface="Calibri"/>
                        </a:rPr>
                        <a:t>What it does today</a:t>
                      </a:r>
                    </a:p>
                  </a:txBody>
                  <a:tcPr marL="91440" marR="91440" marT="54864" marB="54864" anchor="ctr">
                    <a:solidFill>
                      <a:srgbClr val="253653"/>
                    </a:solidFill>
                  </a:tcPr>
                </a:tc>
                <a:tc>
                  <a:txBody>
                    <a:bodyPr wrap="square"/>
                    <a:lstStyle/>
                    <a:p>
                      <a:pPr algn="l">
                        <a:spcBef>
                          <a:spcPts val="0"/>
                        </a:spcBef>
                        <a:spcAft>
                          <a:spcPts val="0"/>
                        </a:spcAft>
                      </a:pPr>
                      <a:r>
                        <a:rPr sz="1400" b="1" i="0">
                          <a:solidFill>
                            <a:srgbClr val="FFFFFF"/>
                          </a:solidFill>
                          <a:latin typeface="Calibri"/>
                        </a:rPr>
                        <a:t>What SpiroBuddy adds</a:t>
                      </a:r>
                    </a:p>
                  </a:txBody>
                  <a:tcPr marL="91440" marR="91440" marT="54864" marB="54864" anchor="ctr">
                    <a:solidFill>
                      <a:srgbClr val="253653"/>
                    </a:solidFill>
                  </a:tcPr>
                </a:tc>
              </a:tr>
              <a:tr h="640080">
                <a:tc>
                  <a:txBody>
                    <a:bodyPr wrap="square"/>
                    <a:lstStyle/>
                    <a:p>
                      <a:pPr algn="l">
                        <a:spcBef>
                          <a:spcPts val="0"/>
                        </a:spcBef>
                        <a:spcAft>
                          <a:spcPts val="0"/>
                        </a:spcAft>
                      </a:pPr>
                      <a:r>
                        <a:rPr sz="1400" b="1" i="0">
                          <a:solidFill>
                            <a:srgbClr val="253653"/>
                          </a:solidFill>
                          <a:latin typeface="Calibri"/>
                        </a:rPr>
                        <a:t>Paper tally sheet, or a phone call from the ward</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Counts sessions, if someone fills it in</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Counts sessions automatically and records how each breath is done: speed, depth, hold</a:t>
                      </a:r>
                    </a:p>
                  </a:txBody>
                  <a:tcPr marL="91440" marR="91440" marT="54864" marB="54864" anchor="ctr">
                    <a:solidFill>
                      <a:srgbClr val="FFFFFF"/>
                    </a:solidFill>
                  </a:tcPr>
                </a:tc>
              </a:tr>
              <a:tr h="640080">
                <a:tc>
                  <a:txBody>
                    <a:bodyPr wrap="square"/>
                    <a:lstStyle/>
                    <a:p>
                      <a:pPr algn="l">
                        <a:spcBef>
                          <a:spcPts val="0"/>
                        </a:spcBef>
                        <a:spcAft>
                          <a:spcPts val="0"/>
                        </a:spcAft>
                      </a:pPr>
                      <a:r>
                        <a:rPr sz="1400" b="1" i="0">
                          <a:solidFill>
                            <a:srgbClr val="253653"/>
                          </a:solidFill>
                          <a:latin typeface="Calibri"/>
                        </a:rPr>
                        <a:t>Smart spirometer trackers (InSee, USA)</a:t>
                      </a:r>
                    </a:p>
                  </a:txBody>
                  <a:tcPr marL="91440" marR="91440" marT="54864" marB="54864" anchor="ctr">
                    <a:solidFill>
                      <a:srgbClr val="F4F8FB"/>
                    </a:solidFill>
                  </a:tcPr>
                </a:tc>
                <a:tc>
                  <a:txBody>
                    <a:bodyPr wrap="square"/>
                    <a:lstStyle/>
                    <a:p>
                      <a:pPr algn="l">
                        <a:spcBef>
                          <a:spcPts val="0"/>
                        </a:spcBef>
                        <a:spcAft>
                          <a:spcPts val="0"/>
                        </a:spcAft>
                      </a:pPr>
                      <a:r>
                        <a:rPr sz="1400" b="0" i="0">
                          <a:solidFill>
                            <a:srgbClr val="1F2933"/>
                          </a:solidFill>
                          <a:latin typeface="Calibri"/>
                        </a:rPr>
                        <a:t>Reads the piston with an infrared sensor. Fits one US spirometer; cleared for hospital use only</a:t>
                      </a:r>
                    </a:p>
                  </a:txBody>
                  <a:tcPr marL="91440" marR="91440" marT="54864" marB="54864" anchor="ctr">
                    <a:solidFill>
                      <a:srgbClr val="F4F8FB"/>
                    </a:solidFill>
                  </a:tcPr>
                </a:tc>
                <a:tc>
                  <a:txBody>
                    <a:bodyPr wrap="square"/>
                    <a:lstStyle/>
                    <a:p>
                      <a:pPr algn="l">
                        <a:spcBef>
                          <a:spcPts val="0"/>
                        </a:spcBef>
                        <a:spcAft>
                          <a:spcPts val="0"/>
                        </a:spcAft>
                      </a:pPr>
                      <a:r>
                        <a:rPr sz="1400" b="0" i="0">
                          <a:solidFill>
                            <a:srgbClr val="1F2933"/>
                          </a:solidFill>
                          <a:latin typeface="Calibri"/>
                        </a:rPr>
                        <a:t>Home use, voice coaching in Indian languages, a nurse list and a family update</a:t>
                      </a:r>
                    </a:p>
                  </a:txBody>
                  <a:tcPr marL="91440" marR="91440" marT="54864" marB="54864" anchor="ctr">
                    <a:solidFill>
                      <a:srgbClr val="F4F8FB"/>
                    </a:solidFill>
                  </a:tcPr>
                </a:tc>
              </a:tr>
              <a:tr h="640080">
                <a:tc>
                  <a:txBody>
                    <a:bodyPr wrap="square"/>
                    <a:lstStyle/>
                    <a:p>
                      <a:pPr algn="l">
                        <a:spcBef>
                          <a:spcPts val="0"/>
                        </a:spcBef>
                        <a:spcAft>
                          <a:spcPts val="0"/>
                        </a:spcAft>
                      </a:pPr>
                      <a:r>
                        <a:rPr sz="1400" b="1" i="0">
                          <a:solidFill>
                            <a:srgbClr val="253653"/>
                          </a:solidFill>
                          <a:latin typeface="Calibri"/>
                        </a:rPr>
                        <a:t>Hospital-chain apps and ABHA health-locker apps</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Serve one chain's own patients, or store health records</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Any hospital or clinic, built for the elderly, in the patient's language, shown at the pharmacy counter</a:t>
                      </a:r>
                    </a:p>
                  </a:txBody>
                  <a:tcPr marL="91440" marR="91440" marT="54864" marB="54864" anchor="ctr">
                    <a:solidFill>
                      <a:srgbClr val="FFFFFF"/>
                    </a:solidFill>
                  </a:tcPr>
                </a:tc>
              </a:tr>
            </a:tbl>
          </a:graphicData>
        </a:graphic>
      </p:graphicFrame>
      <p:sp>
        <p:nvSpPr>
          <p:cNvPr id="120" name="Rounded Rectangle 119"/>
          <p:cNvSpPr/>
          <p:nvPr/>
        </p:nvSpPr>
        <p:spPr>
          <a:xfrm>
            <a:off x="658368" y="4343400"/>
            <a:ext cx="5349240" cy="1536192"/>
          </a:xfrm>
          <a:prstGeom prst="roundRect">
            <a:avLst>
              <a:gd name="adj" fmla="val 4166"/>
            </a:avLst>
          </a:prstGeom>
          <a:solidFill>
            <a:srgbClr val="EAF4FB"/>
          </a:solidFill>
          <a:ln>
            <a:noFill/>
          </a:ln>
          <a:effectLst/>
        </p:spPr>
        <p:txBody>
          <a:bodyPr rtlCol="0" anchor="t" lIns="128016" rIns="128016" tIns="91440" bIns="91440" wrap="square"/>
          <a:lstStyle/>
          <a:p>
            <a:pPr algn="l">
              <a:spcBef>
                <a:spcPts val="0"/>
              </a:spcBef>
              <a:spcAft>
                <a:spcPts val="500"/>
              </a:spcAft>
            </a:pPr>
            <a:r>
              <a:rPr sz="1600" b="1" i="0">
                <a:solidFill>
                  <a:srgbClr val="253653"/>
                </a:solidFill>
                <a:latin typeface="Calibri"/>
              </a:rPr>
              <a:t>What is new</a:t>
            </a:r>
          </a:p>
          <a:p>
            <a:pPr algn="l">
              <a:spcBef>
                <a:spcPts val="0"/>
              </a:spcBef>
              <a:spcAft>
                <a:spcPts val="500"/>
              </a:spcAft>
            </a:pPr>
            <a:r>
              <a:rPr sz="1400" b="0" i="0">
                <a:solidFill>
                  <a:srgbClr val="1F2933"/>
                </a:solidFill>
                <a:latin typeface="Calibri"/>
              </a:rPr>
              <a:t>Not the sensor: InSee showed that tracking the disc works. New is the whole chain for Indian homes: measure, coach by voice, show the nurse and the family, and carry the doctor's prescription on the same phone.</a:t>
            </a:r>
          </a:p>
        </p:txBody>
      </p:sp>
      <p:sp>
        <p:nvSpPr>
          <p:cNvPr id="121" name="Rounded Rectangle 120"/>
          <p:cNvSpPr/>
          <p:nvPr/>
        </p:nvSpPr>
        <p:spPr>
          <a:xfrm>
            <a:off x="6190488" y="4343400"/>
            <a:ext cx="5349240" cy="1536192"/>
          </a:xfrm>
          <a:prstGeom prst="roundRect">
            <a:avLst>
              <a:gd name="adj" fmla="val 4166"/>
            </a:avLst>
          </a:prstGeom>
          <a:solidFill>
            <a:srgbClr val="FDF1E7"/>
          </a:solidFill>
          <a:ln>
            <a:noFill/>
          </a:ln>
          <a:effectLst/>
        </p:spPr>
        <p:txBody>
          <a:bodyPr rtlCol="0" anchor="t" lIns="128016" rIns="128016" tIns="91440" bIns="91440" wrap="square"/>
          <a:lstStyle/>
          <a:p>
            <a:pPr algn="l">
              <a:spcBef>
                <a:spcPts val="0"/>
              </a:spcBef>
              <a:spcAft>
                <a:spcPts val="500"/>
              </a:spcAft>
            </a:pPr>
            <a:r>
              <a:rPr sz="1600" b="1" i="0">
                <a:solidFill>
                  <a:srgbClr val="253653"/>
                </a:solidFill>
                <a:latin typeface="Calibri"/>
              </a:rPr>
              <a:t>Why the weak evidence is our opening</a:t>
            </a:r>
          </a:p>
          <a:p>
            <a:pPr algn="l">
              <a:spcBef>
                <a:spcPts val="0"/>
              </a:spcBef>
              <a:spcAft>
                <a:spcPts val="500"/>
              </a:spcAft>
            </a:pPr>
            <a:r>
              <a:rPr sz="1400" b="0" i="0">
                <a:solidFill>
                  <a:srgbClr val="1F2933"/>
                </a:solidFill>
                <a:latin typeface="Calibri"/>
              </a:rPr>
              <a:t>Reviews found little benefit from the exerciser alone, but the trials almost never recorded actual use. That is exactly the number we measure.</a:t>
            </a:r>
          </a:p>
        </p:txBody>
      </p:sp>
      <p:sp>
        <p:nvSpPr>
          <p:cNvPr id="122" name="TextBox 121"/>
          <p:cNvSpPr txBox="1"/>
          <p:nvPr/>
        </p:nvSpPr>
        <p:spPr>
          <a:xfrm>
            <a:off x="658368" y="6035040"/>
            <a:ext cx="9326880" cy="402336"/>
          </a:xfrm>
          <a:prstGeom prst="rect">
            <a:avLst/>
          </a:prstGeom>
          <a:noFill/>
        </p:spPr>
        <p:txBody>
          <a:bodyPr wrap="square" lIns="0" rIns="0" tIns="0" bIns="0" anchor="b">
            <a:spAutoFit/>
          </a:bodyPr>
          <a:lstStyle/>
          <a:p>
            <a:pPr algn="l">
              <a:spcBef>
                <a:spcPts val="0"/>
              </a:spcBef>
              <a:spcAft>
                <a:spcPts val="0"/>
              </a:spcAft>
            </a:pPr>
            <a:r>
              <a:rPr sz="1000" b="0" i="0">
                <a:solidFill>
                  <a:srgbClr val="5B6B7D"/>
                </a:solidFill>
                <a:latin typeface="Calibri"/>
              </a:rPr>
              <a:t>InSee: US FDA clearance K241152, 21 Aug 2025; IEEE Spectrum 2020 · Evidence: Cochrane 2014; 2024 cardiac-surgery review. We do not claim that nothing similar exists.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9"/>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3000">
                <a:solidFill>
                  <a:schemeClr val="accent4"/>
                </a:solidFill>
                <a:latin typeface="Play"/>
                <a:ea typeface="Play"/>
                <a:cs typeface="Play"/>
                <a:sym typeface="Play"/>
              </a:rPr>
              <a:t>Technology Architecture</a:t>
            </a:r>
            <a:endParaRPr/>
          </a:p>
        </p:txBody>
      </p:sp>
      <p:sp>
        <p:nvSpPr>
          <p:cNvPr id="125" name="Google Shape;125;p9"/>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 name="Google Shape;126;p9"/>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 name="Google Shape;127;p9"/>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 name="Google Shape;128;p9"/>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 name="Google Shape;129;p9"/>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130" name="Google Shape;130;p9"/>
          <p:cNvSpPr txBox="1"/>
          <p:nvPr/>
        </p:nvSpPr>
        <p:spPr>
          <a:xfrm>
            <a:off x="11109960" y="6569294"/>
            <a:ext cx="438912" cy="138499"/>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08</a:t>
            </a:r>
            <a:endParaRPr b="1" sz="900">
              <a:solidFill>
                <a:srgbClr val="203050"/>
              </a:solidFill>
              <a:latin typeface="Arial"/>
              <a:ea typeface="Arial"/>
              <a:cs typeface="Arial"/>
              <a:sym typeface="Arial"/>
            </a:endParaRPr>
          </a:p>
        </p:txBody>
      </p:sp>
      <p:pic>
        <p:nvPicPr>
          <p:cNvPr id="131" name="Picture 130" descr="Dolphin Tank India logo"/>
          <p:cNvPicPr>
            <a:picLocks noChangeAspect="1"/>
          </p:cNvPicPr>
          <p:nvPr/>
        </p:nvPicPr>
        <p:blipFill>
          <a:blip r:embed="rId3"/>
          <a:stretch>
            <a:fillRect/>
          </a:stretch>
        </p:blipFill>
        <p:spPr>
          <a:xfrm>
            <a:off x="10669520" y="146304"/>
            <a:ext cx="1387352" cy="654087"/>
          </a:xfrm>
          <a:prstGeom prst="rect">
            <a:avLst/>
          </a:prstGeom>
        </p:spPr>
      </p:pic>
      <p:sp>
        <p:nvSpPr>
          <p:cNvPr id="132" name="TextBox 131"/>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Simple parts that run today. Three small AI helpers; the safety rules are fixed rules, not AI.</a:t>
            </a:r>
          </a:p>
        </p:txBody>
      </p:sp>
      <p:sp>
        <p:nvSpPr>
          <p:cNvPr id="133" name="Rounded Rectangle 132"/>
          <p:cNvSpPr/>
          <p:nvPr/>
        </p:nvSpPr>
        <p:spPr>
          <a:xfrm>
            <a:off x="658368" y="1828800"/>
            <a:ext cx="1600200" cy="987552"/>
          </a:xfrm>
          <a:prstGeom prst="roundRect">
            <a:avLst>
              <a:gd name="adj" fmla="val 6481"/>
            </a:avLst>
          </a:prstGeom>
          <a:solidFill>
            <a:srgbClr val="FDF1E7"/>
          </a:solidFill>
          <a:ln>
            <a:noFill/>
          </a:ln>
          <a:effectLst/>
        </p:spPr>
        <p:txBody>
          <a:bodyPr rtlCol="0" anchor="ctr" lIns="64008" rIns="64008" tIns="64008" bIns="64008" wrap="square"/>
          <a:lstStyle/>
          <a:p>
            <a:pPr algn="ctr">
              <a:spcBef>
                <a:spcPts val="0"/>
              </a:spcBef>
              <a:spcAft>
                <a:spcPts val="200"/>
              </a:spcAft>
            </a:pPr>
            <a:r>
              <a:rPr sz="1500" b="1" i="0">
                <a:solidFill>
                  <a:srgbClr val="253653"/>
                </a:solidFill>
                <a:latin typeface="Calibri"/>
              </a:rPr>
              <a:t>Patient + unit</a:t>
            </a:r>
          </a:p>
          <a:p>
            <a:pPr algn="ctr">
              <a:spcBef>
                <a:spcPts val="0"/>
              </a:spcBef>
              <a:spcAft>
                <a:spcPts val="0"/>
              </a:spcAft>
            </a:pPr>
            <a:r>
              <a:rPr sz="1300" b="0" i="0">
                <a:solidFill>
                  <a:srgbClr val="1F2933"/>
                </a:solidFill>
                <a:latin typeface="Calibri"/>
              </a:rPr>
              <a:t>unit not built; breaths simulated</a:t>
            </a:r>
          </a:p>
        </p:txBody>
      </p:sp>
      <p:sp>
        <p:nvSpPr>
          <p:cNvPr id="134" name="Chevron 133"/>
          <p:cNvSpPr/>
          <p:nvPr/>
        </p:nvSpPr>
        <p:spPr>
          <a:xfrm>
            <a:off x="2313432" y="2176272"/>
            <a:ext cx="146304" cy="274320"/>
          </a:xfrm>
          <a:prstGeom prst="chevron">
            <a:avLst/>
          </a:prstGeom>
          <a:solidFill>
            <a:srgbClr val="E57116"/>
          </a:solidFill>
          <a:ln>
            <a:noFill/>
          </a:ln>
          <a:effectLst/>
        </p:spPr>
        <p:txBody>
          <a:bodyPr rtlCol="0" anchor="ctr"/>
          <a:lstStyle/>
          <a:p>
            <a:pPr algn="ctr"/>
          </a:p>
        </p:txBody>
      </p:sp>
      <p:sp>
        <p:nvSpPr>
          <p:cNvPr id="135" name="Rounded Rectangle 134"/>
          <p:cNvSpPr/>
          <p:nvPr/>
        </p:nvSpPr>
        <p:spPr>
          <a:xfrm>
            <a:off x="2514600" y="1828800"/>
            <a:ext cx="1600200" cy="987552"/>
          </a:xfrm>
          <a:prstGeom prst="roundRect">
            <a:avLst>
              <a:gd name="adj" fmla="val 6481"/>
            </a:avLst>
          </a:prstGeom>
          <a:solidFill>
            <a:srgbClr val="EAF4FB"/>
          </a:solidFill>
          <a:ln>
            <a:noFill/>
          </a:ln>
          <a:effectLst/>
        </p:spPr>
        <p:txBody>
          <a:bodyPr rtlCol="0" anchor="ctr" lIns="64008" rIns="64008" tIns="64008" bIns="64008" wrap="square"/>
          <a:lstStyle/>
          <a:p>
            <a:pPr algn="ctr">
              <a:spcBef>
                <a:spcPts val="0"/>
              </a:spcBef>
              <a:spcAft>
                <a:spcPts val="200"/>
              </a:spcAft>
            </a:pPr>
            <a:r>
              <a:rPr sz="1500" b="1" i="0">
                <a:solidFill>
                  <a:srgbClr val="253653"/>
                </a:solidFill>
                <a:latin typeface="Calibri"/>
              </a:rPr>
              <a:t>Patient web app</a:t>
            </a:r>
          </a:p>
          <a:p>
            <a:pPr algn="ctr">
              <a:spcBef>
                <a:spcPts val="0"/>
              </a:spcBef>
              <a:spcAft>
                <a:spcPts val="0"/>
              </a:spcAft>
            </a:pPr>
            <a:r>
              <a:rPr sz="1300" b="0" i="0">
                <a:solidFill>
                  <a:srgbClr val="1F2933"/>
                </a:solidFill>
                <a:latin typeface="Calibri"/>
              </a:rPr>
              <a:t>phone, big text, voice</a:t>
            </a:r>
          </a:p>
        </p:txBody>
      </p:sp>
      <p:sp>
        <p:nvSpPr>
          <p:cNvPr id="136" name="Chevron 135"/>
          <p:cNvSpPr/>
          <p:nvPr/>
        </p:nvSpPr>
        <p:spPr>
          <a:xfrm>
            <a:off x="4169663" y="2176272"/>
            <a:ext cx="146304" cy="274320"/>
          </a:xfrm>
          <a:prstGeom prst="chevron">
            <a:avLst/>
          </a:prstGeom>
          <a:solidFill>
            <a:srgbClr val="E57116"/>
          </a:solidFill>
          <a:ln>
            <a:noFill/>
          </a:ln>
          <a:effectLst/>
        </p:spPr>
        <p:txBody>
          <a:bodyPr rtlCol="0" anchor="ctr"/>
          <a:lstStyle/>
          <a:p>
            <a:pPr algn="ctr"/>
          </a:p>
        </p:txBody>
      </p:sp>
      <p:sp>
        <p:nvSpPr>
          <p:cNvPr id="137" name="Rounded Rectangle 136"/>
          <p:cNvSpPr/>
          <p:nvPr/>
        </p:nvSpPr>
        <p:spPr>
          <a:xfrm>
            <a:off x="4370832" y="1828800"/>
            <a:ext cx="1600200" cy="987552"/>
          </a:xfrm>
          <a:prstGeom prst="roundRect">
            <a:avLst>
              <a:gd name="adj" fmla="val 6481"/>
            </a:avLst>
          </a:prstGeom>
          <a:solidFill>
            <a:srgbClr val="EAF4FB"/>
          </a:solidFill>
          <a:ln>
            <a:noFill/>
          </a:ln>
          <a:effectLst/>
        </p:spPr>
        <p:txBody>
          <a:bodyPr rtlCol="0" anchor="ctr" lIns="64008" rIns="64008" tIns="64008" bIns="64008" wrap="square"/>
          <a:lstStyle/>
          <a:p>
            <a:pPr algn="ctr">
              <a:spcBef>
                <a:spcPts val="0"/>
              </a:spcBef>
              <a:spcAft>
                <a:spcPts val="200"/>
              </a:spcAft>
            </a:pPr>
            <a:r>
              <a:rPr sz="1500" b="1" i="0">
                <a:solidFill>
                  <a:srgbClr val="253653"/>
                </a:solidFill>
                <a:latin typeface="Calibri"/>
              </a:rPr>
              <a:t>API server</a:t>
            </a:r>
          </a:p>
          <a:p>
            <a:pPr algn="ctr">
              <a:spcBef>
                <a:spcPts val="0"/>
              </a:spcBef>
              <a:spcAft>
                <a:spcPts val="0"/>
              </a:spcAft>
            </a:pPr>
            <a:r>
              <a:rPr sz="1300" b="0" i="0">
                <a:solidFill>
                  <a:srgbClr val="1F2933"/>
                </a:solidFill>
                <a:latin typeface="Calibri"/>
              </a:rPr>
              <a:t>Python, FastAPI</a:t>
            </a:r>
          </a:p>
        </p:txBody>
      </p:sp>
      <p:sp>
        <p:nvSpPr>
          <p:cNvPr id="138" name="Chevron 137"/>
          <p:cNvSpPr/>
          <p:nvPr/>
        </p:nvSpPr>
        <p:spPr>
          <a:xfrm>
            <a:off x="6025896" y="2176272"/>
            <a:ext cx="146304" cy="274320"/>
          </a:xfrm>
          <a:prstGeom prst="chevron">
            <a:avLst/>
          </a:prstGeom>
          <a:solidFill>
            <a:srgbClr val="E57116"/>
          </a:solidFill>
          <a:ln>
            <a:noFill/>
          </a:ln>
          <a:effectLst/>
        </p:spPr>
        <p:txBody>
          <a:bodyPr rtlCol="0" anchor="ctr"/>
          <a:lstStyle/>
          <a:p>
            <a:pPr algn="ctr"/>
          </a:p>
        </p:txBody>
      </p:sp>
      <p:sp>
        <p:nvSpPr>
          <p:cNvPr id="139" name="Rounded Rectangle 138"/>
          <p:cNvSpPr/>
          <p:nvPr/>
        </p:nvSpPr>
        <p:spPr>
          <a:xfrm>
            <a:off x="6227064" y="1828800"/>
            <a:ext cx="1600200" cy="987552"/>
          </a:xfrm>
          <a:prstGeom prst="roundRect">
            <a:avLst>
              <a:gd name="adj" fmla="val 6481"/>
            </a:avLst>
          </a:prstGeom>
          <a:solidFill>
            <a:srgbClr val="EAF4FB"/>
          </a:solidFill>
          <a:ln>
            <a:noFill/>
          </a:ln>
          <a:effectLst/>
        </p:spPr>
        <p:txBody>
          <a:bodyPr rtlCol="0" anchor="ctr" lIns="64008" rIns="64008" tIns="64008" bIns="64008" wrap="square"/>
          <a:lstStyle/>
          <a:p>
            <a:pPr algn="ctr">
              <a:spcBef>
                <a:spcPts val="0"/>
              </a:spcBef>
              <a:spcAft>
                <a:spcPts val="200"/>
              </a:spcAft>
            </a:pPr>
            <a:r>
              <a:rPr sz="1500" b="1" i="0">
                <a:solidFill>
                  <a:srgbClr val="253653"/>
                </a:solidFill>
                <a:latin typeface="Calibri"/>
              </a:rPr>
              <a:t>AI layer</a:t>
            </a:r>
          </a:p>
          <a:p>
            <a:pPr algn="ctr">
              <a:spcBef>
                <a:spcPts val="0"/>
              </a:spcBef>
              <a:spcAft>
                <a:spcPts val="0"/>
              </a:spcAft>
            </a:pPr>
            <a:r>
              <a:rPr sz="1300" b="0" i="0">
                <a:solidFill>
                  <a:srgbClr val="1F2933"/>
                </a:solidFill>
                <a:latin typeface="Calibri"/>
              </a:rPr>
              <a:t>three small helpers</a:t>
            </a:r>
          </a:p>
        </p:txBody>
      </p:sp>
      <p:sp>
        <p:nvSpPr>
          <p:cNvPr id="140" name="Chevron 139"/>
          <p:cNvSpPr/>
          <p:nvPr/>
        </p:nvSpPr>
        <p:spPr>
          <a:xfrm>
            <a:off x="7882128" y="2176272"/>
            <a:ext cx="146304" cy="274320"/>
          </a:xfrm>
          <a:prstGeom prst="chevron">
            <a:avLst/>
          </a:prstGeom>
          <a:solidFill>
            <a:srgbClr val="E57116"/>
          </a:solidFill>
          <a:ln>
            <a:noFill/>
          </a:ln>
          <a:effectLst/>
        </p:spPr>
        <p:txBody>
          <a:bodyPr rtlCol="0" anchor="ctr"/>
          <a:lstStyle/>
          <a:p>
            <a:pPr algn="ctr"/>
          </a:p>
        </p:txBody>
      </p:sp>
      <p:sp>
        <p:nvSpPr>
          <p:cNvPr id="141" name="Rounded Rectangle 140"/>
          <p:cNvSpPr/>
          <p:nvPr/>
        </p:nvSpPr>
        <p:spPr>
          <a:xfrm>
            <a:off x="8083296" y="1828800"/>
            <a:ext cx="1600200" cy="987552"/>
          </a:xfrm>
          <a:prstGeom prst="roundRect">
            <a:avLst>
              <a:gd name="adj" fmla="val 6481"/>
            </a:avLst>
          </a:prstGeom>
          <a:solidFill>
            <a:srgbClr val="EAF4FB"/>
          </a:solidFill>
          <a:ln>
            <a:noFill/>
          </a:ln>
          <a:effectLst/>
        </p:spPr>
        <p:txBody>
          <a:bodyPr rtlCol="0" anchor="ctr" lIns="64008" rIns="64008" tIns="64008" bIns="64008" wrap="square"/>
          <a:lstStyle/>
          <a:p>
            <a:pPr algn="ctr">
              <a:spcBef>
                <a:spcPts val="0"/>
              </a:spcBef>
              <a:spcAft>
                <a:spcPts val="200"/>
              </a:spcAft>
            </a:pPr>
            <a:r>
              <a:rPr sz="1500" b="1" i="0">
                <a:solidFill>
                  <a:srgbClr val="253653"/>
                </a:solidFill>
                <a:latin typeface="Calibri"/>
              </a:rPr>
              <a:t>Database</a:t>
            </a:r>
          </a:p>
          <a:p>
            <a:pPr algn="ctr">
              <a:spcBef>
                <a:spcPts val="0"/>
              </a:spcBef>
              <a:spcAft>
                <a:spcPts val="0"/>
              </a:spcAft>
            </a:pPr>
            <a:r>
              <a:rPr sz="1300" b="0" i="0">
                <a:solidFill>
                  <a:srgbClr val="1F2933"/>
                </a:solidFill>
                <a:latin typeface="Calibri"/>
              </a:rPr>
              <a:t>Postgres; hospitals kept apart</a:t>
            </a:r>
          </a:p>
        </p:txBody>
      </p:sp>
      <p:sp>
        <p:nvSpPr>
          <p:cNvPr id="142" name="Chevron 141"/>
          <p:cNvSpPr/>
          <p:nvPr/>
        </p:nvSpPr>
        <p:spPr>
          <a:xfrm>
            <a:off x="9738360" y="2176272"/>
            <a:ext cx="146304" cy="274320"/>
          </a:xfrm>
          <a:prstGeom prst="chevron">
            <a:avLst/>
          </a:prstGeom>
          <a:solidFill>
            <a:srgbClr val="E57116"/>
          </a:solidFill>
          <a:ln>
            <a:noFill/>
          </a:ln>
          <a:effectLst/>
        </p:spPr>
        <p:txBody>
          <a:bodyPr rtlCol="0" anchor="ctr"/>
          <a:lstStyle/>
          <a:p>
            <a:pPr algn="ctr"/>
          </a:p>
        </p:txBody>
      </p:sp>
      <p:sp>
        <p:nvSpPr>
          <p:cNvPr id="143" name="Rounded Rectangle 142"/>
          <p:cNvSpPr/>
          <p:nvPr/>
        </p:nvSpPr>
        <p:spPr>
          <a:xfrm>
            <a:off x="9939528" y="1828800"/>
            <a:ext cx="1600200" cy="987552"/>
          </a:xfrm>
          <a:prstGeom prst="roundRect">
            <a:avLst>
              <a:gd name="adj" fmla="val 6481"/>
            </a:avLst>
          </a:prstGeom>
          <a:solidFill>
            <a:srgbClr val="EAF4FB"/>
          </a:solidFill>
          <a:ln>
            <a:noFill/>
          </a:ln>
          <a:effectLst/>
        </p:spPr>
        <p:txBody>
          <a:bodyPr rtlCol="0" anchor="ctr" lIns="64008" rIns="64008" tIns="64008" bIns="64008" wrap="square"/>
          <a:lstStyle/>
          <a:p>
            <a:pPr algn="ctr">
              <a:spcBef>
                <a:spcPts val="0"/>
              </a:spcBef>
              <a:spcAft>
                <a:spcPts val="200"/>
              </a:spcAft>
            </a:pPr>
            <a:r>
              <a:rPr sz="1500" b="1" i="0">
                <a:solidFill>
                  <a:srgbClr val="253653"/>
                </a:solidFill>
                <a:latin typeface="Calibri"/>
              </a:rPr>
              <a:t>Dashboards</a:t>
            </a:r>
          </a:p>
          <a:p>
            <a:pPr algn="ctr">
              <a:spcBef>
                <a:spcPts val="0"/>
              </a:spcBef>
              <a:spcAft>
                <a:spcPts val="0"/>
              </a:spcAft>
            </a:pPr>
            <a:r>
              <a:rPr sz="1300" b="0" i="0">
                <a:solidFill>
                  <a:srgbClr val="1F2933"/>
                </a:solidFill>
                <a:latin typeface="Calibri"/>
              </a:rPr>
              <a:t>nurse, doctor, family</a:t>
            </a:r>
          </a:p>
        </p:txBody>
      </p:sp>
      <p:sp>
        <p:nvSpPr>
          <p:cNvPr id="144" name="Rounded Rectangle 143"/>
          <p:cNvSpPr/>
          <p:nvPr/>
        </p:nvSpPr>
        <p:spPr>
          <a:xfrm>
            <a:off x="658368" y="3017520"/>
            <a:ext cx="2624328" cy="1828800"/>
          </a:xfrm>
          <a:prstGeom prst="roundRect">
            <a:avLst>
              <a:gd name="adj" fmla="val 3500"/>
            </a:avLst>
          </a:prstGeom>
          <a:solidFill>
            <a:srgbClr val="EAF4FB"/>
          </a:solidFill>
          <a:ln>
            <a:noFill/>
          </a:ln>
          <a:effectLst/>
        </p:spPr>
        <p:txBody>
          <a:bodyPr rtlCol="0" anchor="t" lIns="128016" rIns="128016" tIns="91440" bIns="91440" wrap="square"/>
          <a:lstStyle/>
          <a:p>
            <a:pPr algn="l">
              <a:spcBef>
                <a:spcPts val="0"/>
              </a:spcBef>
              <a:spcAft>
                <a:spcPts val="500"/>
              </a:spcAft>
            </a:pPr>
            <a:r>
              <a:rPr sz="1600" b="1" i="0">
                <a:solidFill>
                  <a:srgbClr val="253653"/>
                </a:solidFill>
                <a:latin typeface="Calibri"/>
              </a:rPr>
              <a:t>AI 1 · Breath model</a:t>
            </a:r>
          </a:p>
          <a:p>
            <a:pPr algn="l">
              <a:spcBef>
                <a:spcPts val="0"/>
              </a:spcBef>
              <a:spcAft>
                <a:spcPts val="500"/>
              </a:spcAft>
            </a:pPr>
            <a:r>
              <a:rPr sz="1450" b="0" i="0">
                <a:solidFill>
                  <a:srgbClr val="1F2933"/>
                </a:solidFill>
                <a:latin typeface="Calibri"/>
              </a:rPr>
              <a:t>Labels each breath: good, too fast, too shallow, no hold. Trained on simulated breaths; simple rules run as a backup.</a:t>
            </a:r>
          </a:p>
        </p:txBody>
      </p:sp>
      <p:sp>
        <p:nvSpPr>
          <p:cNvPr id="145" name="Rounded Rectangle 144"/>
          <p:cNvSpPr/>
          <p:nvPr/>
        </p:nvSpPr>
        <p:spPr>
          <a:xfrm>
            <a:off x="3419856" y="3017520"/>
            <a:ext cx="2624328" cy="1828800"/>
          </a:xfrm>
          <a:prstGeom prst="roundRect">
            <a:avLst>
              <a:gd name="adj" fmla="val 3500"/>
            </a:avLst>
          </a:prstGeom>
          <a:solidFill>
            <a:srgbClr val="EAF4FB"/>
          </a:solidFill>
          <a:ln>
            <a:noFill/>
          </a:ln>
          <a:effectLst/>
        </p:spPr>
        <p:txBody>
          <a:bodyPr rtlCol="0" anchor="t" lIns="128016" rIns="128016" tIns="91440" bIns="91440" wrap="square"/>
          <a:lstStyle/>
          <a:p>
            <a:pPr algn="l">
              <a:spcBef>
                <a:spcPts val="0"/>
              </a:spcBef>
              <a:spcAft>
                <a:spcPts val="500"/>
              </a:spcAft>
            </a:pPr>
            <a:r>
              <a:rPr sz="1600" b="1" i="0">
                <a:solidFill>
                  <a:srgbClr val="253653"/>
                </a:solidFill>
                <a:latin typeface="Calibri"/>
              </a:rPr>
              <a:t>AI 2 · Voice</a:t>
            </a:r>
          </a:p>
          <a:p>
            <a:pPr algn="l">
              <a:spcBef>
                <a:spcPts val="0"/>
              </a:spcBef>
              <a:spcAft>
                <a:spcPts val="500"/>
              </a:spcAft>
            </a:pPr>
            <a:r>
              <a:rPr sz="1450" b="0" i="0">
                <a:solidFill>
                  <a:srgbClr val="1F2933"/>
                </a:solidFill>
                <a:latin typeface="Calibri"/>
              </a:rPr>
              <a:t>Speaks 10 Indian languages and English. Recorded clips and the browser voice still work when the internet is down.</a:t>
            </a:r>
          </a:p>
        </p:txBody>
      </p:sp>
      <p:sp>
        <p:nvSpPr>
          <p:cNvPr id="146" name="Rounded Rectangle 145"/>
          <p:cNvSpPr/>
          <p:nvPr/>
        </p:nvSpPr>
        <p:spPr>
          <a:xfrm>
            <a:off x="6181344" y="3017520"/>
            <a:ext cx="2624328" cy="1828800"/>
          </a:xfrm>
          <a:prstGeom prst="roundRect">
            <a:avLst>
              <a:gd name="adj" fmla="val 3500"/>
            </a:avLst>
          </a:prstGeom>
          <a:solidFill>
            <a:srgbClr val="EAF4FB"/>
          </a:solidFill>
          <a:ln>
            <a:noFill/>
          </a:ln>
          <a:effectLst/>
        </p:spPr>
        <p:txBody>
          <a:bodyPr rtlCol="0" anchor="t" lIns="128016" rIns="128016" tIns="91440" bIns="91440" wrap="square"/>
          <a:lstStyle/>
          <a:p>
            <a:pPr algn="l">
              <a:spcBef>
                <a:spcPts val="0"/>
              </a:spcBef>
              <a:spcAft>
                <a:spcPts val="500"/>
              </a:spcAft>
            </a:pPr>
            <a:r>
              <a:rPr sz="1600" b="1" i="0">
                <a:solidFill>
                  <a:srgbClr val="253653"/>
                </a:solidFill>
                <a:latin typeface="Calibri"/>
              </a:rPr>
              <a:t>AI 3 · Daily summary</a:t>
            </a:r>
          </a:p>
          <a:p>
            <a:pPr algn="l">
              <a:spcBef>
                <a:spcPts val="0"/>
              </a:spcBef>
              <a:spcAft>
                <a:spcPts val="500"/>
              </a:spcAft>
            </a:pPr>
            <a:r>
              <a:rPr sz="1450" b="0" i="0">
                <a:solidFill>
                  <a:srgbClr val="1F2933"/>
                </a:solidFill>
                <a:latin typeface="Calibri"/>
              </a:rPr>
              <a:t>A language model writes three plain sentences from the day's numbers. A fixed template is the fallback. It never diagnoses.</a:t>
            </a:r>
          </a:p>
        </p:txBody>
      </p:sp>
      <p:sp>
        <p:nvSpPr>
          <p:cNvPr id="147" name="Rounded Rectangle 146"/>
          <p:cNvSpPr/>
          <p:nvPr/>
        </p:nvSpPr>
        <p:spPr>
          <a:xfrm>
            <a:off x="8942832" y="3017520"/>
            <a:ext cx="2596896" cy="1828800"/>
          </a:xfrm>
          <a:prstGeom prst="roundRect">
            <a:avLst>
              <a:gd name="adj" fmla="val 3500"/>
            </a:avLst>
          </a:prstGeom>
          <a:solidFill>
            <a:srgbClr val="F1F3F5"/>
          </a:solidFill>
          <a:ln>
            <a:noFill/>
          </a:ln>
          <a:effectLst/>
        </p:spPr>
        <p:txBody>
          <a:bodyPr rtlCol="0" anchor="t" lIns="128016" rIns="128016" tIns="91440" bIns="91440" wrap="square"/>
          <a:lstStyle/>
          <a:p>
            <a:pPr algn="l">
              <a:spcBef>
                <a:spcPts val="0"/>
              </a:spcBef>
              <a:spcAft>
                <a:spcPts val="500"/>
              </a:spcAft>
            </a:pPr>
            <a:r>
              <a:rPr sz="1600" b="1" i="0">
                <a:solidFill>
                  <a:srgbClr val="B3261E"/>
                </a:solidFill>
                <a:latin typeface="Calibri"/>
              </a:rPr>
              <a:t>Not AI, on purpose</a:t>
            </a:r>
          </a:p>
          <a:p>
            <a:pPr algn="l">
              <a:spcBef>
                <a:spcPts val="0"/>
              </a:spcBef>
              <a:spcAft>
                <a:spcPts val="500"/>
              </a:spcAft>
            </a:pPr>
            <a:r>
              <a:rPr sz="1450" b="0" i="0">
                <a:solidFill>
                  <a:srgbClr val="1F2933"/>
                </a:solidFill>
                <a:latin typeface="Calibri"/>
              </a:rPr>
              <a:t>Red-flag words trigger a fixed message: contact your nurse / call 112. Alerts, triage and reminders follow fixed rules.</a:t>
            </a:r>
          </a:p>
        </p:txBody>
      </p:sp>
      <p:sp>
        <p:nvSpPr>
          <p:cNvPr id="148" name="TextBox 147"/>
          <p:cNvSpPr txBox="1"/>
          <p:nvPr/>
        </p:nvSpPr>
        <p:spPr>
          <a:xfrm>
            <a:off x="658368" y="4983480"/>
            <a:ext cx="10881360" cy="960120"/>
          </a:xfrm>
          <a:prstGeom prst="rect">
            <a:avLst/>
          </a:prstGeom>
          <a:noFill/>
        </p:spPr>
        <p:txBody>
          <a:bodyPr wrap="square" lIns="0" rIns="0" tIns="0" bIns="0" anchor="t">
            <a:spAutoFit/>
          </a:bodyPr>
          <a:lstStyle/>
          <a:p>
            <a:pPr algn="l">
              <a:spcBef>
                <a:spcPts val="0"/>
              </a:spcBef>
              <a:spcAft>
                <a:spcPts val="500"/>
              </a:spcAft>
            </a:pPr>
            <a:r>
              <a:rPr sz="1400" b="1" i="0">
                <a:solidFill>
                  <a:srgbClr val="253653"/>
                </a:solidFill>
                <a:latin typeface="Calibri"/>
              </a:rPr>
              <a:t>Stack:</a:t>
            </a:r>
            <a:r>
              <a:rPr sz="1400" b="0" i="0">
                <a:solidFill>
                  <a:srgbClr val="1F2933"/>
                </a:solidFill>
                <a:latin typeface="Calibri"/>
              </a:rPr>
              <a:t> web pages in plain HTML, CSS and JavaScript, so nothing to install · Python FastAPI server · Postgres database · hosted in the cloud (Render)</a:t>
            </a:r>
          </a:p>
          <a:p>
            <a:pPr algn="l">
              <a:spcBef>
                <a:spcPts val="0"/>
              </a:spcBef>
              <a:spcAft>
                <a:spcPts val="0"/>
              </a:spcAft>
            </a:pPr>
            <a:r>
              <a:rPr sz="1400" b="1" i="0">
                <a:solidFill>
                  <a:srgbClr val="253653"/>
                </a:solidFill>
                <a:latin typeface="Calibri"/>
              </a:rPr>
              <a:t>Security and privacy:</a:t>
            </a:r>
            <a:r>
              <a:rPr sz="1400" b="0" i="0">
                <a:solidFill>
                  <a:srgbClr val="1F2933"/>
                </a:solidFill>
                <a:latin typeface="Calibri"/>
              </a:rPr>
              <a:t> staff logins with hashed passwords · every record carries its hospital · an audit log of every write · limits on login tries, AI calls and uploads</a:t>
            </a:r>
          </a:p>
        </p:txBody>
      </p:sp>
      <p:sp>
        <p:nvSpPr>
          <p:cNvPr id="149" name="TextBox 148"/>
          <p:cNvSpPr txBox="1"/>
          <p:nvPr/>
        </p:nvSpPr>
        <p:spPr>
          <a:xfrm>
            <a:off x="658368" y="6035040"/>
            <a:ext cx="9326880" cy="402336"/>
          </a:xfrm>
          <a:prstGeom prst="rect">
            <a:avLst/>
          </a:prstGeom>
          <a:noFill/>
        </p:spPr>
        <p:txBody>
          <a:bodyPr wrap="square" lIns="0" rIns="0" tIns="0" bIns="0" anchor="b">
            <a:spAutoFit/>
          </a:bodyPr>
          <a:lstStyle/>
          <a:p>
            <a:pPr algn="l">
              <a:spcBef>
                <a:spcPts val="0"/>
              </a:spcBef>
              <a:spcAft>
                <a:spcPts val="0"/>
              </a:spcAft>
            </a:pPr>
            <a:r>
              <a:rPr sz="1000" b="0" i="0">
                <a:solidFill>
                  <a:srgbClr val="5B6B7D"/>
                </a:solidFill>
                <a:latin typeface="Calibri"/>
              </a:rPr>
              <a:t>Flow follows the template: user → application → APIs → AI layer → database → dashboard. Every AI or internet feature has an offline fallback.</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0"/>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3000">
                <a:solidFill>
                  <a:schemeClr val="accent4"/>
                </a:solidFill>
                <a:latin typeface="Play"/>
                <a:ea typeface="Play"/>
                <a:cs typeface="Play"/>
                <a:sym typeface="Play"/>
              </a:rPr>
              <a:t>MVP / Prototype Screens</a:t>
            </a:r>
            <a:endParaRPr/>
          </a:p>
        </p:txBody>
      </p:sp>
      <p:sp>
        <p:nvSpPr>
          <p:cNvPr id="138" name="Google Shape;138;p10"/>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 name="Google Shape;139;p10"/>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 name="Google Shape;140;p10"/>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 name="Google Shape;141;p10"/>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 name="Google Shape;142;p10"/>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143" name="Google Shape;143;p10"/>
          <p:cNvSpPr txBox="1"/>
          <p:nvPr/>
        </p:nvSpPr>
        <p:spPr>
          <a:xfrm>
            <a:off x="11109960" y="6569294"/>
            <a:ext cx="438912" cy="138499"/>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10</a:t>
            </a:r>
            <a:endParaRPr b="1" sz="900">
              <a:solidFill>
                <a:srgbClr val="203050"/>
              </a:solidFill>
              <a:latin typeface="Arial"/>
              <a:ea typeface="Arial"/>
              <a:cs typeface="Arial"/>
              <a:sym typeface="Arial"/>
            </a:endParaRPr>
          </a:p>
        </p:txBody>
      </p:sp>
      <p:pic>
        <p:nvPicPr>
          <p:cNvPr id="144" name="Picture 143" descr="Dolphin Tank India logo"/>
          <p:cNvPicPr>
            <a:picLocks noChangeAspect="1"/>
          </p:cNvPicPr>
          <p:nvPr/>
        </p:nvPicPr>
        <p:blipFill>
          <a:blip r:embed="rId3"/>
          <a:stretch>
            <a:fillRect/>
          </a:stretch>
        </p:blipFill>
        <p:spPr>
          <a:xfrm>
            <a:off x="10669520" y="146304"/>
            <a:ext cx="1387352" cy="654087"/>
          </a:xfrm>
          <a:prstGeom prst="rect">
            <a:avLst/>
          </a:prstGeom>
        </p:spPr>
      </p:pic>
      <p:sp>
        <p:nvSpPr>
          <p:cNvPr id="145" name="TextBox 144"/>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It runs today, end to end, at spirobuddy.onrender.com - with simulated breaths and fictional patients.</a:t>
            </a:r>
          </a:p>
        </p:txBody>
      </p:sp>
      <p:pic>
        <p:nvPicPr>
          <p:cNvPr id="146" name="Picture 145" descr="Public landing page screenshot: After surgery, the hospital stays connected to the patient at home."/>
          <p:cNvPicPr>
            <a:picLocks noChangeAspect="1"/>
          </p:cNvPicPr>
          <p:nvPr/>
        </p:nvPicPr>
        <p:blipFill>
          <a:blip r:embed="rId4"/>
          <a:stretch>
            <a:fillRect/>
          </a:stretch>
        </p:blipFill>
        <p:spPr>
          <a:xfrm>
            <a:off x="658368" y="1828800"/>
            <a:ext cx="4160520" cy="2340292"/>
          </a:xfrm>
          <a:prstGeom prst="rect">
            <a:avLst/>
          </a:prstGeom>
          <a:ln w="9525">
            <a:solidFill>
              <a:srgbClr val="C9D2DB"/>
            </a:solidFill>
          </a:ln>
        </p:spPr>
      </p:pic>
      <p:sp>
        <p:nvSpPr>
          <p:cNvPr id="147" name="TextBox 146"/>
          <p:cNvSpPr txBox="1"/>
          <p:nvPr/>
        </p:nvSpPr>
        <p:spPr>
          <a:xfrm>
            <a:off x="658368" y="4223956"/>
            <a:ext cx="4160520" cy="502920"/>
          </a:xfrm>
          <a:prstGeom prst="rect">
            <a:avLst/>
          </a:prstGeom>
          <a:noFill/>
        </p:spPr>
        <p:txBody>
          <a:bodyPr wrap="square" lIns="0" rIns="0" tIns="0" bIns="0" anchor="t">
            <a:spAutoFit/>
          </a:bodyPr>
          <a:lstStyle/>
          <a:p>
            <a:pPr algn="l">
              <a:spcBef>
                <a:spcPts val="0"/>
              </a:spcBef>
              <a:spcAft>
                <a:spcPts val="0"/>
              </a:spcAft>
            </a:pPr>
            <a:r>
              <a:rPr sz="1400" b="1" i="0">
                <a:solidFill>
                  <a:srgbClr val="253653"/>
                </a:solidFill>
                <a:latin typeface="Calibri"/>
              </a:rPr>
              <a:t>Public site:</a:t>
            </a:r>
            <a:r>
              <a:rPr sz="1400" b="0" i="0">
                <a:solidFill>
                  <a:srgbClr val="1F2933"/>
                </a:solidFill>
                <a:latin typeface="Calibri"/>
              </a:rPr>
              <a:t> the problem, the product and its limits</a:t>
            </a:r>
          </a:p>
        </p:txBody>
      </p:sp>
      <p:pic>
        <p:nvPicPr>
          <p:cNvPr id="148" name="Picture 147" descr="Nurse dashboard screenshot with four fictional patients in a triage list."/>
          <p:cNvPicPr>
            <a:picLocks noChangeAspect="1"/>
          </p:cNvPicPr>
          <p:nvPr/>
        </p:nvPicPr>
        <p:blipFill>
          <a:blip r:embed="rId5"/>
          <a:stretch>
            <a:fillRect/>
          </a:stretch>
        </p:blipFill>
        <p:spPr>
          <a:xfrm>
            <a:off x="5001768" y="1828800"/>
            <a:ext cx="4160520" cy="2340292"/>
          </a:xfrm>
          <a:prstGeom prst="rect">
            <a:avLst/>
          </a:prstGeom>
          <a:ln w="9525">
            <a:solidFill>
              <a:srgbClr val="C9D2DB"/>
            </a:solidFill>
          </a:ln>
        </p:spPr>
      </p:pic>
      <p:sp>
        <p:nvSpPr>
          <p:cNvPr id="149" name="TextBox 148"/>
          <p:cNvSpPr txBox="1"/>
          <p:nvPr/>
        </p:nvSpPr>
        <p:spPr>
          <a:xfrm>
            <a:off x="5001768" y="4223956"/>
            <a:ext cx="4160520" cy="502920"/>
          </a:xfrm>
          <a:prstGeom prst="rect">
            <a:avLst/>
          </a:prstGeom>
          <a:noFill/>
        </p:spPr>
        <p:txBody>
          <a:bodyPr wrap="square" lIns="0" rIns="0" tIns="0" bIns="0" anchor="t">
            <a:spAutoFit/>
          </a:bodyPr>
          <a:lstStyle/>
          <a:p>
            <a:pPr algn="l">
              <a:spcBef>
                <a:spcPts val="0"/>
              </a:spcBef>
              <a:spcAft>
                <a:spcPts val="0"/>
              </a:spcAft>
            </a:pPr>
            <a:r>
              <a:rPr sz="1400" b="1" i="0">
                <a:solidFill>
                  <a:srgbClr val="253653"/>
                </a:solidFill>
                <a:latin typeface="Calibri"/>
              </a:rPr>
              <a:t>Nurse dashboard:</a:t>
            </a:r>
            <a:r>
              <a:rPr sz="1400" b="0" i="0">
                <a:solidFill>
                  <a:srgbClr val="1F2933"/>
                </a:solidFill>
                <a:latin typeface="Calibri"/>
              </a:rPr>
              <a:t> the patient who needs a call is on top</a:t>
            </a:r>
          </a:p>
        </p:txBody>
      </p:sp>
      <p:sp>
        <p:nvSpPr>
          <p:cNvPr id="150" name="TextBox 149"/>
          <p:cNvSpPr txBox="1"/>
          <p:nvPr/>
        </p:nvSpPr>
        <p:spPr>
          <a:xfrm>
            <a:off x="9345168" y="1801368"/>
            <a:ext cx="2194560" cy="457200"/>
          </a:xfrm>
          <a:prstGeom prst="rect">
            <a:avLst/>
          </a:prstGeom>
          <a:noFill/>
        </p:spPr>
        <p:txBody>
          <a:bodyPr wrap="square" lIns="0" rIns="0" tIns="0" bIns="0" anchor="b">
            <a:spAutoFit/>
          </a:bodyPr>
          <a:lstStyle/>
          <a:p>
            <a:pPr algn="l">
              <a:spcBef>
                <a:spcPts val="0"/>
              </a:spcBef>
              <a:spcAft>
                <a:spcPts val="0"/>
              </a:spcAft>
            </a:pPr>
            <a:r>
              <a:rPr sz="1400" b="1" i="0">
                <a:solidFill>
                  <a:srgbClr val="253653"/>
                </a:solidFill>
                <a:latin typeface="Calibri"/>
              </a:rPr>
              <a:t>Patient app:</a:t>
            </a:r>
            <a:r>
              <a:rPr sz="1400" b="0" i="0">
                <a:solidFill>
                  <a:srgbClr val="1F2933"/>
                </a:solidFill>
                <a:latin typeface="Calibri"/>
              </a:rPr>
              <a:t> Hindi coach</a:t>
            </a:r>
          </a:p>
        </p:txBody>
      </p:sp>
      <p:pic>
        <p:nvPicPr>
          <p:cNvPr id="151" name="Picture 150" descr="Patient app screenshot in Hindi with one big Start button. Demo data, fictional patient."/>
          <p:cNvPicPr>
            <a:picLocks noChangeAspect="1"/>
          </p:cNvPicPr>
          <p:nvPr/>
        </p:nvPicPr>
        <p:blipFill>
          <a:blip r:embed="rId6"/>
          <a:stretch>
            <a:fillRect/>
          </a:stretch>
        </p:blipFill>
        <p:spPr>
          <a:xfrm>
            <a:off x="9626963" y="2331720"/>
            <a:ext cx="1630968" cy="3529582"/>
          </a:xfrm>
          <a:prstGeom prst="roundRect">
            <a:avLst>
              <a:gd name="adj" fmla="val 5500"/>
            </a:avLst>
          </a:prstGeom>
          <a:ln w="15875">
            <a:solidFill>
              <a:srgbClr val="3A4654"/>
            </a:solidFill>
          </a:ln>
        </p:spPr>
      </p:pic>
      <p:sp>
        <p:nvSpPr>
          <p:cNvPr id="152" name="TextBox 151"/>
          <p:cNvSpPr txBox="1"/>
          <p:nvPr/>
        </p:nvSpPr>
        <p:spPr>
          <a:xfrm>
            <a:off x="658368" y="5029200"/>
            <a:ext cx="8503920" cy="530352"/>
          </a:xfrm>
          <a:prstGeom prst="rect">
            <a:avLst/>
          </a:prstGeom>
          <a:noFill/>
        </p:spPr>
        <p:txBody>
          <a:bodyPr wrap="square" lIns="0" rIns="0" tIns="0" bIns="0" anchor="t">
            <a:spAutoFit/>
          </a:bodyPr>
          <a:lstStyle/>
          <a:p>
            <a:pPr algn="l">
              <a:spcBef>
                <a:spcPts val="0"/>
              </a:spcBef>
              <a:spcAft>
                <a:spcPts val="0"/>
              </a:spcAft>
            </a:pPr>
            <a:r>
              <a:rPr sz="1400" b="1" i="0">
                <a:solidFill>
                  <a:srgbClr val="253653"/>
                </a:solidFill>
                <a:latin typeface="Calibri"/>
              </a:rPr>
              <a:t>Try the flow:</a:t>
            </a:r>
            <a:r>
              <a:rPr sz="1400" b="0" i="0">
                <a:solidFill>
                  <a:srgbClr val="1F2933"/>
                </a:solidFill>
                <a:latin typeface="Calibri"/>
              </a:rPr>
              <a:t> open the site → Patient app (demo) → Start → make a demo breath → Hospital login → nurse list → Medicines → show at the pharmacy.</a:t>
            </a:r>
          </a:p>
        </p:txBody>
      </p:sp>
      <p:sp>
        <p:nvSpPr>
          <p:cNvPr id="153" name="Rounded Rectangle 152"/>
          <p:cNvSpPr/>
          <p:nvPr/>
        </p:nvSpPr>
        <p:spPr>
          <a:xfrm>
            <a:off x="658368" y="5614416"/>
            <a:ext cx="3769156" cy="274320"/>
          </a:xfrm>
          <a:prstGeom prst="roundRect">
            <a:avLst>
              <a:gd name="adj" fmla="val 50000"/>
            </a:avLst>
          </a:prstGeom>
          <a:solidFill>
            <a:srgbClr val="E6F4EA"/>
          </a:solidFill>
          <a:ln>
            <a:noFill/>
          </a:ln>
          <a:effectLst/>
        </p:spPr>
        <p:txBody>
          <a:bodyPr rtlCol="0" anchor="ctr" lIns="45720" rIns="45720" wrap="square"/>
          <a:lstStyle/>
          <a:p>
            <a:pPr algn="ctr">
              <a:spcBef>
                <a:spcPts val="0"/>
              </a:spcBef>
              <a:spcAft>
                <a:spcPts val="0"/>
              </a:spcAft>
            </a:pPr>
            <a:r>
              <a:rPr sz="1200" b="1" i="0">
                <a:solidFill>
                  <a:srgbClr val="1B7035"/>
                </a:solidFill>
                <a:latin typeface="Calibri"/>
              </a:rPr>
              <a:t>Live: site, staff logins, dashboard, prescription</a:t>
            </a:r>
          </a:p>
        </p:txBody>
      </p:sp>
      <p:sp>
        <p:nvSpPr>
          <p:cNvPr id="154" name="Rounded Rectangle 153"/>
          <p:cNvSpPr/>
          <p:nvPr/>
        </p:nvSpPr>
        <p:spPr>
          <a:xfrm>
            <a:off x="4537252" y="5614416"/>
            <a:ext cx="2770632" cy="274320"/>
          </a:xfrm>
          <a:prstGeom prst="roundRect">
            <a:avLst>
              <a:gd name="adj" fmla="val 50000"/>
            </a:avLst>
          </a:prstGeom>
          <a:solidFill>
            <a:srgbClr val="FFF5E1"/>
          </a:solidFill>
          <a:ln>
            <a:noFill/>
          </a:ln>
          <a:effectLst/>
        </p:spPr>
        <p:txBody>
          <a:bodyPr rtlCol="0" anchor="ctr" lIns="45720" rIns="45720" wrap="square"/>
          <a:lstStyle/>
          <a:p>
            <a:pPr algn="ctr">
              <a:spcBef>
                <a:spcPts val="0"/>
              </a:spcBef>
              <a:spcAft>
                <a:spcPts val="0"/>
              </a:spcAft>
            </a:pPr>
            <a:r>
              <a:rPr sz="1200" b="1" i="0">
                <a:solidFill>
                  <a:srgbClr val="8F5100"/>
                </a:solidFill>
                <a:latin typeface="Calibri"/>
              </a:rPr>
              <a:t>Simulated: breaths, WhatsApp, calls</a:t>
            </a:r>
          </a:p>
        </p:txBody>
      </p:sp>
      <p:sp>
        <p:nvSpPr>
          <p:cNvPr id="155" name="Rounded Rectangle 154"/>
          <p:cNvSpPr/>
          <p:nvPr/>
        </p:nvSpPr>
        <p:spPr>
          <a:xfrm>
            <a:off x="7417612" y="5614416"/>
            <a:ext cx="1772107" cy="274320"/>
          </a:xfrm>
          <a:prstGeom prst="roundRect">
            <a:avLst>
              <a:gd name="adj" fmla="val 50000"/>
            </a:avLst>
          </a:prstGeom>
          <a:solidFill>
            <a:srgbClr val="FDECEA"/>
          </a:solidFill>
          <a:ln>
            <a:noFill/>
          </a:ln>
          <a:effectLst/>
        </p:spPr>
        <p:txBody>
          <a:bodyPr rtlCol="0" anchor="ctr" lIns="45720" rIns="45720" wrap="square"/>
          <a:lstStyle/>
          <a:p>
            <a:pPr algn="ctr">
              <a:spcBef>
                <a:spcPts val="0"/>
              </a:spcBef>
              <a:spcAft>
                <a:spcPts val="0"/>
              </a:spcAft>
            </a:pPr>
            <a:r>
              <a:rPr sz="1200" b="1" i="0">
                <a:solidFill>
                  <a:srgbClr val="B3261E"/>
                </a:solidFill>
                <a:latin typeface="Calibri"/>
              </a:rPr>
              <a:t>Not built: the device</a:t>
            </a:r>
          </a:p>
        </p:txBody>
      </p:sp>
      <p:sp>
        <p:nvSpPr>
          <p:cNvPr id="156" name="TextBox 155"/>
          <p:cNvSpPr txBox="1"/>
          <p:nvPr/>
        </p:nvSpPr>
        <p:spPr>
          <a:xfrm>
            <a:off x="658368" y="6035040"/>
            <a:ext cx="9326880" cy="402336"/>
          </a:xfrm>
          <a:prstGeom prst="rect">
            <a:avLst/>
          </a:prstGeom>
          <a:noFill/>
        </p:spPr>
        <p:txBody>
          <a:bodyPr wrap="square" lIns="0" rIns="0" tIns="0" bIns="0" anchor="b">
            <a:spAutoFit/>
          </a:bodyPr>
          <a:lstStyle/>
          <a:p>
            <a:pPr algn="l">
              <a:spcBef>
                <a:spcPts val="0"/>
              </a:spcBef>
              <a:spcAft>
                <a:spcPts val="0"/>
              </a:spcAft>
            </a:pPr>
            <a:r>
              <a:rPr sz="1000" b="0" i="0">
                <a:solidFill>
                  <a:srgbClr val="5B6B7D"/>
                </a:solidFill>
                <a:latin typeface="Calibri"/>
              </a:rPr>
              <a:t>Real screenshots, 12 Oct 2026, from a local copy of the demo site. Demo data - fictional patients. The free server can take a moment to wake.</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3000">
                <a:solidFill>
                  <a:schemeClr val="accent4"/>
                </a:solidFill>
                <a:latin typeface="Play"/>
                <a:ea typeface="Play"/>
                <a:cs typeface="Play"/>
                <a:sym typeface="Play"/>
              </a:rPr>
              <a:t>Market Validation</a:t>
            </a:r>
            <a:endParaRPr sz="2400">
              <a:solidFill>
                <a:schemeClr val="accent4"/>
              </a:solidFill>
              <a:latin typeface="Calibri"/>
              <a:ea typeface="Calibri"/>
              <a:cs typeface="Calibri"/>
              <a:sym typeface="Calibri"/>
            </a:endParaRPr>
          </a:p>
        </p:txBody>
      </p:sp>
      <p:sp>
        <p:nvSpPr>
          <p:cNvPr id="151" name="Google Shape;151;p11"/>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 name="Google Shape;152;p11"/>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 name="Google Shape;153;p11"/>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 name="Google Shape;154;p11"/>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 name="Google Shape;155;p11"/>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156" name="Google Shape;156;p11"/>
          <p:cNvSpPr txBox="1"/>
          <p:nvPr/>
        </p:nvSpPr>
        <p:spPr>
          <a:xfrm>
            <a:off x="11109960" y="6569294"/>
            <a:ext cx="438912" cy="138499"/>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12</a:t>
            </a:r>
            <a:endParaRPr/>
          </a:p>
        </p:txBody>
      </p:sp>
      <p:pic>
        <p:nvPicPr>
          <p:cNvPr id="157" name="Picture 156" descr="Dolphin Tank India logo"/>
          <p:cNvPicPr>
            <a:picLocks noChangeAspect="1"/>
          </p:cNvPicPr>
          <p:nvPr/>
        </p:nvPicPr>
        <p:blipFill>
          <a:blip r:embed="rId3"/>
          <a:stretch>
            <a:fillRect/>
          </a:stretch>
        </p:blipFill>
        <p:spPr>
          <a:xfrm>
            <a:off x="10669520" y="146304"/>
            <a:ext cx="1387352" cy="654087"/>
          </a:xfrm>
          <a:prstGeom prst="rect">
            <a:avLst/>
          </a:prstGeom>
        </p:spPr>
      </p:pic>
      <p:sp>
        <p:nvSpPr>
          <p:cNvPr id="158" name="TextBox 157"/>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What we know so far comes from published studies. No pilot, no survey and no users yet.</a:t>
            </a:r>
          </a:p>
        </p:txBody>
      </p:sp>
      <p:graphicFrame>
        <p:nvGraphicFramePr>
          <p:cNvPr id="159" name="Table 158"/>
          <p:cNvGraphicFramePr>
            <a:graphicFrameLocks noGrp="1"/>
          </p:cNvGraphicFramePr>
          <p:nvPr/>
        </p:nvGraphicFramePr>
        <p:xfrm>
          <a:off x="658368" y="1828800"/>
          <a:ext cx="5760720" cy="2761488"/>
        </p:xfrm>
        <a:graphic>
          <a:graphicData uri="http://schemas.openxmlformats.org/drawingml/2006/table">
            <a:tbl>
              <a:tblPr firstRow="0" bandRow="0">
                <a:tableStyleId>{5C22544A-7EE6-4342-B048-85BDC9FD1C3A}</a:tableStyleId>
              </a:tblPr>
              <a:tblGrid>
                <a:gridCol w="1965960"/>
                <a:gridCol w="3794760"/>
              </a:tblGrid>
              <a:tr h="384048">
                <a:tc>
                  <a:txBody>
                    <a:bodyPr wrap="square"/>
                    <a:lstStyle/>
                    <a:p>
                      <a:pPr algn="l">
                        <a:spcBef>
                          <a:spcPts val="0"/>
                        </a:spcBef>
                        <a:spcAft>
                          <a:spcPts val="0"/>
                        </a:spcAft>
                      </a:pPr>
                      <a:r>
                        <a:rPr sz="1400" b="1" i="0">
                          <a:solidFill>
                            <a:srgbClr val="FFFFFF"/>
                          </a:solidFill>
                          <a:latin typeface="Calibri"/>
                        </a:rPr>
                        <a:t>Validation activity</a:t>
                      </a:r>
                    </a:p>
                  </a:txBody>
                  <a:tcPr marL="91440" marR="91440" marT="54864" marB="54864" anchor="ctr">
                    <a:solidFill>
                      <a:srgbClr val="253653"/>
                    </a:solidFill>
                  </a:tcPr>
                </a:tc>
                <a:tc>
                  <a:txBody>
                    <a:bodyPr wrap="square"/>
                    <a:lstStyle/>
                    <a:p>
                      <a:pPr algn="l">
                        <a:spcBef>
                          <a:spcPts val="0"/>
                        </a:spcBef>
                        <a:spcAft>
                          <a:spcPts val="0"/>
                        </a:spcAft>
                      </a:pPr>
                      <a:r>
                        <a:rPr sz="1400" b="1" i="0">
                          <a:solidFill>
                            <a:srgbClr val="FFFFFF"/>
                          </a:solidFill>
                          <a:latin typeface="Calibri"/>
                        </a:rPr>
                        <a:t>Result so far</a:t>
                      </a:r>
                    </a:p>
                  </a:txBody>
                  <a:tcPr marL="91440" marR="91440" marT="54864" marB="54864" anchor="ctr">
                    <a:solidFill>
                      <a:srgbClr val="253653"/>
                    </a:solidFill>
                  </a:tcPr>
                </a:tc>
              </a:tr>
              <a:tr h="475488">
                <a:tc>
                  <a:txBody>
                    <a:bodyPr wrap="square"/>
                    <a:lstStyle/>
                    <a:p>
                      <a:pPr algn="l">
                        <a:spcBef>
                          <a:spcPts val="0"/>
                        </a:spcBef>
                        <a:spcAft>
                          <a:spcPts val="0"/>
                        </a:spcAft>
                      </a:pPr>
                      <a:r>
                        <a:rPr sz="1400" b="1" i="0">
                          <a:solidFill>
                            <a:srgbClr val="253653"/>
                          </a:solidFill>
                          <a:latin typeface="Calibri"/>
                        </a:rPr>
                        <a:t>Interviews</a:t>
                      </a:r>
                    </a:p>
                  </a:txBody>
                  <a:tcPr marL="91440" marR="91440" marT="54864" marB="54864" anchor="ctr">
                    <a:solidFill>
                      <a:srgbClr val="FFFFFF"/>
                    </a:solidFill>
                  </a:tcPr>
                </a:tc>
                <a:tc>
                  <a:txBody>
                    <a:bodyPr wrap="square"/>
                    <a:lstStyle/>
                    <a:p>
                      <a:pPr algn="l">
                        <a:spcBef>
                          <a:spcPts val="0"/>
                        </a:spcBef>
                        <a:spcAft>
                          <a:spcPts val="0"/>
                        </a:spcAft>
                      </a:pPr>
                      <a:r>
                        <a:rPr sz="1400" b="1" i="0">
                          <a:solidFill>
                            <a:srgbClr val="5A3A00"/>
                          </a:solidFill>
                          <a:highlight>
                            <a:srgbClr val="FFE95C"/>
                          </a:highlight>
                          <a:latin typeface="Calibri"/>
                        </a:rPr>
                        <a:t>[ADD: 3 interviewees - role, city]</a:t>
                      </a:r>
                    </a:p>
                  </a:txBody>
                  <a:tcPr marL="91440" marR="91440" marT="54864" marB="54864" anchor="ctr">
                    <a:solidFill>
                      <a:srgbClr val="FFFFFF"/>
                    </a:solidFill>
                  </a:tcPr>
                </a:tc>
              </a:tr>
              <a:tr h="475488">
                <a:tc>
                  <a:txBody>
                    <a:bodyPr wrap="square"/>
                    <a:lstStyle/>
                    <a:p>
                      <a:pPr algn="l">
                        <a:spcBef>
                          <a:spcPts val="0"/>
                        </a:spcBef>
                        <a:spcAft>
                          <a:spcPts val="0"/>
                        </a:spcAft>
                      </a:pPr>
                      <a:r>
                        <a:rPr sz="1400" b="1" i="0">
                          <a:solidFill>
                            <a:srgbClr val="253653"/>
                          </a:solidFill>
                          <a:latin typeface="Calibri"/>
                        </a:rPr>
                        <a:t>Survey responses</a:t>
                      </a:r>
                    </a:p>
                  </a:txBody>
                  <a:tcPr marL="91440" marR="91440" marT="54864" marB="54864" anchor="ctr">
                    <a:solidFill>
                      <a:srgbClr val="F4F8FB"/>
                    </a:solidFill>
                  </a:tcPr>
                </a:tc>
                <a:tc>
                  <a:txBody>
                    <a:bodyPr wrap="square"/>
                    <a:lstStyle/>
                    <a:p>
                      <a:pPr algn="l">
                        <a:spcBef>
                          <a:spcPts val="0"/>
                        </a:spcBef>
                        <a:spcAft>
                          <a:spcPts val="0"/>
                        </a:spcAft>
                      </a:pPr>
                      <a:r>
                        <a:rPr sz="1400" b="0" i="0">
                          <a:solidFill>
                            <a:srgbClr val="1F2933"/>
                          </a:solidFill>
                          <a:latin typeface="Calibri"/>
                        </a:rPr>
                        <a:t>None yet</a:t>
                      </a:r>
                    </a:p>
                  </a:txBody>
                  <a:tcPr marL="91440" marR="91440" marT="54864" marB="54864" anchor="ctr">
                    <a:solidFill>
                      <a:srgbClr val="F4F8FB"/>
                    </a:solidFill>
                  </a:tcPr>
                </a:tc>
              </a:tr>
              <a:tr h="475488">
                <a:tc>
                  <a:txBody>
                    <a:bodyPr wrap="square"/>
                    <a:lstStyle/>
                    <a:p>
                      <a:pPr algn="l">
                        <a:spcBef>
                          <a:spcPts val="0"/>
                        </a:spcBef>
                        <a:spcAft>
                          <a:spcPts val="0"/>
                        </a:spcAft>
                      </a:pPr>
                      <a:r>
                        <a:rPr sz="1400" b="1" i="0">
                          <a:solidFill>
                            <a:srgbClr val="253653"/>
                          </a:solidFill>
                          <a:latin typeface="Calibri"/>
                        </a:rPr>
                        <a:t>Pilot users</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None yet. No patient has used SpiroBuddy</a:t>
                      </a:r>
                    </a:p>
                  </a:txBody>
                  <a:tcPr marL="91440" marR="91440" marT="54864" marB="54864" anchor="ctr">
                    <a:solidFill>
                      <a:srgbClr val="FFFFFF"/>
                    </a:solidFill>
                  </a:tcPr>
                </a:tc>
              </a:tr>
              <a:tr h="475488">
                <a:tc>
                  <a:txBody>
                    <a:bodyPr wrap="square"/>
                    <a:lstStyle/>
                    <a:p>
                      <a:pPr algn="l">
                        <a:spcBef>
                          <a:spcPts val="0"/>
                        </a:spcBef>
                        <a:spcAft>
                          <a:spcPts val="0"/>
                        </a:spcAft>
                      </a:pPr>
                      <a:r>
                        <a:rPr sz="1400" b="1" i="0">
                          <a:solidFill>
                            <a:srgbClr val="253653"/>
                          </a:solidFill>
                          <a:latin typeface="Calibri"/>
                        </a:rPr>
                        <a:t>Waitlist</a:t>
                      </a:r>
                    </a:p>
                  </a:txBody>
                  <a:tcPr marL="91440" marR="91440" marT="54864" marB="54864" anchor="ctr">
                    <a:solidFill>
                      <a:srgbClr val="F4F8FB"/>
                    </a:solidFill>
                  </a:tcPr>
                </a:tc>
                <a:tc>
                  <a:txBody>
                    <a:bodyPr wrap="square"/>
                    <a:lstStyle/>
                    <a:p>
                      <a:pPr algn="l">
                        <a:spcBef>
                          <a:spcPts val="0"/>
                        </a:spcBef>
                        <a:spcAft>
                          <a:spcPts val="0"/>
                        </a:spcAft>
                      </a:pPr>
                      <a:r>
                        <a:rPr sz="1400" b="0" i="0">
                          <a:solidFill>
                            <a:srgbClr val="1F2933"/>
                          </a:solidFill>
                          <a:latin typeface="Calibri"/>
                        </a:rPr>
                        <a:t>None</a:t>
                      </a:r>
                    </a:p>
                  </a:txBody>
                  <a:tcPr marL="91440" marR="91440" marT="54864" marB="54864" anchor="ctr">
                    <a:solidFill>
                      <a:srgbClr val="F4F8FB"/>
                    </a:solidFill>
                  </a:tcPr>
                </a:tc>
              </a:tr>
              <a:tr h="475488">
                <a:tc>
                  <a:txBody>
                    <a:bodyPr wrap="square"/>
                    <a:lstStyle/>
                    <a:p>
                      <a:pPr algn="l">
                        <a:spcBef>
                          <a:spcPts val="0"/>
                        </a:spcBef>
                        <a:spcAft>
                          <a:spcPts val="0"/>
                        </a:spcAft>
                      </a:pPr>
                      <a:r>
                        <a:rPr sz="1400" b="1" i="0">
                          <a:solidFill>
                            <a:srgbClr val="253653"/>
                          </a:solidFill>
                          <a:latin typeface="Calibri"/>
                        </a:rPr>
                        <a:t>Desk research</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Evidence, law and costs mapped before building. Every number here carries its source or the word estimate</a:t>
                      </a:r>
                    </a:p>
                  </a:txBody>
                  <a:tcPr marL="91440" marR="91440" marT="54864" marB="54864" anchor="ctr">
                    <a:solidFill>
                      <a:srgbClr val="FFFFFF"/>
                    </a:solidFill>
                  </a:tcPr>
                </a:tc>
              </a:tr>
            </a:tbl>
          </a:graphicData>
        </a:graphic>
      </p:graphicFrame>
      <p:sp>
        <p:nvSpPr>
          <p:cNvPr id="160" name="Rounded Rectangle 159"/>
          <p:cNvSpPr/>
          <p:nvPr/>
        </p:nvSpPr>
        <p:spPr>
          <a:xfrm>
            <a:off x="658368" y="5029200"/>
            <a:ext cx="5760720" cy="822960"/>
          </a:xfrm>
          <a:prstGeom prst="roundRect">
            <a:avLst>
              <a:gd name="adj" fmla="val 7777"/>
            </a:avLst>
          </a:prstGeom>
          <a:solidFill>
            <a:srgbClr val="FFFBE6"/>
          </a:solidFill>
          <a:ln w="12700">
            <a:solidFill>
              <a:srgbClr val="C9A227"/>
            </a:solidFill>
            <a:prstDash val="dash"/>
          </a:ln>
          <a:effectLst/>
        </p:spPr>
        <p:txBody>
          <a:bodyPr rtlCol="0" anchor="ctr" lIns="128016" rIns="128016" tIns="91440" bIns="91440" wrap="square"/>
          <a:lstStyle/>
          <a:p>
            <a:pPr algn="l">
              <a:spcBef>
                <a:spcPts val="0"/>
              </a:spcBef>
              <a:spcAft>
                <a:spcPts val="0"/>
              </a:spcAft>
            </a:pPr>
            <a:r>
              <a:rPr sz="1400" b="1" i="0">
                <a:solidFill>
                  <a:srgbClr val="5A3A00"/>
                </a:solidFill>
                <a:highlight>
                  <a:srgbClr val="FFE95C"/>
                </a:highlight>
                <a:latin typeface="Calibri"/>
              </a:rPr>
              <a:t>[ADD: one short interview finding or quote, used with permission]</a:t>
            </a:r>
          </a:p>
        </p:txBody>
      </p:sp>
      <p:sp>
        <p:nvSpPr>
          <p:cNvPr id="161" name="TextBox 160"/>
          <p:cNvSpPr txBox="1"/>
          <p:nvPr/>
        </p:nvSpPr>
        <p:spPr>
          <a:xfrm>
            <a:off x="6720840" y="1810512"/>
            <a:ext cx="4818888" cy="329184"/>
          </a:xfrm>
          <a:prstGeom prst="rect">
            <a:avLst/>
          </a:prstGeom>
          <a:noFill/>
        </p:spPr>
        <p:txBody>
          <a:bodyPr wrap="square" lIns="0" rIns="0" tIns="0" bIns="0" anchor="ctr">
            <a:spAutoFit/>
          </a:bodyPr>
          <a:lstStyle/>
          <a:p>
            <a:pPr algn="l">
              <a:spcBef>
                <a:spcPts val="0"/>
              </a:spcBef>
              <a:spcAft>
                <a:spcPts val="0"/>
              </a:spcAft>
            </a:pPr>
            <a:r>
              <a:rPr sz="1600" b="1" i="0">
                <a:solidFill>
                  <a:srgbClr val="253653"/>
                </a:solidFill>
                <a:latin typeface="Calibri"/>
              </a:rPr>
              <a:t>What published research already tells us</a:t>
            </a:r>
          </a:p>
        </p:txBody>
      </p:sp>
      <p:sp>
        <p:nvSpPr>
          <p:cNvPr id="162" name="Rounded Rectangle 161"/>
          <p:cNvSpPr/>
          <p:nvPr/>
        </p:nvSpPr>
        <p:spPr>
          <a:xfrm>
            <a:off x="6720840" y="2240280"/>
            <a:ext cx="4818888" cy="1115568"/>
          </a:xfrm>
          <a:prstGeom prst="roundRect">
            <a:avLst>
              <a:gd name="adj" fmla="val 5737"/>
            </a:avLst>
          </a:prstGeom>
          <a:solidFill>
            <a:srgbClr val="EAF4FB"/>
          </a:solidFill>
          <a:ln>
            <a:noFill/>
          </a:ln>
          <a:effectLst/>
        </p:spPr>
        <p:txBody>
          <a:bodyPr rtlCol="0" anchor="t" lIns="128016" rIns="128016" tIns="91440" bIns="91440"/>
          <a:lstStyle/>
          <a:p>
            <a:pPr algn="ctr"/>
          </a:p>
        </p:txBody>
      </p:sp>
      <p:sp>
        <p:nvSpPr>
          <p:cNvPr id="163" name="TextBox 162"/>
          <p:cNvSpPr txBox="1"/>
          <p:nvPr/>
        </p:nvSpPr>
        <p:spPr>
          <a:xfrm>
            <a:off x="6858000" y="2240280"/>
            <a:ext cx="1828800" cy="1115568"/>
          </a:xfrm>
          <a:prstGeom prst="rect">
            <a:avLst/>
          </a:prstGeom>
          <a:noFill/>
        </p:spPr>
        <p:txBody>
          <a:bodyPr wrap="square" lIns="0" rIns="0" tIns="0" bIns="0" anchor="ctr">
            <a:spAutoFit/>
          </a:bodyPr>
          <a:lstStyle/>
          <a:p>
            <a:pPr algn="l">
              <a:spcBef>
                <a:spcPts val="0"/>
              </a:spcBef>
              <a:spcAft>
                <a:spcPts val="0"/>
              </a:spcAft>
            </a:pPr>
            <a:r>
              <a:rPr sz="2700" b="1" i="0">
                <a:solidFill>
                  <a:srgbClr val="38A0D8"/>
                </a:solidFill>
                <a:latin typeface="Calibri"/>
              </a:rPr>
              <a:t>28% → 58%</a:t>
            </a:r>
          </a:p>
        </p:txBody>
      </p:sp>
      <p:sp>
        <p:nvSpPr>
          <p:cNvPr id="164" name="TextBox 163"/>
          <p:cNvSpPr txBox="1"/>
          <p:nvPr/>
        </p:nvSpPr>
        <p:spPr>
          <a:xfrm>
            <a:off x="8732520" y="2313432"/>
            <a:ext cx="2670047" cy="969264"/>
          </a:xfrm>
          <a:prstGeom prst="rect">
            <a:avLst/>
          </a:prstGeom>
          <a:noFill/>
        </p:spPr>
        <p:txBody>
          <a:bodyPr wrap="square" lIns="0" rIns="0" tIns="0" bIns="0" anchor="ctr">
            <a:spAutoFit/>
          </a:bodyPr>
          <a:lstStyle/>
          <a:p>
            <a:pPr algn="l">
              <a:spcBef>
                <a:spcPts val="0"/>
              </a:spcBef>
              <a:spcAft>
                <a:spcPts val="200"/>
              </a:spcAft>
            </a:pPr>
            <a:r>
              <a:rPr sz="1400" b="0" i="0">
                <a:solidFill>
                  <a:srgbClr val="1F2933"/>
                </a:solidFill>
                <a:latin typeface="Calibri"/>
              </a:rPr>
              <a:t>of waking hours with exercise, when patients got an hourly reminder</a:t>
            </a:r>
          </a:p>
          <a:p>
            <a:pPr algn="l">
              <a:spcBef>
                <a:spcPts val="0"/>
              </a:spcBef>
              <a:spcAft>
                <a:spcPts val="0"/>
              </a:spcAft>
            </a:pPr>
            <a:r>
              <a:rPr sz="1000" b="0" i="0">
                <a:solidFill>
                  <a:srgbClr val="5B6B7D"/>
                </a:solidFill>
                <a:latin typeface="Calibri"/>
              </a:rPr>
              <a:t>US randomised trial, 145 patients. JAMA Surgery 2019</a:t>
            </a:r>
          </a:p>
        </p:txBody>
      </p:sp>
      <p:sp>
        <p:nvSpPr>
          <p:cNvPr id="165" name="Rounded Rectangle 164"/>
          <p:cNvSpPr/>
          <p:nvPr/>
        </p:nvSpPr>
        <p:spPr>
          <a:xfrm>
            <a:off x="6720840" y="3465576"/>
            <a:ext cx="4818888" cy="1115568"/>
          </a:xfrm>
          <a:prstGeom prst="roundRect">
            <a:avLst>
              <a:gd name="adj" fmla="val 5737"/>
            </a:avLst>
          </a:prstGeom>
          <a:solidFill>
            <a:srgbClr val="EAF4FB"/>
          </a:solidFill>
          <a:ln>
            <a:noFill/>
          </a:ln>
          <a:effectLst/>
        </p:spPr>
        <p:txBody>
          <a:bodyPr rtlCol="0" anchor="t" lIns="128016" rIns="128016" tIns="91440" bIns="91440"/>
          <a:lstStyle/>
          <a:p>
            <a:pPr algn="ctr"/>
          </a:p>
        </p:txBody>
      </p:sp>
      <p:sp>
        <p:nvSpPr>
          <p:cNvPr id="166" name="TextBox 165"/>
          <p:cNvSpPr txBox="1"/>
          <p:nvPr/>
        </p:nvSpPr>
        <p:spPr>
          <a:xfrm>
            <a:off x="6858000" y="3465576"/>
            <a:ext cx="1828800" cy="1115568"/>
          </a:xfrm>
          <a:prstGeom prst="rect">
            <a:avLst/>
          </a:prstGeom>
          <a:noFill/>
        </p:spPr>
        <p:txBody>
          <a:bodyPr wrap="square" lIns="0" rIns="0" tIns="0" bIns="0" anchor="ctr">
            <a:spAutoFit/>
          </a:bodyPr>
          <a:lstStyle/>
          <a:p>
            <a:pPr algn="l">
              <a:spcBef>
                <a:spcPts val="0"/>
              </a:spcBef>
              <a:spcAft>
                <a:spcPts val="0"/>
              </a:spcAft>
            </a:pPr>
            <a:r>
              <a:rPr sz="2700" b="1" i="0">
                <a:solidFill>
                  <a:srgbClr val="38A0D8"/>
                </a:solidFill>
                <a:latin typeface="Calibri"/>
              </a:rPr>
              <a:t>6% → 72%</a:t>
            </a:r>
          </a:p>
        </p:txBody>
      </p:sp>
      <p:sp>
        <p:nvSpPr>
          <p:cNvPr id="167" name="TextBox 166"/>
          <p:cNvSpPr txBox="1"/>
          <p:nvPr/>
        </p:nvSpPr>
        <p:spPr>
          <a:xfrm>
            <a:off x="8732520" y="3538728"/>
            <a:ext cx="2670047" cy="969264"/>
          </a:xfrm>
          <a:prstGeom prst="rect">
            <a:avLst/>
          </a:prstGeom>
          <a:noFill/>
        </p:spPr>
        <p:txBody>
          <a:bodyPr wrap="square" lIns="0" rIns="0" tIns="0" bIns="0" anchor="ctr">
            <a:spAutoFit/>
          </a:bodyPr>
          <a:lstStyle/>
          <a:p>
            <a:pPr algn="l">
              <a:spcBef>
                <a:spcPts val="0"/>
              </a:spcBef>
              <a:spcAft>
                <a:spcPts val="200"/>
              </a:spcAft>
            </a:pPr>
            <a:r>
              <a:rPr sz="1400" b="0" i="0">
                <a:solidFill>
                  <a:srgbClr val="1F2933"/>
                </a:solidFill>
                <a:latin typeface="Calibri"/>
              </a:rPr>
              <a:t>did the exercise properly: day 1, then day 3 after teaching</a:t>
            </a:r>
          </a:p>
          <a:p>
            <a:pPr algn="l">
              <a:spcBef>
                <a:spcPts val="0"/>
              </a:spcBef>
              <a:spcAft>
                <a:spcPts val="0"/>
              </a:spcAft>
            </a:pPr>
            <a:r>
              <a:rPr sz="1000" b="0" i="0">
                <a:solidFill>
                  <a:srgbClr val="5B6B7D"/>
                </a:solidFill>
                <a:latin typeface="Calibri"/>
              </a:rPr>
              <a:t>Chennai hospital, 60 patients. J Pharm Bioallied Sci 2024</a:t>
            </a:r>
          </a:p>
        </p:txBody>
      </p:sp>
      <p:sp>
        <p:nvSpPr>
          <p:cNvPr id="168" name="Rounded Rectangle 167"/>
          <p:cNvSpPr/>
          <p:nvPr/>
        </p:nvSpPr>
        <p:spPr>
          <a:xfrm>
            <a:off x="6720840" y="4690872"/>
            <a:ext cx="4818888" cy="1115568"/>
          </a:xfrm>
          <a:prstGeom prst="roundRect">
            <a:avLst>
              <a:gd name="adj" fmla="val 5737"/>
            </a:avLst>
          </a:prstGeom>
          <a:solidFill>
            <a:srgbClr val="EAF4FB"/>
          </a:solidFill>
          <a:ln>
            <a:noFill/>
          </a:ln>
          <a:effectLst/>
        </p:spPr>
        <p:txBody>
          <a:bodyPr rtlCol="0" anchor="t" lIns="128016" rIns="128016" tIns="91440" bIns="91440"/>
          <a:lstStyle/>
          <a:p>
            <a:pPr algn="ctr"/>
          </a:p>
        </p:txBody>
      </p:sp>
      <p:sp>
        <p:nvSpPr>
          <p:cNvPr id="169" name="TextBox 168"/>
          <p:cNvSpPr txBox="1"/>
          <p:nvPr/>
        </p:nvSpPr>
        <p:spPr>
          <a:xfrm>
            <a:off x="6858000" y="4690872"/>
            <a:ext cx="1828800" cy="1115568"/>
          </a:xfrm>
          <a:prstGeom prst="rect">
            <a:avLst/>
          </a:prstGeom>
          <a:noFill/>
        </p:spPr>
        <p:txBody>
          <a:bodyPr wrap="square" lIns="0" rIns="0" tIns="0" bIns="0" anchor="ctr">
            <a:spAutoFit/>
          </a:bodyPr>
          <a:lstStyle/>
          <a:p>
            <a:pPr algn="l">
              <a:spcBef>
                <a:spcPts val="0"/>
              </a:spcBef>
              <a:spcAft>
                <a:spcPts val="0"/>
              </a:spcAft>
            </a:pPr>
            <a:r>
              <a:rPr sz="2700" b="1" i="0">
                <a:solidFill>
                  <a:srgbClr val="38A0D8"/>
                </a:solidFill>
                <a:latin typeface="Calibri"/>
              </a:rPr>
              <a:t>246 of 260</a:t>
            </a:r>
          </a:p>
        </p:txBody>
      </p:sp>
      <p:sp>
        <p:nvSpPr>
          <p:cNvPr id="170" name="TextBox 169"/>
          <p:cNvSpPr txBox="1"/>
          <p:nvPr/>
        </p:nvSpPr>
        <p:spPr>
          <a:xfrm>
            <a:off x="8732520" y="4764024"/>
            <a:ext cx="2670047" cy="969264"/>
          </a:xfrm>
          <a:prstGeom prst="rect">
            <a:avLst/>
          </a:prstGeom>
          <a:noFill/>
        </p:spPr>
        <p:txBody>
          <a:bodyPr wrap="square" lIns="0" rIns="0" tIns="0" bIns="0" anchor="ctr">
            <a:spAutoFit/>
          </a:bodyPr>
          <a:lstStyle/>
          <a:p>
            <a:pPr algn="l">
              <a:spcBef>
                <a:spcPts val="0"/>
              </a:spcBef>
              <a:spcAft>
                <a:spcPts val="200"/>
              </a:spcAft>
            </a:pPr>
            <a:r>
              <a:rPr sz="1400" b="0" i="0">
                <a:solidFill>
                  <a:srgbClr val="1F2933"/>
                </a:solidFill>
                <a:latin typeface="Calibri"/>
              </a:rPr>
              <a:t>TB survivors completed 12 weeks of home lung rehab with phone follow-up</a:t>
            </a:r>
          </a:p>
          <a:p>
            <a:pPr algn="l">
              <a:spcBef>
                <a:spcPts val="0"/>
              </a:spcBef>
              <a:spcAft>
                <a:spcPts val="0"/>
              </a:spcAft>
            </a:pPr>
            <a:r>
              <a:rPr sz="1000" b="0" i="0">
                <a:solidFill>
                  <a:srgbClr val="5B6B7D"/>
                </a:solidFill>
                <a:latin typeface="Calibri"/>
              </a:rPr>
              <a:t>5 Indian centres, no comparison group. Indian J Med Res 2025</a:t>
            </a:r>
          </a:p>
        </p:txBody>
      </p:sp>
      <p:sp>
        <p:nvSpPr>
          <p:cNvPr id="171" name="TextBox 170"/>
          <p:cNvSpPr txBox="1"/>
          <p:nvPr/>
        </p:nvSpPr>
        <p:spPr>
          <a:xfrm>
            <a:off x="658368" y="6035040"/>
            <a:ext cx="9326880" cy="402336"/>
          </a:xfrm>
          <a:prstGeom prst="rect">
            <a:avLst/>
          </a:prstGeom>
          <a:noFill/>
        </p:spPr>
        <p:txBody>
          <a:bodyPr wrap="square" lIns="0" rIns="0" tIns="0" bIns="0" anchor="b">
            <a:spAutoFit/>
          </a:bodyPr>
          <a:lstStyle/>
          <a:p>
            <a:pPr algn="l">
              <a:spcBef>
                <a:spcPts val="0"/>
              </a:spcBef>
              <a:spcAft>
                <a:spcPts val="0"/>
              </a:spcAft>
            </a:pPr>
            <a:r>
              <a:rPr sz="1000" b="0" i="0">
                <a:solidFill>
                  <a:srgbClr val="5B6B7D"/>
                </a:solidFill>
                <a:latin typeface="Calibri"/>
              </a:rPr>
              <a:t>Next step: interviews with hospital teams on who pays (the price is not yet tested with a hospital), then the 30-patient ward pilot.</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2"/>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3000">
                <a:solidFill>
                  <a:schemeClr val="accent4"/>
                </a:solidFill>
                <a:latin typeface="Play"/>
                <a:ea typeface="Play"/>
                <a:cs typeface="Play"/>
                <a:sym typeface="Play"/>
              </a:rPr>
              <a:t>Scalability</a:t>
            </a:r>
            <a:endParaRPr sz="2400">
              <a:solidFill>
                <a:schemeClr val="accent4"/>
              </a:solidFill>
              <a:latin typeface="Calibri"/>
              <a:ea typeface="Calibri"/>
              <a:cs typeface="Calibri"/>
              <a:sym typeface="Calibri"/>
            </a:endParaRPr>
          </a:p>
        </p:txBody>
      </p:sp>
      <p:sp>
        <p:nvSpPr>
          <p:cNvPr id="165" name="Google Shape;165;p12"/>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 name="Google Shape;166;p12"/>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 name="Google Shape;167;p12"/>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 name="Google Shape;168;p12"/>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 name="Google Shape;169;p12"/>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170" name="Google Shape;170;p12"/>
          <p:cNvSpPr txBox="1"/>
          <p:nvPr/>
        </p:nvSpPr>
        <p:spPr>
          <a:xfrm>
            <a:off x="11109960" y="6569294"/>
            <a:ext cx="438912" cy="138499"/>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13</a:t>
            </a:r>
            <a:endParaRPr/>
          </a:p>
        </p:txBody>
      </p:sp>
      <p:pic>
        <p:nvPicPr>
          <p:cNvPr id="171" name="Picture 170" descr="Dolphin Tank India logo"/>
          <p:cNvPicPr>
            <a:picLocks noChangeAspect="1"/>
          </p:cNvPicPr>
          <p:nvPr/>
        </p:nvPicPr>
        <p:blipFill>
          <a:blip r:embed="rId3"/>
          <a:stretch>
            <a:fillRect/>
          </a:stretch>
        </p:blipFill>
        <p:spPr>
          <a:xfrm>
            <a:off x="10669520" y="146304"/>
            <a:ext cx="1387352" cy="654087"/>
          </a:xfrm>
          <a:prstGeom prst="rect">
            <a:avLst/>
          </a:prstGeom>
        </p:spPr>
      </p:pic>
      <p:sp>
        <p:nvSpPr>
          <p:cNvPr id="172" name="TextBox 171"/>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One shared platform, each hospital kept apart. Growth is staged; every stage after today is Planned.</a:t>
            </a:r>
          </a:p>
        </p:txBody>
      </p:sp>
      <p:sp>
        <p:nvSpPr>
          <p:cNvPr id="173" name="Pentagon 172"/>
          <p:cNvSpPr/>
          <p:nvPr/>
        </p:nvSpPr>
        <p:spPr>
          <a:xfrm>
            <a:off x="658368" y="1828800"/>
            <a:ext cx="2331720" cy="713232"/>
          </a:xfrm>
          <a:prstGeom prst="homePlate">
            <a:avLst/>
          </a:prstGeom>
          <a:solidFill>
            <a:srgbClr val="253653"/>
          </a:solidFill>
          <a:ln>
            <a:noFill/>
          </a:ln>
          <a:effectLst/>
        </p:spPr>
        <p:txBody>
          <a:bodyPr rtlCol="0" anchor="ctr" lIns="274320" rIns="274320" tIns="91440" bIns="91440" wrap="square"/>
          <a:lstStyle/>
          <a:p>
            <a:pPr algn="ctr">
              <a:spcBef>
                <a:spcPts val="0"/>
              </a:spcBef>
              <a:spcAft>
                <a:spcPts val="0"/>
              </a:spcAft>
            </a:pPr>
            <a:r>
              <a:rPr sz="1500" b="1" i="0">
                <a:solidFill>
                  <a:srgbClr val="FFFFFF"/>
                </a:solidFill>
                <a:latin typeface="Calibri"/>
              </a:rPr>
              <a:t>Today</a:t>
            </a:r>
          </a:p>
        </p:txBody>
      </p:sp>
      <p:sp>
        <p:nvSpPr>
          <p:cNvPr id="174" name="TextBox 173"/>
          <p:cNvSpPr txBox="1"/>
          <p:nvPr/>
        </p:nvSpPr>
        <p:spPr>
          <a:xfrm>
            <a:off x="886968" y="2578608"/>
            <a:ext cx="1874519" cy="274320"/>
          </a:xfrm>
          <a:prstGeom prst="rect">
            <a:avLst/>
          </a:prstGeom>
          <a:noFill/>
        </p:spPr>
        <p:txBody>
          <a:bodyPr wrap="square" lIns="0" rIns="0" tIns="0" bIns="0" anchor="t">
            <a:spAutoFit/>
          </a:bodyPr>
          <a:lstStyle/>
          <a:p>
            <a:pPr algn="ctr">
              <a:spcBef>
                <a:spcPts val="0"/>
              </a:spcBef>
              <a:spcAft>
                <a:spcPts val="0"/>
              </a:spcAft>
            </a:pPr>
            <a:r>
              <a:rPr sz="1300" b="1" i="0">
                <a:solidFill>
                  <a:srgbClr val="1B7035"/>
                </a:solidFill>
                <a:latin typeface="Calibri"/>
              </a:rPr>
              <a:t>Live demo</a:t>
            </a:r>
          </a:p>
        </p:txBody>
      </p:sp>
      <p:sp>
        <p:nvSpPr>
          <p:cNvPr id="175" name="Chevron 174"/>
          <p:cNvSpPr/>
          <p:nvPr/>
        </p:nvSpPr>
        <p:spPr>
          <a:xfrm>
            <a:off x="2798063" y="1828800"/>
            <a:ext cx="2331720" cy="713232"/>
          </a:xfrm>
          <a:prstGeom prst="chevron">
            <a:avLst/>
          </a:prstGeom>
          <a:solidFill>
            <a:srgbClr val="EAF4FB"/>
          </a:solidFill>
          <a:ln>
            <a:noFill/>
          </a:ln>
          <a:effectLst/>
        </p:spPr>
        <p:txBody>
          <a:bodyPr rtlCol="0" anchor="ctr" lIns="274320" rIns="274320" tIns="91440" bIns="91440" wrap="square"/>
          <a:lstStyle/>
          <a:p>
            <a:pPr algn="ctr">
              <a:spcBef>
                <a:spcPts val="0"/>
              </a:spcBef>
              <a:spcAft>
                <a:spcPts val="0"/>
              </a:spcAft>
            </a:pPr>
            <a:r>
              <a:rPr sz="1500" b="1" i="0">
                <a:solidFill>
                  <a:srgbClr val="253653"/>
                </a:solidFill>
                <a:latin typeface="Calibri"/>
              </a:rPr>
              <a:t>1 pilot hospital</a:t>
            </a:r>
          </a:p>
        </p:txBody>
      </p:sp>
      <p:sp>
        <p:nvSpPr>
          <p:cNvPr id="176" name="TextBox 175"/>
          <p:cNvSpPr txBox="1"/>
          <p:nvPr/>
        </p:nvSpPr>
        <p:spPr>
          <a:xfrm>
            <a:off x="3026663" y="2578608"/>
            <a:ext cx="1874519" cy="274320"/>
          </a:xfrm>
          <a:prstGeom prst="rect">
            <a:avLst/>
          </a:prstGeom>
          <a:noFill/>
        </p:spPr>
        <p:txBody>
          <a:bodyPr wrap="square" lIns="0" rIns="0" tIns="0" bIns="0" anchor="t">
            <a:spAutoFit/>
          </a:bodyPr>
          <a:lstStyle/>
          <a:p>
            <a:pPr algn="ctr">
              <a:spcBef>
                <a:spcPts val="0"/>
              </a:spcBef>
              <a:spcAft>
                <a:spcPts val="0"/>
              </a:spcAft>
            </a:pPr>
            <a:r>
              <a:rPr sz="1300" b="1" i="0">
                <a:solidFill>
                  <a:srgbClr val="5B6B7D"/>
                </a:solidFill>
                <a:latin typeface="Calibri"/>
              </a:rPr>
              <a:t>Planned</a:t>
            </a:r>
          </a:p>
        </p:txBody>
      </p:sp>
      <p:sp>
        <p:nvSpPr>
          <p:cNvPr id="177" name="Chevron 176"/>
          <p:cNvSpPr/>
          <p:nvPr/>
        </p:nvSpPr>
        <p:spPr>
          <a:xfrm>
            <a:off x="4937759" y="1828800"/>
            <a:ext cx="2331720" cy="713232"/>
          </a:xfrm>
          <a:prstGeom prst="chevron">
            <a:avLst/>
          </a:prstGeom>
          <a:solidFill>
            <a:srgbClr val="EAF4FB"/>
          </a:solidFill>
          <a:ln>
            <a:noFill/>
          </a:ln>
          <a:effectLst/>
        </p:spPr>
        <p:txBody>
          <a:bodyPr rtlCol="0" anchor="ctr" lIns="274320" rIns="274320" tIns="91440" bIns="91440" wrap="square"/>
          <a:lstStyle/>
          <a:p>
            <a:pPr algn="ctr">
              <a:spcBef>
                <a:spcPts val="0"/>
              </a:spcBef>
              <a:spcAft>
                <a:spcPts val="0"/>
              </a:spcAft>
            </a:pPr>
            <a:r>
              <a:rPr sz="1500" b="1" i="0">
                <a:solidFill>
                  <a:srgbClr val="253653"/>
                </a:solidFill>
                <a:latin typeface="Calibri"/>
              </a:rPr>
              <a:t>10 hospitals</a:t>
            </a:r>
          </a:p>
        </p:txBody>
      </p:sp>
      <p:sp>
        <p:nvSpPr>
          <p:cNvPr id="178" name="TextBox 177"/>
          <p:cNvSpPr txBox="1"/>
          <p:nvPr/>
        </p:nvSpPr>
        <p:spPr>
          <a:xfrm>
            <a:off x="5166359" y="2578608"/>
            <a:ext cx="1874519" cy="274320"/>
          </a:xfrm>
          <a:prstGeom prst="rect">
            <a:avLst/>
          </a:prstGeom>
          <a:noFill/>
        </p:spPr>
        <p:txBody>
          <a:bodyPr wrap="square" lIns="0" rIns="0" tIns="0" bIns="0" anchor="t">
            <a:spAutoFit/>
          </a:bodyPr>
          <a:lstStyle/>
          <a:p>
            <a:pPr algn="ctr">
              <a:spcBef>
                <a:spcPts val="0"/>
              </a:spcBef>
              <a:spcAft>
                <a:spcPts val="0"/>
              </a:spcAft>
            </a:pPr>
            <a:r>
              <a:rPr sz="1300" b="1" i="0">
                <a:solidFill>
                  <a:srgbClr val="5B6B7D"/>
                </a:solidFill>
                <a:latin typeface="Calibri"/>
              </a:rPr>
              <a:t>Planned</a:t>
            </a:r>
          </a:p>
        </p:txBody>
      </p:sp>
      <p:sp>
        <p:nvSpPr>
          <p:cNvPr id="179" name="Chevron 178"/>
          <p:cNvSpPr/>
          <p:nvPr/>
        </p:nvSpPr>
        <p:spPr>
          <a:xfrm>
            <a:off x="7077455" y="1828800"/>
            <a:ext cx="2331720" cy="713232"/>
          </a:xfrm>
          <a:prstGeom prst="chevron">
            <a:avLst/>
          </a:prstGeom>
          <a:solidFill>
            <a:srgbClr val="EAF4FB"/>
          </a:solidFill>
          <a:ln>
            <a:noFill/>
          </a:ln>
          <a:effectLst/>
        </p:spPr>
        <p:txBody>
          <a:bodyPr rtlCol="0" anchor="ctr" lIns="274320" rIns="274320" tIns="91440" bIns="91440" wrap="square"/>
          <a:lstStyle/>
          <a:p>
            <a:pPr algn="ctr">
              <a:spcBef>
                <a:spcPts val="0"/>
              </a:spcBef>
              <a:spcAft>
                <a:spcPts val="0"/>
              </a:spcAft>
            </a:pPr>
            <a:r>
              <a:rPr sz="1500" b="1" i="0">
                <a:solidFill>
                  <a:srgbClr val="253653"/>
                </a:solidFill>
                <a:latin typeface="Calibri"/>
              </a:rPr>
              <a:t>100 hospitals</a:t>
            </a:r>
          </a:p>
        </p:txBody>
      </p:sp>
      <p:sp>
        <p:nvSpPr>
          <p:cNvPr id="180" name="TextBox 179"/>
          <p:cNvSpPr txBox="1"/>
          <p:nvPr/>
        </p:nvSpPr>
        <p:spPr>
          <a:xfrm>
            <a:off x="7306055" y="2578608"/>
            <a:ext cx="1874519" cy="274320"/>
          </a:xfrm>
          <a:prstGeom prst="rect">
            <a:avLst/>
          </a:prstGeom>
          <a:noFill/>
        </p:spPr>
        <p:txBody>
          <a:bodyPr wrap="square" lIns="0" rIns="0" tIns="0" bIns="0" anchor="t">
            <a:spAutoFit/>
          </a:bodyPr>
          <a:lstStyle/>
          <a:p>
            <a:pPr algn="ctr">
              <a:spcBef>
                <a:spcPts val="0"/>
              </a:spcBef>
              <a:spcAft>
                <a:spcPts val="0"/>
              </a:spcAft>
            </a:pPr>
            <a:r>
              <a:rPr sz="1300" b="1" i="0">
                <a:solidFill>
                  <a:srgbClr val="5B6B7D"/>
                </a:solidFill>
                <a:latin typeface="Calibri"/>
              </a:rPr>
              <a:t>Planned</a:t>
            </a:r>
          </a:p>
        </p:txBody>
      </p:sp>
      <p:sp>
        <p:nvSpPr>
          <p:cNvPr id="181" name="Chevron 180"/>
          <p:cNvSpPr/>
          <p:nvPr/>
        </p:nvSpPr>
        <p:spPr>
          <a:xfrm>
            <a:off x="9217152" y="1828800"/>
            <a:ext cx="2331720" cy="713232"/>
          </a:xfrm>
          <a:prstGeom prst="chevron">
            <a:avLst/>
          </a:prstGeom>
          <a:solidFill>
            <a:srgbClr val="EAF4FB"/>
          </a:solidFill>
          <a:ln>
            <a:noFill/>
          </a:ln>
          <a:effectLst/>
        </p:spPr>
        <p:txBody>
          <a:bodyPr rtlCol="0" anchor="ctr" lIns="274320" rIns="274320" tIns="91440" bIns="91440" wrap="square"/>
          <a:lstStyle/>
          <a:p>
            <a:pPr algn="ctr">
              <a:spcBef>
                <a:spcPts val="0"/>
              </a:spcBef>
              <a:spcAft>
                <a:spcPts val="0"/>
              </a:spcAft>
            </a:pPr>
            <a:r>
              <a:rPr sz="1500" b="1" i="0">
                <a:solidFill>
                  <a:srgbClr val="253653"/>
                </a:solidFill>
                <a:latin typeface="Calibri"/>
              </a:rPr>
              <a:t>State programmes</a:t>
            </a:r>
          </a:p>
        </p:txBody>
      </p:sp>
      <p:sp>
        <p:nvSpPr>
          <p:cNvPr id="182" name="TextBox 181"/>
          <p:cNvSpPr txBox="1"/>
          <p:nvPr/>
        </p:nvSpPr>
        <p:spPr>
          <a:xfrm>
            <a:off x="9445752" y="2578608"/>
            <a:ext cx="1874519" cy="274320"/>
          </a:xfrm>
          <a:prstGeom prst="rect">
            <a:avLst/>
          </a:prstGeom>
          <a:noFill/>
        </p:spPr>
        <p:txBody>
          <a:bodyPr wrap="square" lIns="0" rIns="0" tIns="0" bIns="0" anchor="t">
            <a:spAutoFit/>
          </a:bodyPr>
          <a:lstStyle/>
          <a:p>
            <a:pPr algn="ctr">
              <a:spcBef>
                <a:spcPts val="0"/>
              </a:spcBef>
              <a:spcAft>
                <a:spcPts val="0"/>
              </a:spcAft>
            </a:pPr>
            <a:r>
              <a:rPr sz="1300" b="1" i="0">
                <a:solidFill>
                  <a:srgbClr val="5B6B7D"/>
                </a:solidFill>
                <a:latin typeface="Calibri"/>
              </a:rPr>
              <a:t>Planned</a:t>
            </a:r>
          </a:p>
        </p:txBody>
      </p:sp>
      <p:sp>
        <p:nvSpPr>
          <p:cNvPr id="183" name="Rounded Rectangle 182"/>
          <p:cNvSpPr/>
          <p:nvPr/>
        </p:nvSpPr>
        <p:spPr>
          <a:xfrm>
            <a:off x="658368" y="3017520"/>
            <a:ext cx="2560320" cy="1371600"/>
          </a:xfrm>
          <a:prstGeom prst="roundRect">
            <a:avLst>
              <a:gd name="adj" fmla="val 4666"/>
            </a:avLst>
          </a:prstGeom>
          <a:solidFill>
            <a:srgbClr val="EAF4FB"/>
          </a:solidFill>
          <a:ln>
            <a:noFill/>
          </a:ln>
          <a:effectLst/>
        </p:spPr>
        <p:txBody>
          <a:bodyPr rtlCol="0" anchor="t" lIns="128016" rIns="128016" tIns="91440" bIns="91440"/>
          <a:lstStyle/>
          <a:p>
            <a:pPr algn="ctr"/>
          </a:p>
        </p:txBody>
      </p:sp>
      <p:sp>
        <p:nvSpPr>
          <p:cNvPr id="184" name="TextBox 183"/>
          <p:cNvSpPr txBox="1"/>
          <p:nvPr/>
        </p:nvSpPr>
        <p:spPr>
          <a:xfrm>
            <a:off x="749808" y="3072384"/>
            <a:ext cx="2377440" cy="566928"/>
          </a:xfrm>
          <a:prstGeom prst="rect">
            <a:avLst/>
          </a:prstGeom>
          <a:noFill/>
        </p:spPr>
        <p:txBody>
          <a:bodyPr wrap="square" lIns="0" rIns="0" tIns="0" bIns="0" anchor="ctr">
            <a:spAutoFit/>
          </a:bodyPr>
          <a:lstStyle/>
          <a:p>
            <a:pPr algn="ctr">
              <a:spcBef>
                <a:spcPts val="0"/>
              </a:spcBef>
              <a:spcAft>
                <a:spcPts val="0"/>
              </a:spcAft>
            </a:pPr>
            <a:r>
              <a:rPr sz="3000" b="1" i="0">
                <a:solidFill>
                  <a:srgbClr val="38A0D8"/>
                </a:solidFill>
                <a:latin typeface="Calibri"/>
              </a:rPr>
              <a:t>₹2,500</a:t>
            </a:r>
          </a:p>
        </p:txBody>
      </p:sp>
      <p:sp>
        <p:nvSpPr>
          <p:cNvPr id="185" name="TextBox 184"/>
          <p:cNvSpPr txBox="1"/>
          <p:nvPr/>
        </p:nvSpPr>
        <p:spPr>
          <a:xfrm>
            <a:off x="749808" y="3639312"/>
            <a:ext cx="2377440" cy="685800"/>
          </a:xfrm>
          <a:prstGeom prst="rect">
            <a:avLst/>
          </a:prstGeom>
          <a:noFill/>
        </p:spPr>
        <p:txBody>
          <a:bodyPr wrap="square" lIns="0" rIns="0" tIns="0" bIns="0" anchor="t">
            <a:spAutoFit/>
          </a:bodyPr>
          <a:lstStyle/>
          <a:p>
            <a:pPr algn="ctr">
              <a:spcBef>
                <a:spcPts val="0"/>
              </a:spcBef>
              <a:spcAft>
                <a:spcPts val="100"/>
              </a:spcAft>
            </a:pPr>
            <a:r>
              <a:rPr sz="1500" b="0" i="0">
                <a:solidFill>
                  <a:srgbClr val="1F2933"/>
                </a:solidFill>
                <a:latin typeface="Calibri"/>
              </a:rPr>
              <a:t>parts per unit</a:t>
            </a:r>
          </a:p>
          <a:p>
            <a:pPr algn="ctr">
              <a:spcBef>
                <a:spcPts val="0"/>
              </a:spcBef>
              <a:spcAft>
                <a:spcPts val="0"/>
              </a:spcAft>
            </a:pPr>
            <a:r>
              <a:rPr sz="1100" b="0" i="1">
                <a:solidFill>
                  <a:srgbClr val="5B6B7D"/>
                </a:solidFill>
                <a:latin typeface="Calibri"/>
              </a:rPr>
              <a:t>estimate</a:t>
            </a:r>
          </a:p>
        </p:txBody>
      </p:sp>
      <p:sp>
        <p:nvSpPr>
          <p:cNvPr id="186" name="Rounded Rectangle 185"/>
          <p:cNvSpPr/>
          <p:nvPr/>
        </p:nvSpPr>
        <p:spPr>
          <a:xfrm>
            <a:off x="3432017" y="3017520"/>
            <a:ext cx="2560320" cy="1371600"/>
          </a:xfrm>
          <a:prstGeom prst="roundRect">
            <a:avLst>
              <a:gd name="adj" fmla="val 4666"/>
            </a:avLst>
          </a:prstGeom>
          <a:solidFill>
            <a:srgbClr val="EAF4FB"/>
          </a:solidFill>
          <a:ln>
            <a:noFill/>
          </a:ln>
          <a:effectLst/>
        </p:spPr>
        <p:txBody>
          <a:bodyPr rtlCol="0" anchor="t" lIns="128016" rIns="128016" tIns="91440" bIns="91440"/>
          <a:lstStyle/>
          <a:p>
            <a:pPr algn="ctr"/>
          </a:p>
        </p:txBody>
      </p:sp>
      <p:sp>
        <p:nvSpPr>
          <p:cNvPr id="187" name="TextBox 186"/>
          <p:cNvSpPr txBox="1"/>
          <p:nvPr/>
        </p:nvSpPr>
        <p:spPr>
          <a:xfrm>
            <a:off x="3523457" y="3072384"/>
            <a:ext cx="2377440" cy="566928"/>
          </a:xfrm>
          <a:prstGeom prst="rect">
            <a:avLst/>
          </a:prstGeom>
          <a:noFill/>
        </p:spPr>
        <p:txBody>
          <a:bodyPr wrap="square" lIns="0" rIns="0" tIns="0" bIns="0" anchor="ctr">
            <a:spAutoFit/>
          </a:bodyPr>
          <a:lstStyle/>
          <a:p>
            <a:pPr algn="ctr">
              <a:spcBef>
                <a:spcPts val="0"/>
              </a:spcBef>
              <a:spcAft>
                <a:spcPts val="0"/>
              </a:spcAft>
            </a:pPr>
            <a:r>
              <a:rPr sz="3000" b="1" i="0">
                <a:solidFill>
                  <a:srgbClr val="38A0D8"/>
                </a:solidFill>
                <a:latin typeface="Calibri"/>
              </a:rPr>
              <a:t>about 10</a:t>
            </a:r>
          </a:p>
        </p:txBody>
      </p:sp>
      <p:sp>
        <p:nvSpPr>
          <p:cNvPr id="188" name="TextBox 187"/>
          <p:cNvSpPr txBox="1"/>
          <p:nvPr/>
        </p:nvSpPr>
        <p:spPr>
          <a:xfrm>
            <a:off x="3523457" y="3639312"/>
            <a:ext cx="2377440" cy="685800"/>
          </a:xfrm>
          <a:prstGeom prst="rect">
            <a:avLst/>
          </a:prstGeom>
          <a:noFill/>
        </p:spPr>
        <p:txBody>
          <a:bodyPr wrap="square" lIns="0" rIns="0" tIns="0" bIns="0" anchor="t">
            <a:spAutoFit/>
          </a:bodyPr>
          <a:lstStyle/>
          <a:p>
            <a:pPr algn="ctr">
              <a:spcBef>
                <a:spcPts val="0"/>
              </a:spcBef>
              <a:spcAft>
                <a:spcPts val="100"/>
              </a:spcAft>
            </a:pPr>
            <a:r>
              <a:rPr sz="1500" b="0" i="0">
                <a:solidFill>
                  <a:srgbClr val="1F2933"/>
                </a:solidFill>
                <a:latin typeface="Calibri"/>
              </a:rPr>
              <a:t>loans per unit</a:t>
            </a:r>
          </a:p>
          <a:p>
            <a:pPr algn="ctr">
              <a:spcBef>
                <a:spcPts val="0"/>
              </a:spcBef>
              <a:spcAft>
                <a:spcPts val="0"/>
              </a:spcAft>
            </a:pPr>
            <a:r>
              <a:rPr sz="1100" b="0" i="1">
                <a:solidFill>
                  <a:srgbClr val="5B6B7D"/>
                </a:solidFill>
                <a:latin typeface="Calibri"/>
              </a:rPr>
              <a:t>assumption</a:t>
            </a:r>
          </a:p>
        </p:txBody>
      </p:sp>
      <p:sp>
        <p:nvSpPr>
          <p:cNvPr id="189" name="Rounded Rectangle 188"/>
          <p:cNvSpPr/>
          <p:nvPr/>
        </p:nvSpPr>
        <p:spPr>
          <a:xfrm>
            <a:off x="6205667" y="3017520"/>
            <a:ext cx="2560320" cy="1371600"/>
          </a:xfrm>
          <a:prstGeom prst="roundRect">
            <a:avLst>
              <a:gd name="adj" fmla="val 4666"/>
            </a:avLst>
          </a:prstGeom>
          <a:solidFill>
            <a:srgbClr val="EAF4FB"/>
          </a:solidFill>
          <a:ln>
            <a:noFill/>
          </a:ln>
          <a:effectLst/>
        </p:spPr>
        <p:txBody>
          <a:bodyPr rtlCol="0" anchor="t" lIns="128016" rIns="128016" tIns="91440" bIns="91440"/>
          <a:lstStyle/>
          <a:p>
            <a:pPr algn="ctr"/>
          </a:p>
        </p:txBody>
      </p:sp>
      <p:sp>
        <p:nvSpPr>
          <p:cNvPr id="190" name="TextBox 189"/>
          <p:cNvSpPr txBox="1"/>
          <p:nvPr/>
        </p:nvSpPr>
        <p:spPr>
          <a:xfrm>
            <a:off x="6297107" y="3072384"/>
            <a:ext cx="2377440" cy="566928"/>
          </a:xfrm>
          <a:prstGeom prst="rect">
            <a:avLst/>
          </a:prstGeom>
          <a:noFill/>
        </p:spPr>
        <p:txBody>
          <a:bodyPr wrap="square" lIns="0" rIns="0" tIns="0" bIns="0" anchor="ctr">
            <a:spAutoFit/>
          </a:bodyPr>
          <a:lstStyle/>
          <a:p>
            <a:pPr algn="ctr">
              <a:spcBef>
                <a:spcPts val="0"/>
              </a:spcBef>
              <a:spcAft>
                <a:spcPts val="0"/>
              </a:spcAft>
            </a:pPr>
            <a:r>
              <a:rPr sz="3000" b="1" i="0">
                <a:solidFill>
                  <a:srgbClr val="38A0D8"/>
                </a:solidFill>
                <a:latin typeface="Calibri"/>
              </a:rPr>
              <a:t>about ₹1,000</a:t>
            </a:r>
          </a:p>
        </p:txBody>
      </p:sp>
      <p:sp>
        <p:nvSpPr>
          <p:cNvPr id="191" name="TextBox 190"/>
          <p:cNvSpPr txBox="1"/>
          <p:nvPr/>
        </p:nvSpPr>
        <p:spPr>
          <a:xfrm>
            <a:off x="6297107" y="3639312"/>
            <a:ext cx="2377440" cy="685800"/>
          </a:xfrm>
          <a:prstGeom prst="rect">
            <a:avLst/>
          </a:prstGeom>
          <a:noFill/>
        </p:spPr>
        <p:txBody>
          <a:bodyPr wrap="square" lIns="0" rIns="0" tIns="0" bIns="0" anchor="t">
            <a:spAutoFit/>
          </a:bodyPr>
          <a:lstStyle/>
          <a:p>
            <a:pPr algn="ctr">
              <a:spcBef>
                <a:spcPts val="0"/>
              </a:spcBef>
              <a:spcAft>
                <a:spcPts val="100"/>
              </a:spcAft>
            </a:pPr>
            <a:r>
              <a:rPr sz="1500" b="0" i="0">
                <a:solidFill>
                  <a:srgbClr val="1F2933"/>
                </a:solidFill>
                <a:latin typeface="Calibri"/>
              </a:rPr>
              <a:t>per patient episode</a:t>
            </a:r>
          </a:p>
          <a:p>
            <a:pPr algn="ctr">
              <a:spcBef>
                <a:spcPts val="0"/>
              </a:spcBef>
              <a:spcAft>
                <a:spcPts val="0"/>
              </a:spcAft>
            </a:pPr>
            <a:r>
              <a:rPr sz="1100" b="0" i="1">
                <a:solidFill>
                  <a:srgbClr val="5B6B7D"/>
                </a:solidFill>
                <a:latin typeface="Calibri"/>
              </a:rPr>
              <a:t>planned price, estimate</a:t>
            </a:r>
          </a:p>
        </p:txBody>
      </p:sp>
      <p:sp>
        <p:nvSpPr>
          <p:cNvPr id="192" name="Rounded Rectangle 191"/>
          <p:cNvSpPr/>
          <p:nvPr/>
        </p:nvSpPr>
        <p:spPr>
          <a:xfrm>
            <a:off x="8979316" y="3017520"/>
            <a:ext cx="2560320" cy="1371600"/>
          </a:xfrm>
          <a:prstGeom prst="roundRect">
            <a:avLst>
              <a:gd name="adj" fmla="val 4666"/>
            </a:avLst>
          </a:prstGeom>
          <a:solidFill>
            <a:srgbClr val="EAF4FB"/>
          </a:solidFill>
          <a:ln>
            <a:noFill/>
          </a:ln>
          <a:effectLst/>
        </p:spPr>
        <p:txBody>
          <a:bodyPr rtlCol="0" anchor="t" lIns="128016" rIns="128016" tIns="91440" bIns="91440"/>
          <a:lstStyle/>
          <a:p>
            <a:pPr algn="ctr"/>
          </a:p>
        </p:txBody>
      </p:sp>
      <p:sp>
        <p:nvSpPr>
          <p:cNvPr id="193" name="TextBox 192"/>
          <p:cNvSpPr txBox="1"/>
          <p:nvPr/>
        </p:nvSpPr>
        <p:spPr>
          <a:xfrm>
            <a:off x="9070756" y="3072384"/>
            <a:ext cx="2377440" cy="566928"/>
          </a:xfrm>
          <a:prstGeom prst="rect">
            <a:avLst/>
          </a:prstGeom>
          <a:noFill/>
        </p:spPr>
        <p:txBody>
          <a:bodyPr wrap="square" lIns="0" rIns="0" tIns="0" bIns="0" anchor="ctr">
            <a:spAutoFit/>
          </a:bodyPr>
          <a:lstStyle/>
          <a:p>
            <a:pPr algn="ctr">
              <a:spcBef>
                <a:spcPts val="0"/>
              </a:spcBef>
              <a:spcAft>
                <a:spcPts val="0"/>
              </a:spcAft>
            </a:pPr>
            <a:r>
              <a:rPr sz="3000" b="1" i="0">
                <a:solidFill>
                  <a:srgbClr val="38A0D8"/>
                </a:solidFill>
                <a:latin typeface="Calibri"/>
              </a:rPr>
              <a:t>₹0.12</a:t>
            </a:r>
          </a:p>
        </p:txBody>
      </p:sp>
      <p:sp>
        <p:nvSpPr>
          <p:cNvPr id="194" name="TextBox 193"/>
          <p:cNvSpPr txBox="1"/>
          <p:nvPr/>
        </p:nvSpPr>
        <p:spPr>
          <a:xfrm>
            <a:off x="9070756" y="3639312"/>
            <a:ext cx="2377440" cy="685800"/>
          </a:xfrm>
          <a:prstGeom prst="rect">
            <a:avLst/>
          </a:prstGeom>
          <a:noFill/>
        </p:spPr>
        <p:txBody>
          <a:bodyPr wrap="square" lIns="0" rIns="0" tIns="0" bIns="0" anchor="t">
            <a:spAutoFit/>
          </a:bodyPr>
          <a:lstStyle/>
          <a:p>
            <a:pPr algn="ctr">
              <a:spcBef>
                <a:spcPts val="0"/>
              </a:spcBef>
              <a:spcAft>
                <a:spcPts val="100"/>
              </a:spcAft>
            </a:pPr>
            <a:r>
              <a:rPr sz="1500" b="0" i="0">
                <a:solidFill>
                  <a:srgbClr val="1F2933"/>
                </a:solidFill>
                <a:latin typeface="Calibri"/>
              </a:rPr>
              <a:t>per WhatsApp update</a:t>
            </a:r>
          </a:p>
          <a:p>
            <a:pPr algn="ctr">
              <a:spcBef>
                <a:spcPts val="0"/>
              </a:spcBef>
              <a:spcAft>
                <a:spcPts val="0"/>
              </a:spcAft>
            </a:pPr>
            <a:r>
              <a:rPr sz="1100" b="0" i="1">
                <a:solidFill>
                  <a:srgbClr val="5B6B7D"/>
                </a:solidFill>
                <a:latin typeface="Calibri"/>
              </a:rPr>
              <a:t>Meta India rate card</a:t>
            </a:r>
          </a:p>
        </p:txBody>
      </p:sp>
      <p:sp>
        <p:nvSpPr>
          <p:cNvPr id="195" name="TextBox 194"/>
          <p:cNvSpPr txBox="1"/>
          <p:nvPr/>
        </p:nvSpPr>
        <p:spPr>
          <a:xfrm>
            <a:off x="658368" y="4553712"/>
            <a:ext cx="10881360" cy="1417320"/>
          </a:xfrm>
          <a:prstGeom prst="rect">
            <a:avLst/>
          </a:prstGeom>
          <a:noFill/>
        </p:spPr>
        <p:txBody>
          <a:bodyPr wrap="square" lIns="0" rIns="0" tIns="0" bIns="0" anchor="t">
            <a:spAutoFit/>
          </a:bodyPr>
          <a:lstStyle/>
          <a:p>
            <a:pPr algn="l">
              <a:spcBef>
                <a:spcPts val="0"/>
              </a:spcBef>
              <a:spcAft>
                <a:spcPts val="500"/>
              </a:spcAft>
            </a:pPr>
            <a:r>
              <a:rPr sz="1400" b="1" i="0">
                <a:solidFill>
                  <a:srgbClr val="253653"/>
                </a:solidFill>
                <a:latin typeface="Calibri"/>
              </a:rPr>
              <a:t>Digital scale:</a:t>
            </a:r>
            <a:r>
              <a:rPr sz="1400" b="0" i="0">
                <a:solidFill>
                  <a:srgbClr val="1F2933"/>
                </a:solidFill>
                <a:latin typeface="Calibri"/>
              </a:rPr>
              <a:t> a hospital's doctors, departments and patients can be moved in from a spreadsheet or a FHIR file, with a practice run before anything is saved (Planned).</a:t>
            </a:r>
          </a:p>
          <a:p>
            <a:pPr algn="l">
              <a:spcBef>
                <a:spcPts val="0"/>
              </a:spcBef>
              <a:spcAft>
                <a:spcPts val="500"/>
              </a:spcAft>
            </a:pPr>
            <a:r>
              <a:rPr sz="1400" b="1" i="0">
                <a:solidFill>
                  <a:srgbClr val="253653"/>
                </a:solidFill>
                <a:latin typeface="Calibri"/>
              </a:rPr>
              <a:t>Automation:</a:t>
            </a:r>
            <a:r>
              <a:rPr sz="1400" b="0" i="0">
                <a:solidFill>
                  <a:srgbClr val="1F2933"/>
                </a:solidFill>
                <a:latin typeface="Calibri"/>
              </a:rPr>
              <a:t> reminders, the escalation ladder and the daily summary run by themselves (message sends are simulated today).</a:t>
            </a:r>
          </a:p>
          <a:p>
            <a:pPr algn="l">
              <a:spcBef>
                <a:spcPts val="0"/>
              </a:spcBef>
              <a:spcAft>
                <a:spcPts val="0"/>
              </a:spcAft>
            </a:pPr>
            <a:r>
              <a:rPr sz="1400" b="1" i="0">
                <a:solidFill>
                  <a:srgbClr val="253653"/>
                </a:solidFill>
                <a:latin typeface="Calibri"/>
              </a:rPr>
              <a:t>Partners and next group:</a:t>
            </a:r>
            <a:r>
              <a:rPr sz="1400" b="0" i="0">
                <a:solidFill>
                  <a:srgbClr val="1F2933"/>
                </a:solidFill>
                <a:latin typeface="Calibri"/>
              </a:rPr>
              <a:t> hospital nurse and physio teams to begin with; later TB survivors (Planned). India's draft 2024 TB rehab guidance lists the incentive spirometer for supervised sessions.</a:t>
            </a:r>
          </a:p>
        </p:txBody>
      </p:sp>
      <p:sp>
        <p:nvSpPr>
          <p:cNvPr id="196" name="TextBox 195"/>
          <p:cNvSpPr txBox="1"/>
          <p:nvPr/>
        </p:nvSpPr>
        <p:spPr>
          <a:xfrm>
            <a:off x="658368" y="6035040"/>
            <a:ext cx="9326880" cy="402336"/>
          </a:xfrm>
          <a:prstGeom prst="rect">
            <a:avLst/>
          </a:prstGeom>
          <a:noFill/>
        </p:spPr>
        <p:txBody>
          <a:bodyPr wrap="square" lIns="0" rIns="0" tIns="0" bIns="0" anchor="b">
            <a:spAutoFit/>
          </a:bodyPr>
          <a:lstStyle/>
          <a:p>
            <a:pPr algn="l">
              <a:spcBef>
                <a:spcPts val="0"/>
              </a:spcBef>
              <a:spcAft>
                <a:spcPts val="0"/>
              </a:spcAft>
            </a:pPr>
            <a:r>
              <a:rPr sz="1000" b="0" i="0">
                <a:solidFill>
                  <a:srgbClr val="5B6B7D"/>
                </a:solidFill>
                <a:latin typeface="Calibri"/>
              </a:rPr>
              <a:t>Costs are team estimates, none is measured. WhatsApp: Meta India utility rate. TB: RBIPMT 2024 draft guidance (ntep.in).</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3"/>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3000">
                <a:solidFill>
                  <a:schemeClr val="accent4"/>
                </a:solidFill>
                <a:latin typeface="Play"/>
                <a:ea typeface="Play"/>
                <a:cs typeface="Play"/>
                <a:sym typeface="Play"/>
              </a:rPr>
              <a:t>Business &amp; Sustainability Model</a:t>
            </a:r>
            <a:endParaRPr/>
          </a:p>
        </p:txBody>
      </p:sp>
      <p:sp>
        <p:nvSpPr>
          <p:cNvPr id="178" name="Google Shape;178;p13"/>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 name="Google Shape;179;p13"/>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 name="Google Shape;180;p13"/>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1" name="Google Shape;181;p13"/>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2" name="Google Shape;182;p13"/>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183" name="Google Shape;183;p13"/>
          <p:cNvSpPr txBox="1"/>
          <p:nvPr/>
        </p:nvSpPr>
        <p:spPr>
          <a:xfrm>
            <a:off x="11109960" y="6569294"/>
            <a:ext cx="438912" cy="138499"/>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15</a:t>
            </a:r>
            <a:endParaRPr/>
          </a:p>
        </p:txBody>
      </p:sp>
      <p:pic>
        <p:nvPicPr>
          <p:cNvPr id="184" name="Picture 183" descr="Dolphin Tank India logo"/>
          <p:cNvPicPr>
            <a:picLocks noChangeAspect="1"/>
          </p:cNvPicPr>
          <p:nvPr/>
        </p:nvPicPr>
        <p:blipFill>
          <a:blip r:embed="rId3"/>
          <a:stretch>
            <a:fillRect/>
          </a:stretch>
        </p:blipFill>
        <p:spPr>
          <a:xfrm>
            <a:off x="10669520" y="146304"/>
            <a:ext cx="1387352" cy="654087"/>
          </a:xfrm>
          <a:prstGeom prst="rect">
            <a:avLst/>
          </a:prstGeom>
        </p:spPr>
      </p:pic>
      <p:sp>
        <p:nvSpPr>
          <p:cNvPr id="185" name="TextBox 184"/>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The hospital pays: under flat-rate insurance, every extra bed-day comes out of its own pocket.</a:t>
            </a:r>
          </a:p>
        </p:txBody>
      </p:sp>
      <p:graphicFrame>
        <p:nvGraphicFramePr>
          <p:cNvPr id="186" name="Table 185"/>
          <p:cNvGraphicFramePr>
            <a:graphicFrameLocks noGrp="1"/>
          </p:cNvGraphicFramePr>
          <p:nvPr/>
        </p:nvGraphicFramePr>
        <p:xfrm>
          <a:off x="658368" y="1828800"/>
          <a:ext cx="6949440" cy="2578608"/>
        </p:xfrm>
        <a:graphic>
          <a:graphicData uri="http://schemas.openxmlformats.org/drawingml/2006/table">
            <a:tbl>
              <a:tblPr firstRow="0" bandRow="0">
                <a:tableStyleId>{5C22544A-7EE6-4342-B048-85BDC9FD1C3A}</a:tableStyleId>
              </a:tblPr>
              <a:tblGrid>
                <a:gridCol w="3474720"/>
                <a:gridCol w="3474720"/>
              </a:tblGrid>
              <a:tr h="384048">
                <a:tc>
                  <a:txBody>
                    <a:bodyPr wrap="square"/>
                    <a:lstStyle/>
                    <a:p>
                      <a:pPr algn="l">
                        <a:spcBef>
                          <a:spcPts val="0"/>
                        </a:spcBef>
                        <a:spcAft>
                          <a:spcPts val="0"/>
                        </a:spcAft>
                      </a:pPr>
                      <a:r>
                        <a:rPr sz="1400" b="1" i="0">
                          <a:solidFill>
                            <a:srgbClr val="FFFFFF"/>
                          </a:solidFill>
                          <a:latin typeface="Calibri"/>
                        </a:rPr>
                        <a:t>Revenue (planned)</a:t>
                      </a:r>
                    </a:p>
                  </a:txBody>
                  <a:tcPr marL="91440" marR="91440" marT="54864" marB="54864" anchor="ctr">
                    <a:solidFill>
                      <a:srgbClr val="253653"/>
                    </a:solidFill>
                  </a:tcPr>
                </a:tc>
                <a:tc>
                  <a:txBody>
                    <a:bodyPr wrap="square"/>
                    <a:lstStyle/>
                    <a:p>
                      <a:pPr algn="l">
                        <a:spcBef>
                          <a:spcPts val="0"/>
                        </a:spcBef>
                        <a:spcAft>
                          <a:spcPts val="0"/>
                        </a:spcAft>
                      </a:pPr>
                      <a:r>
                        <a:rPr sz="1400" b="1" i="0">
                          <a:solidFill>
                            <a:srgbClr val="FFFFFF"/>
                          </a:solidFill>
                          <a:latin typeface="Calibri"/>
                        </a:rPr>
                        <a:t>Costs (estimates)</a:t>
                      </a:r>
                    </a:p>
                  </a:txBody>
                  <a:tcPr marL="91440" marR="91440" marT="54864" marB="54864" anchor="ctr">
                    <a:solidFill>
                      <a:srgbClr val="253653"/>
                    </a:solidFill>
                  </a:tcPr>
                </a:tc>
              </a:tr>
              <a:tr h="731520">
                <a:tc>
                  <a:txBody>
                    <a:bodyPr wrap="square"/>
                    <a:lstStyle/>
                    <a:p>
                      <a:pPr algn="l">
                        <a:spcBef>
                          <a:spcPts val="0"/>
                        </a:spcBef>
                        <a:spcAft>
                          <a:spcPts val="0"/>
                        </a:spcAft>
                      </a:pPr>
                      <a:r>
                        <a:rPr sz="1400" b="0" i="0">
                          <a:solidFill>
                            <a:srgbClr val="1F2933"/>
                          </a:solidFill>
                          <a:latin typeface="Calibri"/>
                        </a:rPr>
                        <a:t>About ₹1,000 per patient episode; the unit is lent at discharge and reused</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About ₹2,500 of parts per unit, reused across about 10 patients (assumption)</a:t>
                      </a:r>
                    </a:p>
                  </a:txBody>
                  <a:tcPr marL="91440" marR="91440" marT="54864" marB="54864" anchor="ctr">
                    <a:solidFill>
                      <a:srgbClr val="FFFFFF"/>
                    </a:solidFill>
                  </a:tcPr>
                </a:tc>
              </a:tr>
              <a:tr h="731520">
                <a:tc>
                  <a:txBody>
                    <a:bodyPr wrap="square"/>
                    <a:lstStyle/>
                    <a:p>
                      <a:pPr algn="l">
                        <a:spcBef>
                          <a:spcPts val="0"/>
                        </a:spcBef>
                        <a:spcAft>
                          <a:spcPts val="0"/>
                        </a:spcAft>
                      </a:pPr>
                      <a:r>
                        <a:rPr sz="1400" b="0" i="0">
                          <a:solidFill>
                            <a:srgbClr val="1F2933"/>
                          </a:solidFill>
                          <a:latin typeface="Calibri"/>
                        </a:rPr>
                        <a:t>Later: a subscription per hospital, with add-on modules such as the spirometer (Planned)</a:t>
                      </a:r>
                    </a:p>
                  </a:txBody>
                  <a:tcPr marL="91440" marR="91440" marT="54864" marB="54864" anchor="ctr">
                    <a:solidFill>
                      <a:srgbClr val="F4F8FB"/>
                    </a:solidFill>
                  </a:tcPr>
                </a:tc>
                <a:tc>
                  <a:txBody>
                    <a:bodyPr wrap="square"/>
                    <a:lstStyle/>
                    <a:p>
                      <a:pPr algn="l">
                        <a:spcBef>
                          <a:spcPts val="0"/>
                        </a:spcBef>
                        <a:spcAft>
                          <a:spcPts val="0"/>
                        </a:spcAft>
                      </a:pPr>
                      <a:r>
                        <a:rPr sz="1400" b="0" i="0">
                          <a:solidFill>
                            <a:srgbClr val="1F2933"/>
                          </a:solidFill>
                          <a:latin typeface="Calibri"/>
                        </a:rPr>
                        <a:t>₹0.12 per WhatsApp update; phone calls only to escalate</a:t>
                      </a:r>
                    </a:p>
                  </a:txBody>
                  <a:tcPr marL="91440" marR="91440" marT="54864" marB="54864" anchor="ctr">
                    <a:solidFill>
                      <a:srgbClr val="F4F8FB"/>
                    </a:solidFill>
                  </a:tcPr>
                </a:tc>
              </a:tr>
              <a:tr h="731520">
                <a:tc>
                  <a:txBody>
                    <a:bodyPr wrap="square"/>
                    <a:lstStyle/>
                    <a:p>
                      <a:pPr algn="l">
                        <a:spcBef>
                          <a:spcPts val="0"/>
                        </a:spcBef>
                        <a:spcAft>
                          <a:spcPts val="0"/>
                        </a:spcAft>
                      </a:pPr>
                      <a:r>
                        <a:rPr sz="1400" b="0" i="0">
                          <a:solidFill>
                            <a:srgbClr val="1F2933"/>
                          </a:solidFill>
                          <a:latin typeface="Calibri"/>
                        </a:rPr>
                        <a:t>Patients and families never pay. No money is handled inside the hospital, nurse or patient apps</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About ₹500-700 to serve one patient episode. Hosting is free for the demo only</a:t>
                      </a:r>
                    </a:p>
                  </a:txBody>
                  <a:tcPr marL="91440" marR="91440" marT="54864" marB="54864" anchor="ctr">
                    <a:solidFill>
                      <a:srgbClr val="FFFFFF"/>
                    </a:solidFill>
                  </a:tcPr>
                </a:tc>
              </a:tr>
            </a:tbl>
          </a:graphicData>
        </a:graphic>
      </p:graphicFrame>
      <p:sp>
        <p:nvSpPr>
          <p:cNvPr id="187" name="Rounded Rectangle 186"/>
          <p:cNvSpPr/>
          <p:nvPr/>
        </p:nvSpPr>
        <p:spPr>
          <a:xfrm>
            <a:off x="7836408" y="1828800"/>
            <a:ext cx="3703320" cy="1243584"/>
          </a:xfrm>
          <a:prstGeom prst="roundRect">
            <a:avLst>
              <a:gd name="adj" fmla="val 5147"/>
            </a:avLst>
          </a:prstGeom>
          <a:solidFill>
            <a:srgbClr val="EAF4FB"/>
          </a:solidFill>
          <a:ln>
            <a:noFill/>
          </a:ln>
          <a:effectLst/>
        </p:spPr>
        <p:txBody>
          <a:bodyPr rtlCol="0" anchor="t" lIns="128016" rIns="128016" tIns="91440" bIns="91440"/>
          <a:lstStyle/>
          <a:p>
            <a:pPr algn="ctr"/>
          </a:p>
        </p:txBody>
      </p:sp>
      <p:sp>
        <p:nvSpPr>
          <p:cNvPr id="188" name="TextBox 187"/>
          <p:cNvSpPr txBox="1"/>
          <p:nvPr/>
        </p:nvSpPr>
        <p:spPr>
          <a:xfrm>
            <a:off x="7973568" y="1828800"/>
            <a:ext cx="1325880" cy="1243584"/>
          </a:xfrm>
          <a:prstGeom prst="rect">
            <a:avLst/>
          </a:prstGeom>
          <a:noFill/>
        </p:spPr>
        <p:txBody>
          <a:bodyPr wrap="square" lIns="0" rIns="0" tIns="0" bIns="0" anchor="ctr">
            <a:spAutoFit/>
          </a:bodyPr>
          <a:lstStyle/>
          <a:p>
            <a:pPr algn="l">
              <a:spcBef>
                <a:spcPts val="0"/>
              </a:spcBef>
              <a:spcAft>
                <a:spcPts val="0"/>
              </a:spcAft>
            </a:pPr>
            <a:r>
              <a:rPr sz="2600" b="1" i="0">
                <a:solidFill>
                  <a:srgbClr val="38A0D8"/>
                </a:solidFill>
                <a:latin typeface="Calibri"/>
              </a:rPr>
              <a:t>₹2,307</a:t>
            </a:r>
          </a:p>
        </p:txBody>
      </p:sp>
      <p:sp>
        <p:nvSpPr>
          <p:cNvPr id="189" name="TextBox 188"/>
          <p:cNvSpPr txBox="1"/>
          <p:nvPr/>
        </p:nvSpPr>
        <p:spPr>
          <a:xfrm>
            <a:off x="9345167" y="1901952"/>
            <a:ext cx="2057399" cy="1097280"/>
          </a:xfrm>
          <a:prstGeom prst="rect">
            <a:avLst/>
          </a:prstGeom>
          <a:noFill/>
        </p:spPr>
        <p:txBody>
          <a:bodyPr wrap="square" lIns="0" rIns="0" tIns="0" bIns="0" anchor="ctr">
            <a:spAutoFit/>
          </a:bodyPr>
          <a:lstStyle/>
          <a:p>
            <a:pPr algn="l">
              <a:spcBef>
                <a:spcPts val="0"/>
              </a:spcBef>
              <a:spcAft>
                <a:spcPts val="200"/>
              </a:spcAft>
            </a:pPr>
            <a:r>
              <a:rPr sz="1400" b="0" i="0">
                <a:solidFill>
                  <a:srgbClr val="1F2933"/>
                </a:solidFill>
                <a:latin typeface="Calibri"/>
              </a:rPr>
              <a:t>average cost of one ward bed-day. Our ₹1,000 is less than half</a:t>
            </a:r>
          </a:p>
          <a:p>
            <a:pPr algn="l">
              <a:spcBef>
                <a:spcPts val="0"/>
              </a:spcBef>
              <a:spcAft>
                <a:spcPts val="0"/>
              </a:spcAft>
            </a:pPr>
            <a:r>
              <a:rPr sz="1000" b="0" i="0">
                <a:solidFill>
                  <a:srgbClr val="5B6B7D"/>
                </a:solidFill>
                <a:latin typeface="Calibri"/>
              </a:rPr>
              <a:t>57 hospitals, 11 states. BMJ Open 2023</a:t>
            </a:r>
          </a:p>
        </p:txBody>
      </p:sp>
      <p:sp>
        <p:nvSpPr>
          <p:cNvPr id="190" name="Rounded Rectangle 189"/>
          <p:cNvSpPr/>
          <p:nvPr/>
        </p:nvSpPr>
        <p:spPr>
          <a:xfrm>
            <a:off x="7836408" y="3200400"/>
            <a:ext cx="3703320" cy="1243584"/>
          </a:xfrm>
          <a:prstGeom prst="roundRect">
            <a:avLst>
              <a:gd name="adj" fmla="val 5147"/>
            </a:avLst>
          </a:prstGeom>
          <a:solidFill>
            <a:srgbClr val="EAF4FB"/>
          </a:solidFill>
          <a:ln>
            <a:noFill/>
          </a:ln>
          <a:effectLst/>
        </p:spPr>
        <p:txBody>
          <a:bodyPr rtlCol="0" anchor="t" lIns="128016" rIns="128016" tIns="91440" bIns="91440"/>
          <a:lstStyle/>
          <a:p>
            <a:pPr algn="ctr"/>
          </a:p>
        </p:txBody>
      </p:sp>
      <p:sp>
        <p:nvSpPr>
          <p:cNvPr id="191" name="TextBox 190"/>
          <p:cNvSpPr txBox="1"/>
          <p:nvPr/>
        </p:nvSpPr>
        <p:spPr>
          <a:xfrm>
            <a:off x="7973568" y="3200400"/>
            <a:ext cx="1463040" cy="1243584"/>
          </a:xfrm>
          <a:prstGeom prst="rect">
            <a:avLst/>
          </a:prstGeom>
          <a:noFill/>
        </p:spPr>
        <p:txBody>
          <a:bodyPr wrap="square" lIns="0" rIns="0" tIns="0" bIns="0" anchor="ctr">
            <a:spAutoFit/>
          </a:bodyPr>
          <a:lstStyle/>
          <a:p>
            <a:pPr algn="l">
              <a:spcBef>
                <a:spcPts val="0"/>
              </a:spcBef>
              <a:spcAft>
                <a:spcPts val="0"/>
              </a:spcAft>
            </a:pPr>
            <a:r>
              <a:rPr sz="2200" b="1" i="0">
                <a:solidFill>
                  <a:srgbClr val="38A0D8"/>
                </a:solidFill>
                <a:latin typeface="Calibri"/>
              </a:rPr>
              <a:t>₹1,62,400</a:t>
            </a:r>
          </a:p>
        </p:txBody>
      </p:sp>
      <p:sp>
        <p:nvSpPr>
          <p:cNvPr id="192" name="TextBox 191"/>
          <p:cNvSpPr txBox="1"/>
          <p:nvPr/>
        </p:nvSpPr>
        <p:spPr>
          <a:xfrm>
            <a:off x="9482328" y="3273552"/>
            <a:ext cx="1920239" cy="1097280"/>
          </a:xfrm>
          <a:prstGeom prst="rect">
            <a:avLst/>
          </a:prstGeom>
          <a:noFill/>
        </p:spPr>
        <p:txBody>
          <a:bodyPr wrap="square" lIns="0" rIns="0" tIns="0" bIns="0" anchor="ctr">
            <a:spAutoFit/>
          </a:bodyPr>
          <a:lstStyle/>
          <a:p>
            <a:pPr algn="l">
              <a:spcBef>
                <a:spcPts val="0"/>
              </a:spcBef>
              <a:spcAft>
                <a:spcPts val="200"/>
              </a:spcAft>
            </a:pPr>
            <a:r>
              <a:rPr sz="1400" b="0" i="0">
                <a:solidFill>
                  <a:srgbClr val="1F2933"/>
                </a:solidFill>
                <a:latin typeface="Calibri"/>
              </a:rPr>
              <a:t>flat Ayushman Bharat payment for a bypass, 10-day stay built in</a:t>
            </a:r>
          </a:p>
          <a:p>
            <a:pPr algn="l">
              <a:spcBef>
                <a:spcPts val="0"/>
              </a:spcBef>
              <a:spcAft>
                <a:spcPts val="0"/>
              </a:spcAft>
            </a:pPr>
            <a:r>
              <a:rPr sz="1000" b="0" i="0">
                <a:solidFill>
                  <a:srgbClr val="5B6B7D"/>
                </a:solidFill>
                <a:latin typeface="Calibri"/>
              </a:rPr>
              <a:t>HBP 2022 rate list</a:t>
            </a:r>
          </a:p>
        </p:txBody>
      </p:sp>
      <p:sp>
        <p:nvSpPr>
          <p:cNvPr id="193" name="Rounded Rectangle 192"/>
          <p:cNvSpPr/>
          <p:nvPr/>
        </p:nvSpPr>
        <p:spPr>
          <a:xfrm>
            <a:off x="658368" y="4645152"/>
            <a:ext cx="10881360" cy="1115568"/>
          </a:xfrm>
          <a:prstGeom prst="roundRect">
            <a:avLst>
              <a:gd name="adj" fmla="val 5737"/>
            </a:avLst>
          </a:prstGeom>
          <a:solidFill>
            <a:srgbClr val="EAF4FB"/>
          </a:solidFill>
          <a:ln>
            <a:noFill/>
          </a:ln>
          <a:effectLst/>
        </p:spPr>
        <p:txBody>
          <a:bodyPr rtlCol="0" anchor="t" lIns="128016" rIns="128016" tIns="91440" bIns="91440" wrap="square"/>
          <a:lstStyle/>
          <a:p>
            <a:pPr algn="l">
              <a:spcBef>
                <a:spcPts val="0"/>
              </a:spcBef>
              <a:spcAft>
                <a:spcPts val="500"/>
              </a:spcAft>
            </a:pPr>
            <a:r>
              <a:rPr sz="1400" b="1" i="0">
                <a:solidFill>
                  <a:srgbClr val="253653"/>
                </a:solidFill>
                <a:latin typeface="Calibri"/>
              </a:rPr>
              <a:t>Sustainability plan:</a:t>
            </a:r>
            <a:r>
              <a:rPr sz="1400" b="0" i="0">
                <a:solidFill>
                  <a:srgbClr val="1F2933"/>
                </a:solidFill>
                <a:latin typeface="Calibri"/>
              </a:rPr>
              <a:t> a grant funds the pilot (one NIDHI-PRAYAS grant, up to ₹10 lakh, could cover it) → a paid pilot with one hospital → a per-episode fee, later a subscription.</a:t>
            </a:r>
          </a:p>
          <a:p>
            <a:pPr algn="l">
              <a:spcBef>
                <a:spcPts val="0"/>
              </a:spcBef>
              <a:spcAft>
                <a:spcPts val="0"/>
              </a:spcAft>
            </a:pPr>
            <a:r>
              <a:rPr sz="1400" b="1" i="0">
                <a:solidFill>
                  <a:srgbClr val="8F5100"/>
                </a:solidFill>
                <a:latin typeface="Calibri"/>
              </a:rPr>
              <a:t>Honest gap:</a:t>
            </a:r>
            <a:r>
              <a:rPr sz="1400" b="0" i="0">
                <a:solidFill>
                  <a:srgbClr val="1F2933"/>
                </a:solidFill>
                <a:latin typeface="Calibri"/>
              </a:rPr>
              <a:t> the price is not yet tested with any hospital. How the fee fits inside a PM-JAY package is a question for our hospital interviews.</a:t>
            </a:r>
          </a:p>
        </p:txBody>
      </p:sp>
      <p:sp>
        <p:nvSpPr>
          <p:cNvPr id="194" name="TextBox 193"/>
          <p:cNvSpPr txBox="1"/>
          <p:nvPr/>
        </p:nvSpPr>
        <p:spPr>
          <a:xfrm>
            <a:off x="658368" y="6035040"/>
            <a:ext cx="9326880" cy="402336"/>
          </a:xfrm>
          <a:prstGeom prst="rect">
            <a:avLst/>
          </a:prstGeom>
          <a:noFill/>
        </p:spPr>
        <p:txBody>
          <a:bodyPr wrap="square" lIns="0" rIns="0" tIns="0" bIns="0" anchor="b">
            <a:spAutoFit/>
          </a:bodyPr>
          <a:lstStyle/>
          <a:p>
            <a:pPr algn="l">
              <a:spcBef>
                <a:spcPts val="0"/>
              </a:spcBef>
              <a:spcAft>
                <a:spcPts val="0"/>
              </a:spcAft>
            </a:pPr>
            <a:r>
              <a:rPr sz="1000" b="0" i="0">
                <a:solidFill>
                  <a:srgbClr val="5B6B7D"/>
                </a:solidFill>
                <a:latin typeface="Calibri"/>
              </a:rPr>
              <a:t>All prices and costs are team estimates; none is measured. Sources: HBP 2022 rate list (state copy) · CHSI, BMJ Open 2023 · Meta India rate card.</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5"/>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3000">
                <a:solidFill>
                  <a:schemeClr val="accent4"/>
                </a:solidFill>
                <a:latin typeface="Play"/>
                <a:ea typeface="Play"/>
                <a:cs typeface="Play"/>
                <a:sym typeface="Play"/>
              </a:rPr>
              <a:t>Risks &amp; Mitigation</a:t>
            </a:r>
            <a:endParaRPr/>
          </a:p>
        </p:txBody>
      </p:sp>
      <p:sp>
        <p:nvSpPr>
          <p:cNvPr id="206" name="Google Shape;206;p15"/>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 name="Google Shape;207;p15"/>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8" name="Google Shape;208;p15"/>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9" name="Google Shape;209;p15"/>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0" name="Google Shape;210;p15"/>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211" name="Google Shape;211;p15"/>
          <p:cNvSpPr txBox="1"/>
          <p:nvPr/>
        </p:nvSpPr>
        <p:spPr>
          <a:xfrm>
            <a:off x="11109960" y="6569294"/>
            <a:ext cx="438912" cy="138499"/>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16</a:t>
            </a:r>
            <a:endParaRPr/>
          </a:p>
        </p:txBody>
      </p:sp>
      <p:pic>
        <p:nvPicPr>
          <p:cNvPr id="212" name="Picture 211" descr="Dolphin Tank India logo"/>
          <p:cNvPicPr>
            <a:picLocks noChangeAspect="1"/>
          </p:cNvPicPr>
          <p:nvPr/>
        </p:nvPicPr>
        <p:blipFill>
          <a:blip r:embed="rId3"/>
          <a:stretch>
            <a:fillRect/>
          </a:stretch>
        </p:blipFill>
        <p:spPr>
          <a:xfrm>
            <a:off x="10669520" y="146304"/>
            <a:ext cx="1387352" cy="654087"/>
          </a:xfrm>
          <a:prstGeom prst="rect">
            <a:avLst/>
          </a:prstGeom>
        </p:spPr>
      </p:pic>
      <p:sp>
        <p:nvSpPr>
          <p:cNvPr id="213" name="TextBox 212"/>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Our biggest risks are an unbuilt device and unproven adoption. Each one has a named next step.</a:t>
            </a:r>
          </a:p>
        </p:txBody>
      </p:sp>
      <p:graphicFrame>
        <p:nvGraphicFramePr>
          <p:cNvPr id="214" name="Table 213"/>
          <p:cNvGraphicFramePr>
            <a:graphicFrameLocks noGrp="1"/>
          </p:cNvGraphicFramePr>
          <p:nvPr/>
        </p:nvGraphicFramePr>
        <p:xfrm>
          <a:off x="658368" y="1810512"/>
          <a:ext cx="10881360" cy="4041648"/>
        </p:xfrm>
        <a:graphic>
          <a:graphicData uri="http://schemas.openxmlformats.org/drawingml/2006/table">
            <a:tbl>
              <a:tblPr firstRow="0" bandRow="0">
                <a:tableStyleId>{5C22544A-7EE6-4342-B048-85BDC9FD1C3A}</a:tableStyleId>
              </a:tblPr>
              <a:tblGrid>
                <a:gridCol w="1371600"/>
                <a:gridCol w="3017520"/>
                <a:gridCol w="2286000"/>
                <a:gridCol w="4206240"/>
              </a:tblGrid>
              <a:tr h="384048">
                <a:tc>
                  <a:txBody>
                    <a:bodyPr wrap="square"/>
                    <a:lstStyle/>
                    <a:p>
                      <a:pPr algn="l">
                        <a:spcBef>
                          <a:spcPts val="0"/>
                        </a:spcBef>
                        <a:spcAft>
                          <a:spcPts val="0"/>
                        </a:spcAft>
                      </a:pPr>
                      <a:r>
                        <a:rPr sz="1400" b="1" i="0">
                          <a:solidFill>
                            <a:srgbClr val="FFFFFF"/>
                          </a:solidFill>
                          <a:latin typeface="Calibri"/>
                        </a:rPr>
                        <a:t>Type</a:t>
                      </a:r>
                    </a:p>
                  </a:txBody>
                  <a:tcPr marL="91440" marR="91440" marT="54864" marB="54864" anchor="ctr">
                    <a:solidFill>
                      <a:srgbClr val="253653"/>
                    </a:solidFill>
                  </a:tcPr>
                </a:tc>
                <a:tc>
                  <a:txBody>
                    <a:bodyPr wrap="square"/>
                    <a:lstStyle/>
                    <a:p>
                      <a:pPr algn="l">
                        <a:spcBef>
                          <a:spcPts val="0"/>
                        </a:spcBef>
                        <a:spcAft>
                          <a:spcPts val="0"/>
                        </a:spcAft>
                      </a:pPr>
                      <a:r>
                        <a:rPr sz="1400" b="1" i="0">
                          <a:solidFill>
                            <a:srgbClr val="FFFFFF"/>
                          </a:solidFill>
                          <a:latin typeface="Calibri"/>
                        </a:rPr>
                        <a:t>Risk</a:t>
                      </a:r>
                    </a:p>
                  </a:txBody>
                  <a:tcPr marL="91440" marR="91440" marT="54864" marB="54864" anchor="ctr">
                    <a:solidFill>
                      <a:srgbClr val="253653"/>
                    </a:solidFill>
                  </a:tcPr>
                </a:tc>
                <a:tc>
                  <a:txBody>
                    <a:bodyPr wrap="square"/>
                    <a:lstStyle/>
                    <a:p>
                      <a:pPr algn="l">
                        <a:spcBef>
                          <a:spcPts val="0"/>
                        </a:spcBef>
                        <a:spcAft>
                          <a:spcPts val="0"/>
                        </a:spcAft>
                      </a:pPr>
                      <a:r>
                        <a:rPr sz="1400" b="1" i="0">
                          <a:solidFill>
                            <a:srgbClr val="FFFFFF"/>
                          </a:solidFill>
                          <a:latin typeface="Calibri"/>
                        </a:rPr>
                        <a:t>Impact</a:t>
                      </a:r>
                    </a:p>
                  </a:txBody>
                  <a:tcPr marL="91440" marR="91440" marT="54864" marB="54864" anchor="ctr">
                    <a:solidFill>
                      <a:srgbClr val="253653"/>
                    </a:solidFill>
                  </a:tcPr>
                </a:tc>
                <a:tc>
                  <a:txBody>
                    <a:bodyPr wrap="square"/>
                    <a:lstStyle/>
                    <a:p>
                      <a:pPr algn="l">
                        <a:spcBef>
                          <a:spcPts val="0"/>
                        </a:spcBef>
                        <a:spcAft>
                          <a:spcPts val="0"/>
                        </a:spcAft>
                      </a:pPr>
                      <a:r>
                        <a:rPr sz="1400" b="1" i="0">
                          <a:solidFill>
                            <a:srgbClr val="FFFFFF"/>
                          </a:solidFill>
                          <a:latin typeface="Calibri"/>
                        </a:rPr>
                        <a:t>Mitigation</a:t>
                      </a:r>
                    </a:p>
                  </a:txBody>
                  <a:tcPr marL="91440" marR="91440" marT="54864" marB="54864" anchor="ctr">
                    <a:solidFill>
                      <a:srgbClr val="253653"/>
                    </a:solidFill>
                  </a:tcPr>
                </a:tc>
              </a:tr>
              <a:tr h="914400">
                <a:tc>
                  <a:txBody>
                    <a:bodyPr wrap="square"/>
                    <a:lstStyle/>
                    <a:p>
                      <a:pPr algn="l">
                        <a:spcBef>
                          <a:spcPts val="0"/>
                        </a:spcBef>
                        <a:spcAft>
                          <a:spcPts val="0"/>
                        </a:spcAft>
                      </a:pPr>
                      <a:r>
                        <a:rPr sz="1400" b="1" i="0">
                          <a:solidFill>
                            <a:srgbClr val="253653"/>
                          </a:solidFill>
                          <a:latin typeface="Calibri"/>
                        </a:rPr>
                        <a:t>Operational</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The clip-on unit is not built. The sensor chip is ±2 cm out of the box (ST datasheet)</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No real breaths can be recorded</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Bench-test one unit and calibrate it to each exerciser's printed marks. The coach also runs from a simulator or a manual tap</a:t>
                      </a:r>
                    </a:p>
                  </a:txBody>
                  <a:tcPr marL="91440" marR="91440" marT="54864" marB="54864" anchor="ctr">
                    <a:solidFill>
                      <a:srgbClr val="FFFFFF"/>
                    </a:solidFill>
                  </a:tcPr>
                </a:tc>
              </a:tr>
              <a:tr h="914400">
                <a:tc>
                  <a:txBody>
                    <a:bodyPr wrap="square"/>
                    <a:lstStyle/>
                    <a:p>
                      <a:pPr algn="l">
                        <a:spcBef>
                          <a:spcPts val="0"/>
                        </a:spcBef>
                        <a:spcAft>
                          <a:spcPts val="0"/>
                        </a:spcAft>
                      </a:pPr>
                      <a:r>
                        <a:rPr sz="1400" b="1" i="0">
                          <a:solidFill>
                            <a:srgbClr val="253653"/>
                          </a:solidFill>
                          <a:latin typeface="Calibri"/>
                        </a:rPr>
                        <a:t>Adoption</a:t>
                      </a:r>
                    </a:p>
                  </a:txBody>
                  <a:tcPr marL="91440" marR="91440" marT="54864" marB="54864" anchor="ctr">
                    <a:solidFill>
                      <a:srgbClr val="F4F8FB"/>
                    </a:solidFill>
                  </a:tcPr>
                </a:tc>
                <a:tc>
                  <a:txBody>
                    <a:bodyPr wrap="square"/>
                    <a:lstStyle/>
                    <a:p>
                      <a:pPr algn="l">
                        <a:spcBef>
                          <a:spcPts val="0"/>
                        </a:spcBef>
                        <a:spcAft>
                          <a:spcPts val="0"/>
                        </a:spcAft>
                      </a:pPr>
                      <a:r>
                        <a:rPr sz="1400" b="0" i="0">
                          <a:solidFill>
                            <a:srgbClr val="1F2933"/>
                          </a:solidFill>
                          <a:latin typeface="Calibri"/>
                        </a:rPr>
                        <a:t>Older patients without smartphones; busy nurses; a chemist may not accept a phone screen</a:t>
                      </a:r>
                    </a:p>
                  </a:txBody>
                  <a:tcPr marL="91440" marR="91440" marT="54864" marB="54864" anchor="ctr">
                    <a:solidFill>
                      <a:srgbClr val="F4F8FB"/>
                    </a:solidFill>
                  </a:tcPr>
                </a:tc>
                <a:tc>
                  <a:txBody>
                    <a:bodyPr wrap="square"/>
                    <a:lstStyle/>
                    <a:p>
                      <a:pPr algn="l">
                        <a:spcBef>
                          <a:spcPts val="0"/>
                        </a:spcBef>
                        <a:spcAft>
                          <a:spcPts val="0"/>
                        </a:spcAft>
                      </a:pPr>
                      <a:r>
                        <a:rPr sz="1400" b="0" i="0">
                          <a:solidFill>
                            <a:srgbClr val="1F2933"/>
                          </a:solidFill>
                          <a:latin typeface="Calibri"/>
                        </a:rPr>
                        <a:t>Low use at home; no trust at the counter</a:t>
                      </a:r>
                    </a:p>
                  </a:txBody>
                  <a:tcPr marL="91440" marR="91440" marT="54864" marB="54864" anchor="ctr">
                    <a:solidFill>
                      <a:srgbClr val="F4F8FB"/>
                    </a:solidFill>
                  </a:tcPr>
                </a:tc>
                <a:tc>
                  <a:txBody>
                    <a:bodyPr wrap="square"/>
                    <a:lstStyle/>
                    <a:p>
                      <a:pPr algn="l">
                        <a:spcBef>
                          <a:spcPts val="0"/>
                        </a:spcBef>
                        <a:spcAft>
                          <a:spcPts val="0"/>
                        </a:spcAft>
                      </a:pPr>
                      <a:r>
                        <a:rPr sz="1400" b="0" i="0">
                          <a:solidFill>
                            <a:srgbClr val="1F2933"/>
                          </a:solidFill>
                          <a:latin typeface="Calibri"/>
                        </a:rPr>
                        <a:t>Voice, big buttons and the family's phone. Alerts only when a call is needed. The QR opens the hospital's own copy; pharmacy acceptance is still to be tested</a:t>
                      </a:r>
                    </a:p>
                  </a:txBody>
                  <a:tcPr marL="91440" marR="91440" marT="54864" marB="54864" anchor="ctr">
                    <a:solidFill>
                      <a:srgbClr val="F4F8FB"/>
                    </a:solidFill>
                  </a:tcPr>
                </a:tc>
              </a:tr>
              <a:tr h="914400">
                <a:tc>
                  <a:txBody>
                    <a:bodyPr wrap="square"/>
                    <a:lstStyle/>
                    <a:p>
                      <a:pPr algn="l">
                        <a:spcBef>
                          <a:spcPts val="0"/>
                        </a:spcBef>
                        <a:spcAft>
                          <a:spcPts val="0"/>
                        </a:spcAft>
                      </a:pPr>
                      <a:r>
                        <a:rPr sz="1400" b="1" i="0">
                          <a:solidFill>
                            <a:srgbClr val="253653"/>
                          </a:solidFill>
                          <a:latin typeface="Calibri"/>
                        </a:rPr>
                        <a:t>Technology</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The breath model has seen only simulated breaths. The internet or an AI service may be down</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Wrong labels; a silent app</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Record real breaths and re-train before any pilot. Rules run as a backup; every AI feature has an offline fallback</a:t>
                      </a:r>
                    </a:p>
                  </a:txBody>
                  <a:tcPr marL="91440" marR="91440" marT="54864" marB="54864" anchor="ctr">
                    <a:solidFill>
                      <a:srgbClr val="FFFFFF"/>
                    </a:solidFill>
                  </a:tcPr>
                </a:tc>
              </a:tr>
              <a:tr h="914400">
                <a:tc>
                  <a:txBody>
                    <a:bodyPr wrap="square"/>
                    <a:lstStyle/>
                    <a:p>
                      <a:pPr algn="l">
                        <a:spcBef>
                          <a:spcPts val="0"/>
                        </a:spcBef>
                        <a:spcAft>
                          <a:spcPts val="0"/>
                        </a:spcAft>
                      </a:pPr>
                      <a:r>
                        <a:rPr sz="1400" b="1" i="0">
                          <a:solidFill>
                            <a:srgbClr val="253653"/>
                          </a:solidFill>
                          <a:latin typeface="Calibri"/>
                        </a:rPr>
                        <a:t>Regulatory</a:t>
                      </a:r>
                    </a:p>
                  </a:txBody>
                  <a:tcPr marL="91440" marR="91440" marT="54864" marB="54864" anchor="ctr">
                    <a:solidFill>
                      <a:srgbClr val="F4F8FB"/>
                    </a:solidFill>
                  </a:tcPr>
                </a:tc>
                <a:tc>
                  <a:txBody>
                    <a:bodyPr wrap="square"/>
                    <a:lstStyle/>
                    <a:p>
                      <a:pPr algn="l">
                        <a:spcBef>
                          <a:spcPts val="0"/>
                        </a:spcBef>
                        <a:spcAft>
                          <a:spcPts val="0"/>
                        </a:spcAft>
                      </a:pPr>
                      <a:r>
                        <a:rPr sz="1400" b="0" i="0">
                          <a:solidFill>
                            <a:srgbClr val="1F2933"/>
                          </a:solidFill>
                          <a:latin typeface="Calibri"/>
                        </a:rPr>
                        <a:t>A device that measures and alerts: we expect Class B under India's Medical Devices Rules. The DPDP Act applies</a:t>
                      </a:r>
                    </a:p>
                  </a:txBody>
                  <a:tcPr marL="91440" marR="91440" marT="54864" marB="54864" anchor="ctr">
                    <a:solidFill>
                      <a:srgbClr val="F4F8FB"/>
                    </a:solidFill>
                  </a:tcPr>
                </a:tc>
                <a:tc>
                  <a:txBody>
                    <a:bodyPr wrap="square"/>
                    <a:lstStyle/>
                    <a:p>
                      <a:pPr algn="l">
                        <a:spcBef>
                          <a:spcPts val="0"/>
                        </a:spcBef>
                        <a:spcAft>
                          <a:spcPts val="0"/>
                        </a:spcAft>
                      </a:pPr>
                      <a:r>
                        <a:rPr sz="1400" b="0" i="0">
                          <a:solidFill>
                            <a:srgbClr val="1F2933"/>
                          </a:solidFill>
                          <a:latin typeface="Calibri"/>
                        </a:rPr>
                        <a:t>No patient study without the right permissions</a:t>
                      </a:r>
                    </a:p>
                  </a:txBody>
                  <a:tcPr marL="91440" marR="91440" marT="54864" marB="54864" anchor="ctr">
                    <a:solidFill>
                      <a:srgbClr val="F4F8FB"/>
                    </a:solidFill>
                  </a:tcPr>
                </a:tc>
                <a:tc>
                  <a:txBody>
                    <a:bodyPr wrap="square"/>
                    <a:lstStyle/>
                    <a:p>
                      <a:pPr algn="l">
                        <a:spcBef>
                          <a:spcPts val="0"/>
                        </a:spcBef>
                        <a:spcAft>
                          <a:spcPts val="0"/>
                        </a:spcAft>
                      </a:pPr>
                      <a:r>
                        <a:rPr sz="1400" b="0" i="0">
                          <a:solidFill>
                            <a:srgbClr val="1F2933"/>
                          </a:solidFill>
                          <a:latin typeface="Calibri"/>
                        </a:rPr>
                        <a:t>CDSCO's written view and a registered ethics committee before enrolling anyone. We claim only practice and recording</a:t>
                      </a:r>
                    </a:p>
                  </a:txBody>
                  <a:tcPr marL="91440" marR="91440" marT="54864" marB="54864" anchor="ctr">
                    <a:solidFill>
                      <a:srgbClr val="F4F8FB"/>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6"/>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3000">
                <a:solidFill>
                  <a:schemeClr val="accent4"/>
                </a:solidFill>
                <a:latin typeface="Play"/>
                <a:ea typeface="Play"/>
                <a:cs typeface="Play"/>
                <a:sym typeface="Play"/>
              </a:rPr>
              <a:t>Implementation Roadmap</a:t>
            </a:r>
            <a:endParaRPr/>
          </a:p>
        </p:txBody>
      </p:sp>
      <p:sp>
        <p:nvSpPr>
          <p:cNvPr id="220" name="Google Shape;220;p16"/>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1" name="Google Shape;221;p16"/>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 name="Google Shape;222;p16"/>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 name="Google Shape;223;p16"/>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 name="Google Shape;224;p16"/>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225" name="Google Shape;225;p16"/>
          <p:cNvSpPr txBox="1"/>
          <p:nvPr/>
        </p:nvSpPr>
        <p:spPr>
          <a:xfrm>
            <a:off x="11109960" y="6569294"/>
            <a:ext cx="438912" cy="138499"/>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17</a:t>
            </a:r>
            <a:endParaRPr/>
          </a:p>
        </p:txBody>
      </p:sp>
      <p:pic>
        <p:nvPicPr>
          <p:cNvPr id="226" name="Picture 225" descr="Dolphin Tank India logo"/>
          <p:cNvPicPr>
            <a:picLocks noChangeAspect="1"/>
          </p:cNvPicPr>
          <p:nvPr/>
        </p:nvPicPr>
        <p:blipFill>
          <a:blip r:embed="rId3"/>
          <a:stretch>
            <a:fillRect/>
          </a:stretch>
        </p:blipFill>
        <p:spPr>
          <a:xfrm>
            <a:off x="10669520" y="146304"/>
            <a:ext cx="1387352" cy="654087"/>
          </a:xfrm>
          <a:prstGeom prst="rect">
            <a:avLst/>
          </a:prstGeom>
        </p:spPr>
      </p:pic>
      <p:sp>
        <p:nvSpPr>
          <p:cNvPr id="227" name="TextBox 226"/>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Next: build one unit, record real breaths, get the regulator's written view, then run a 30-patient pilot.</a:t>
            </a:r>
          </a:p>
        </p:txBody>
      </p:sp>
      <p:sp>
        <p:nvSpPr>
          <p:cNvPr id="228" name="Rectangle 227"/>
          <p:cNvSpPr/>
          <p:nvPr/>
        </p:nvSpPr>
        <p:spPr>
          <a:xfrm>
            <a:off x="658368" y="2212848"/>
            <a:ext cx="10881360" cy="45720"/>
          </a:xfrm>
          <a:prstGeom prst="rect">
            <a:avLst/>
          </a:prstGeom>
          <a:solidFill>
            <a:srgbClr val="38A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ounded Rectangle 228"/>
          <p:cNvSpPr/>
          <p:nvPr/>
        </p:nvSpPr>
        <p:spPr>
          <a:xfrm>
            <a:off x="1709928" y="1956816"/>
            <a:ext cx="1371600" cy="548640"/>
          </a:xfrm>
          <a:prstGeom prst="roundRect">
            <a:avLst>
              <a:gd name="adj" fmla="val 50000"/>
            </a:avLst>
          </a:prstGeom>
          <a:solidFill>
            <a:srgbClr val="253653"/>
          </a:solidFill>
          <a:ln>
            <a:noFill/>
          </a:ln>
          <a:effectLst/>
        </p:spPr>
        <p:txBody>
          <a:bodyPr rtlCol="0" anchor="ctr" lIns="45720" rIns="45720" wrap="square"/>
          <a:lstStyle/>
          <a:p>
            <a:pPr algn="ctr">
              <a:spcBef>
                <a:spcPts val="0"/>
              </a:spcBef>
              <a:spcAft>
                <a:spcPts val="0"/>
              </a:spcAft>
            </a:pPr>
            <a:r>
              <a:rPr sz="1700" b="1" i="0">
                <a:solidFill>
                  <a:srgbClr val="FFFFFF"/>
                </a:solidFill>
                <a:latin typeface="Calibri"/>
              </a:rPr>
              <a:t>90 days</a:t>
            </a:r>
          </a:p>
        </p:txBody>
      </p:sp>
      <p:sp>
        <p:nvSpPr>
          <p:cNvPr id="230" name="Rounded Rectangle 229"/>
          <p:cNvSpPr/>
          <p:nvPr/>
        </p:nvSpPr>
        <p:spPr>
          <a:xfrm>
            <a:off x="658368" y="2697480"/>
            <a:ext cx="3474720" cy="2834640"/>
          </a:xfrm>
          <a:prstGeom prst="roundRect">
            <a:avLst>
              <a:gd name="adj" fmla="val 2258"/>
            </a:avLst>
          </a:prstGeom>
          <a:solidFill>
            <a:srgbClr val="EAF4FB"/>
          </a:solidFill>
          <a:ln>
            <a:noFill/>
          </a:ln>
          <a:effectLst/>
        </p:spPr>
        <p:txBody>
          <a:bodyPr rtlCol="0" anchor="t" lIns="128016" rIns="128016" tIns="91440" bIns="91440"/>
          <a:lstStyle/>
          <a:p>
            <a:pPr algn="ctr"/>
          </a:p>
        </p:txBody>
      </p:sp>
      <p:sp>
        <p:nvSpPr>
          <p:cNvPr id="231" name="TextBox 230"/>
          <p:cNvSpPr txBox="1"/>
          <p:nvPr/>
        </p:nvSpPr>
        <p:spPr>
          <a:xfrm>
            <a:off x="822959" y="2788920"/>
            <a:ext cx="3145536" cy="365760"/>
          </a:xfrm>
          <a:prstGeom prst="rect">
            <a:avLst/>
          </a:prstGeom>
          <a:noFill/>
        </p:spPr>
        <p:txBody>
          <a:bodyPr wrap="square" lIns="0" rIns="0" tIns="0" bIns="0" anchor="ctr">
            <a:spAutoFit/>
          </a:bodyPr>
          <a:lstStyle/>
          <a:p>
            <a:pPr algn="l">
              <a:spcBef>
                <a:spcPts val="0"/>
              </a:spcBef>
              <a:spcAft>
                <a:spcPts val="0"/>
              </a:spcAft>
            </a:pPr>
            <a:r>
              <a:rPr sz="1700" b="1" i="0">
                <a:solidFill>
                  <a:srgbClr val="253653"/>
                </a:solidFill>
                <a:latin typeface="Calibri"/>
              </a:rPr>
              <a:t>Build and measure</a:t>
            </a:r>
          </a:p>
        </p:txBody>
      </p:sp>
      <p:sp>
        <p:nvSpPr>
          <p:cNvPr id="232" name="TextBox 231"/>
          <p:cNvSpPr txBox="1"/>
          <p:nvPr/>
        </p:nvSpPr>
        <p:spPr>
          <a:xfrm>
            <a:off x="822959" y="3200400"/>
            <a:ext cx="3145536" cy="2286000"/>
          </a:xfrm>
          <a:prstGeom prst="rect">
            <a:avLst/>
          </a:prstGeom>
          <a:noFill/>
        </p:spPr>
        <p:txBody>
          <a:bodyPr wrap="square" lIns="0" rIns="0" tIns="0" bIns="0" anchor="t">
            <a:spAutoFit/>
          </a:bodyPr>
          <a:lstStyle/>
          <a:p>
            <a:pPr algn="l" marL="182880" indent="-182880">
              <a:spcBef>
                <a:spcPts val="0"/>
              </a:spcBef>
              <a:spcAft>
                <a:spcPts val="700"/>
              </a:spcAft>
              <a:buFont typeface="Arial"/>
              <a:buChar char="•"/>
            </a:pPr>
            <a:r>
              <a:rPr sz="1500" b="0" i="0">
                <a:solidFill>
                  <a:srgbClr val="1F2933"/>
                </a:solidFill>
                <a:latin typeface="Calibri"/>
              </a:rPr>
              <a:t>Bench-test one clip-on unit</a:t>
            </a:r>
          </a:p>
          <a:p>
            <a:pPr algn="l" marL="182880" indent="-182880">
              <a:spcBef>
                <a:spcPts val="0"/>
              </a:spcBef>
              <a:spcAft>
                <a:spcPts val="700"/>
              </a:spcAft>
              <a:buFont typeface="Arial"/>
              <a:buChar char="•"/>
            </a:pPr>
            <a:r>
              <a:rPr sz="1500" b="0" i="0">
                <a:solidFill>
                  <a:srgbClr val="1F2933"/>
                </a:solidFill>
                <a:latin typeface="Calibri"/>
              </a:rPr>
              <a:t>Record real breaths and re-train the breath model</a:t>
            </a:r>
          </a:p>
          <a:p>
            <a:pPr algn="l" marL="182880" indent="-182880">
              <a:spcBef>
                <a:spcPts val="0"/>
              </a:spcBef>
              <a:spcAft>
                <a:spcPts val="700"/>
              </a:spcAft>
              <a:buFont typeface="Arial"/>
              <a:buChar char="•"/>
            </a:pPr>
            <a:r>
              <a:rPr sz="1500" b="0" i="0">
                <a:solidFill>
                  <a:srgbClr val="1F2933"/>
                </a:solidFill>
                <a:latin typeface="Calibri"/>
              </a:rPr>
              <a:t>Patient login with hospital registration number + PIN (in development now)</a:t>
            </a:r>
          </a:p>
          <a:p>
            <a:pPr algn="l" marL="182880" indent="-182880">
              <a:spcBef>
                <a:spcPts val="0"/>
              </a:spcBef>
              <a:spcAft>
                <a:spcPts val="700"/>
              </a:spcAft>
              <a:buFont typeface="Arial"/>
              <a:buChar char="•"/>
            </a:pPr>
            <a:r>
              <a:rPr sz="1500" b="0" i="0">
                <a:solidFill>
                  <a:srgbClr val="1F2933"/>
                </a:solidFill>
                <a:latin typeface="Calibri"/>
              </a:rPr>
              <a:t>Each hospital's own name and logo inside the app</a:t>
            </a:r>
          </a:p>
        </p:txBody>
      </p:sp>
      <p:sp>
        <p:nvSpPr>
          <p:cNvPr id="233" name="Rounded Rectangle 232"/>
          <p:cNvSpPr/>
          <p:nvPr/>
        </p:nvSpPr>
        <p:spPr>
          <a:xfrm>
            <a:off x="5413248" y="1956816"/>
            <a:ext cx="1371600" cy="548640"/>
          </a:xfrm>
          <a:prstGeom prst="roundRect">
            <a:avLst>
              <a:gd name="adj" fmla="val 50000"/>
            </a:avLst>
          </a:prstGeom>
          <a:solidFill>
            <a:srgbClr val="38A0D8"/>
          </a:solidFill>
          <a:ln>
            <a:noFill/>
          </a:ln>
          <a:effectLst/>
        </p:spPr>
        <p:txBody>
          <a:bodyPr rtlCol="0" anchor="ctr" lIns="45720" rIns="45720" wrap="square"/>
          <a:lstStyle/>
          <a:p>
            <a:pPr algn="ctr">
              <a:spcBef>
                <a:spcPts val="0"/>
              </a:spcBef>
              <a:spcAft>
                <a:spcPts val="0"/>
              </a:spcAft>
            </a:pPr>
            <a:r>
              <a:rPr sz="1700" b="1" i="0">
                <a:solidFill>
                  <a:srgbClr val="FFFFFF"/>
                </a:solidFill>
                <a:latin typeface="Calibri"/>
              </a:rPr>
              <a:t>180 days</a:t>
            </a:r>
          </a:p>
        </p:txBody>
      </p:sp>
      <p:sp>
        <p:nvSpPr>
          <p:cNvPr id="234" name="Rounded Rectangle 233"/>
          <p:cNvSpPr/>
          <p:nvPr/>
        </p:nvSpPr>
        <p:spPr>
          <a:xfrm>
            <a:off x="4361688" y="2697480"/>
            <a:ext cx="3474720" cy="2834640"/>
          </a:xfrm>
          <a:prstGeom prst="roundRect">
            <a:avLst>
              <a:gd name="adj" fmla="val 2258"/>
            </a:avLst>
          </a:prstGeom>
          <a:solidFill>
            <a:srgbClr val="EAF4FB"/>
          </a:solidFill>
          <a:ln>
            <a:noFill/>
          </a:ln>
          <a:effectLst/>
        </p:spPr>
        <p:txBody>
          <a:bodyPr rtlCol="0" anchor="t" lIns="128016" rIns="128016" tIns="91440" bIns="91440"/>
          <a:lstStyle/>
          <a:p>
            <a:pPr algn="ctr"/>
          </a:p>
        </p:txBody>
      </p:sp>
      <p:sp>
        <p:nvSpPr>
          <p:cNvPr id="235" name="TextBox 234"/>
          <p:cNvSpPr txBox="1"/>
          <p:nvPr/>
        </p:nvSpPr>
        <p:spPr>
          <a:xfrm>
            <a:off x="4526279" y="2788920"/>
            <a:ext cx="3145536" cy="365760"/>
          </a:xfrm>
          <a:prstGeom prst="rect">
            <a:avLst/>
          </a:prstGeom>
          <a:noFill/>
        </p:spPr>
        <p:txBody>
          <a:bodyPr wrap="square" lIns="0" rIns="0" tIns="0" bIns="0" anchor="ctr">
            <a:spAutoFit/>
          </a:bodyPr>
          <a:lstStyle/>
          <a:p>
            <a:pPr algn="l">
              <a:spcBef>
                <a:spcPts val="0"/>
              </a:spcBef>
              <a:spcAft>
                <a:spcPts val="0"/>
              </a:spcAft>
            </a:pPr>
            <a:r>
              <a:rPr sz="1700" b="1" i="0">
                <a:solidFill>
                  <a:srgbClr val="253653"/>
                </a:solidFill>
                <a:latin typeface="Calibri"/>
              </a:rPr>
              <a:t>Permissions and pilot</a:t>
            </a:r>
          </a:p>
        </p:txBody>
      </p:sp>
      <p:sp>
        <p:nvSpPr>
          <p:cNvPr id="236" name="TextBox 235"/>
          <p:cNvSpPr txBox="1"/>
          <p:nvPr/>
        </p:nvSpPr>
        <p:spPr>
          <a:xfrm>
            <a:off x="4526279" y="3200400"/>
            <a:ext cx="3145536" cy="2286000"/>
          </a:xfrm>
          <a:prstGeom prst="rect">
            <a:avLst/>
          </a:prstGeom>
          <a:noFill/>
        </p:spPr>
        <p:txBody>
          <a:bodyPr wrap="square" lIns="0" rIns="0" tIns="0" bIns="0" anchor="t">
            <a:spAutoFit/>
          </a:bodyPr>
          <a:lstStyle/>
          <a:p>
            <a:pPr algn="l" marL="182880" indent="-182880">
              <a:spcBef>
                <a:spcPts val="0"/>
              </a:spcBef>
              <a:spcAft>
                <a:spcPts val="700"/>
              </a:spcAft>
              <a:buFont typeface="Arial"/>
              <a:buChar char="•"/>
            </a:pPr>
            <a:r>
              <a:rPr sz="1500" b="0" i="0">
                <a:solidFill>
                  <a:srgbClr val="1F2933"/>
                </a:solidFill>
                <a:latin typeface="Calibri"/>
              </a:rPr>
              <a:t>A registered ethics committee and CDSCO's written view, before any patient</a:t>
            </a:r>
          </a:p>
          <a:p>
            <a:pPr algn="l" marL="182880" indent="-182880">
              <a:spcBef>
                <a:spcPts val="0"/>
              </a:spcBef>
              <a:spcAft>
                <a:spcPts val="700"/>
              </a:spcAft>
              <a:buFont typeface="Arial"/>
              <a:buChar char="•"/>
            </a:pPr>
            <a:r>
              <a:rPr sz="1500" b="0" i="0">
                <a:solidFill>
                  <a:srgbClr val="1F2933"/>
                </a:solidFill>
                <a:latin typeface="Calibri"/>
              </a:rPr>
              <a:t>Start a 30-patient, 3-month pilot at one hospital (about ₹5.5 lakh, middle estimate)</a:t>
            </a:r>
          </a:p>
          <a:p>
            <a:pPr algn="l" marL="182880" indent="-182880">
              <a:spcBef>
                <a:spcPts val="0"/>
              </a:spcBef>
              <a:spcAft>
                <a:spcPts val="700"/>
              </a:spcAft>
              <a:buFont typeface="Arial"/>
              <a:buChar char="•"/>
            </a:pPr>
            <a:r>
              <a:rPr sz="1500" b="0" i="0">
                <a:solidFill>
                  <a:srgbClr val="1F2933"/>
                </a:solidFill>
                <a:latin typeface="Calibri"/>
              </a:rPr>
              <a:t>Department page with a bed board; the doctor's "My day" page</a:t>
            </a:r>
          </a:p>
        </p:txBody>
      </p:sp>
      <p:sp>
        <p:nvSpPr>
          <p:cNvPr id="237" name="Rounded Rectangle 236"/>
          <p:cNvSpPr/>
          <p:nvPr/>
        </p:nvSpPr>
        <p:spPr>
          <a:xfrm>
            <a:off x="9116568" y="1956816"/>
            <a:ext cx="1371600" cy="548640"/>
          </a:xfrm>
          <a:prstGeom prst="roundRect">
            <a:avLst>
              <a:gd name="adj" fmla="val 50000"/>
            </a:avLst>
          </a:prstGeom>
          <a:solidFill>
            <a:srgbClr val="38A0D8"/>
          </a:solidFill>
          <a:ln>
            <a:noFill/>
          </a:ln>
          <a:effectLst/>
        </p:spPr>
        <p:txBody>
          <a:bodyPr rtlCol="0" anchor="ctr" lIns="45720" rIns="45720" wrap="square"/>
          <a:lstStyle/>
          <a:p>
            <a:pPr algn="ctr">
              <a:spcBef>
                <a:spcPts val="0"/>
              </a:spcBef>
              <a:spcAft>
                <a:spcPts val="0"/>
              </a:spcAft>
            </a:pPr>
            <a:r>
              <a:rPr sz="1700" b="1" i="0">
                <a:solidFill>
                  <a:srgbClr val="FFFFFF"/>
                </a:solidFill>
                <a:latin typeface="Calibri"/>
              </a:rPr>
              <a:t>365 days</a:t>
            </a:r>
          </a:p>
        </p:txBody>
      </p:sp>
      <p:sp>
        <p:nvSpPr>
          <p:cNvPr id="238" name="Rounded Rectangle 237"/>
          <p:cNvSpPr/>
          <p:nvPr/>
        </p:nvSpPr>
        <p:spPr>
          <a:xfrm>
            <a:off x="8065008" y="2697480"/>
            <a:ext cx="3474720" cy="2834640"/>
          </a:xfrm>
          <a:prstGeom prst="roundRect">
            <a:avLst>
              <a:gd name="adj" fmla="val 2258"/>
            </a:avLst>
          </a:prstGeom>
          <a:solidFill>
            <a:srgbClr val="EAF4FB"/>
          </a:solidFill>
          <a:ln>
            <a:noFill/>
          </a:ln>
          <a:effectLst/>
        </p:spPr>
        <p:txBody>
          <a:bodyPr rtlCol="0" anchor="t" lIns="128016" rIns="128016" tIns="91440" bIns="91440"/>
          <a:lstStyle/>
          <a:p>
            <a:pPr algn="ctr"/>
          </a:p>
        </p:txBody>
      </p:sp>
      <p:sp>
        <p:nvSpPr>
          <p:cNvPr id="239" name="TextBox 238"/>
          <p:cNvSpPr txBox="1"/>
          <p:nvPr/>
        </p:nvSpPr>
        <p:spPr>
          <a:xfrm>
            <a:off x="8229600" y="2788920"/>
            <a:ext cx="3145536" cy="365760"/>
          </a:xfrm>
          <a:prstGeom prst="rect">
            <a:avLst/>
          </a:prstGeom>
          <a:noFill/>
        </p:spPr>
        <p:txBody>
          <a:bodyPr wrap="square" lIns="0" rIns="0" tIns="0" bIns="0" anchor="ctr">
            <a:spAutoFit/>
          </a:bodyPr>
          <a:lstStyle/>
          <a:p>
            <a:pPr algn="l">
              <a:spcBef>
                <a:spcPts val="0"/>
              </a:spcBef>
              <a:spcAft>
                <a:spcPts val="0"/>
              </a:spcAft>
            </a:pPr>
            <a:r>
              <a:rPr sz="1700" b="1" i="0">
                <a:solidFill>
                  <a:srgbClr val="253653"/>
                </a:solidFill>
                <a:latin typeface="Calibri"/>
              </a:rPr>
              <a:t>Report and widen</a:t>
            </a:r>
          </a:p>
        </p:txBody>
      </p:sp>
      <p:sp>
        <p:nvSpPr>
          <p:cNvPr id="240" name="TextBox 239"/>
          <p:cNvSpPr txBox="1"/>
          <p:nvPr/>
        </p:nvSpPr>
        <p:spPr>
          <a:xfrm>
            <a:off x="8229600" y="3200400"/>
            <a:ext cx="3145536" cy="2286000"/>
          </a:xfrm>
          <a:prstGeom prst="rect">
            <a:avLst/>
          </a:prstGeom>
          <a:noFill/>
        </p:spPr>
        <p:txBody>
          <a:bodyPr wrap="square" lIns="0" rIns="0" tIns="0" bIns="0" anchor="t">
            <a:spAutoFit/>
          </a:bodyPr>
          <a:lstStyle/>
          <a:p>
            <a:pPr algn="l" marL="182880" indent="-182880">
              <a:spcBef>
                <a:spcPts val="0"/>
              </a:spcBef>
              <a:spcAft>
                <a:spcPts val="700"/>
              </a:spcAft>
              <a:buFont typeface="Arial"/>
              <a:buChar char="•"/>
            </a:pPr>
            <a:r>
              <a:rPr sz="1500" b="0" i="0">
                <a:solidFill>
                  <a:srgbClr val="1F2933"/>
                </a:solidFill>
                <a:latin typeface="Calibri"/>
              </a:rPr>
              <a:t>Report the pilot's number, whatever it is</a:t>
            </a:r>
          </a:p>
          <a:p>
            <a:pPr algn="l" marL="182880" indent="-182880">
              <a:spcBef>
                <a:spcPts val="0"/>
              </a:spcBef>
              <a:spcAft>
                <a:spcPts val="700"/>
              </a:spcAft>
              <a:buFont typeface="Arial"/>
              <a:buChar char="•"/>
            </a:pPr>
            <a:r>
              <a:rPr sz="1500" b="0" i="0">
                <a:solidFill>
                  <a:srgbClr val="1F2933"/>
                </a:solidFill>
                <a:latin typeface="Calibri"/>
              </a:rPr>
              <a:t>Arogya Sathi apps in the Play Store and App Store, once a pilot hospital agrees</a:t>
            </a:r>
          </a:p>
          <a:p>
            <a:pPr algn="l" marL="182880" indent="-182880">
              <a:spcBef>
                <a:spcPts val="0"/>
              </a:spcBef>
              <a:spcAft>
                <a:spcPts val="700"/>
              </a:spcAft>
              <a:buFont typeface="Arial"/>
              <a:buChar char="•"/>
            </a:pPr>
            <a:r>
              <a:rPr sz="1500" b="0" i="0">
                <a:solidFill>
                  <a:srgbClr val="1F2933"/>
                </a:solidFill>
                <a:latin typeface="Calibri"/>
              </a:rPr>
              <a:t>A reader for three-ball exercisers; rehab for TB survivors</a:t>
            </a:r>
          </a:p>
        </p:txBody>
      </p:sp>
      <p:sp>
        <p:nvSpPr>
          <p:cNvPr id="241" name="TextBox 240"/>
          <p:cNvSpPr txBox="1"/>
          <p:nvPr/>
        </p:nvSpPr>
        <p:spPr>
          <a:xfrm>
            <a:off x="658368" y="5614416"/>
            <a:ext cx="10881360" cy="329184"/>
          </a:xfrm>
          <a:prstGeom prst="rect">
            <a:avLst/>
          </a:prstGeom>
          <a:noFill/>
        </p:spPr>
        <p:txBody>
          <a:bodyPr wrap="square" lIns="0" rIns="0" tIns="0" bIns="0" anchor="ctr">
            <a:spAutoFit/>
          </a:bodyPr>
          <a:lstStyle/>
          <a:p>
            <a:pPr algn="l">
              <a:spcBef>
                <a:spcPts val="0"/>
              </a:spcBef>
              <a:spcAft>
                <a:spcPts val="0"/>
              </a:spcAft>
            </a:pPr>
            <a:r>
              <a:rPr sz="1400" b="1" i="0">
                <a:solidFill>
                  <a:srgbClr val="5B6B7D"/>
                </a:solidFill>
                <a:latin typeface="Calibri"/>
              </a:rPr>
              <a:t>A plan, not a promise: everything on this slide is Planned or In development.</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7"/>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3000">
                <a:solidFill>
                  <a:schemeClr val="accent4"/>
                </a:solidFill>
                <a:latin typeface="Play"/>
                <a:ea typeface="Play"/>
                <a:cs typeface="Play"/>
                <a:sym typeface="Play"/>
              </a:rPr>
              <a:t>Team Structure</a:t>
            </a:r>
            <a:endParaRPr/>
          </a:p>
        </p:txBody>
      </p:sp>
      <p:sp>
        <p:nvSpPr>
          <p:cNvPr id="233" name="Google Shape;233;p17"/>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 name="Google Shape;234;p17"/>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p17"/>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 name="Google Shape;236;p17"/>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 name="Google Shape;237;p17"/>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238" name="Google Shape;238;p17"/>
          <p:cNvSpPr txBox="1"/>
          <p:nvPr/>
        </p:nvSpPr>
        <p:spPr>
          <a:xfrm>
            <a:off x="11109960" y="6569294"/>
            <a:ext cx="438912" cy="138499"/>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18</a:t>
            </a:r>
            <a:endParaRPr/>
          </a:p>
        </p:txBody>
      </p:sp>
      <p:pic>
        <p:nvPicPr>
          <p:cNvPr id="239" name="Picture 238" descr="Dolphin Tank India logo"/>
          <p:cNvPicPr>
            <a:picLocks noChangeAspect="1"/>
          </p:cNvPicPr>
          <p:nvPr/>
        </p:nvPicPr>
        <p:blipFill>
          <a:blip r:embed="rId3"/>
          <a:stretch>
            <a:fillRect/>
          </a:stretch>
        </p:blipFill>
        <p:spPr>
          <a:xfrm>
            <a:off x="10669520" y="146304"/>
            <a:ext cx="1387352" cy="654087"/>
          </a:xfrm>
          <a:prstGeom prst="rect">
            <a:avLst/>
          </a:prstGeom>
        </p:spPr>
      </p:pic>
      <p:sp>
        <p:nvSpPr>
          <p:cNvPr id="240" name="TextBox 239"/>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A small team where each person owns one part and can explain it.</a:t>
            </a:r>
          </a:p>
        </p:txBody>
      </p:sp>
      <p:sp>
        <p:nvSpPr>
          <p:cNvPr id="241" name="Rounded Rectangle 240"/>
          <p:cNvSpPr/>
          <p:nvPr/>
        </p:nvSpPr>
        <p:spPr>
          <a:xfrm>
            <a:off x="658368" y="1828800"/>
            <a:ext cx="2560320" cy="2971800"/>
          </a:xfrm>
          <a:prstGeom prst="roundRect">
            <a:avLst>
              <a:gd name="adj" fmla="val 2500"/>
            </a:avLst>
          </a:prstGeom>
          <a:solidFill>
            <a:srgbClr val="EAF4FB"/>
          </a:solidFill>
          <a:ln>
            <a:noFill/>
          </a:ln>
          <a:effectLst/>
        </p:spPr>
        <p:txBody>
          <a:bodyPr rtlCol="0" anchor="t" lIns="128016" rIns="128016" tIns="91440" bIns="91440"/>
          <a:lstStyle/>
          <a:p>
            <a:pPr algn="ctr"/>
          </a:p>
        </p:txBody>
      </p:sp>
      <p:sp>
        <p:nvSpPr>
          <p:cNvPr id="242" name="Oval 241"/>
          <p:cNvSpPr/>
          <p:nvPr/>
        </p:nvSpPr>
        <p:spPr>
          <a:xfrm>
            <a:off x="1435607" y="1965960"/>
            <a:ext cx="1005840" cy="1005840"/>
          </a:xfrm>
          <a:prstGeom prst="ellipse">
            <a:avLst/>
          </a:prstGeom>
          <a:solidFill>
            <a:srgbClr val="FFFBE6"/>
          </a:solidFill>
          <a:ln w="12700">
            <a:solidFill>
              <a:srgbClr val="C9A227"/>
            </a:solidFill>
            <a:prstDash val="dash"/>
          </a:ln>
          <a:effectLst/>
        </p:spPr>
        <p:txBody>
          <a:bodyPr rtlCol="0" anchor="ctr" lIns="18288" rIns="18288" tIns="18288" bIns="18288" wrap="square"/>
          <a:lstStyle/>
          <a:p>
            <a:pPr algn="ctr">
              <a:spcBef>
                <a:spcPts val="0"/>
              </a:spcBef>
              <a:spcAft>
                <a:spcPts val="0"/>
              </a:spcAft>
            </a:pPr>
            <a:r>
              <a:rPr sz="1100" b="1" i="0">
                <a:solidFill>
                  <a:srgbClr val="5A3A00"/>
                </a:solidFill>
                <a:highlight>
                  <a:srgbClr val="FFE95C"/>
                </a:highlight>
                <a:latin typeface="Calibri"/>
              </a:rPr>
              <a:t>[ADD: photo]</a:t>
            </a:r>
          </a:p>
        </p:txBody>
      </p:sp>
      <p:sp>
        <p:nvSpPr>
          <p:cNvPr id="243" name="TextBox 242"/>
          <p:cNvSpPr txBox="1"/>
          <p:nvPr/>
        </p:nvSpPr>
        <p:spPr>
          <a:xfrm>
            <a:off x="768096" y="3063240"/>
            <a:ext cx="2340864" cy="1691640"/>
          </a:xfrm>
          <a:prstGeom prst="rect">
            <a:avLst/>
          </a:prstGeom>
          <a:noFill/>
        </p:spPr>
        <p:txBody>
          <a:bodyPr wrap="square" lIns="0" rIns="0" tIns="0" bIns="0" anchor="t">
            <a:spAutoFit/>
          </a:bodyPr>
          <a:lstStyle/>
          <a:p>
            <a:pPr algn="ctr">
              <a:spcBef>
                <a:spcPts val="0"/>
              </a:spcBef>
              <a:spcAft>
                <a:spcPts val="300"/>
              </a:spcAft>
            </a:pPr>
            <a:r>
              <a:rPr sz="1600" b="1" i="0">
                <a:solidFill>
                  <a:srgbClr val="5A3A00"/>
                </a:solidFill>
                <a:highlight>
                  <a:srgbClr val="FFE95C"/>
                </a:highlight>
                <a:latin typeface="Calibri"/>
              </a:rPr>
              <a:t>[ADD: founder name]</a:t>
            </a:r>
          </a:p>
          <a:p>
            <a:pPr algn="ctr">
              <a:spcBef>
                <a:spcPts val="0"/>
              </a:spcBef>
              <a:spcAft>
                <a:spcPts val="800"/>
              </a:spcAft>
            </a:pPr>
            <a:r>
              <a:rPr sz="1400" b="0" i="0">
                <a:solidFill>
                  <a:srgbClr val="5B6B7D"/>
                </a:solidFill>
                <a:latin typeface="Calibri"/>
              </a:rPr>
              <a:t>Lead · pitch · video</a:t>
            </a:r>
          </a:p>
          <a:p>
            <a:pPr algn="ctr">
              <a:spcBef>
                <a:spcPts val="0"/>
              </a:spcBef>
              <a:spcAft>
                <a:spcPts val="0"/>
              </a:spcAft>
            </a:pPr>
            <a:r>
              <a:rPr sz="1400" b="1" i="0">
                <a:solidFill>
                  <a:srgbClr val="E57116"/>
                </a:solidFill>
                <a:latin typeface="Calibri"/>
              </a:rPr>
              <a:t>Owns:</a:t>
            </a:r>
            <a:r>
              <a:rPr sz="1400" b="0" i="0">
                <a:solidFill>
                  <a:srgbClr val="1F2933"/>
                </a:solidFill>
                <a:latin typeface="Calibri"/>
              </a:rPr>
              <a:t> Problem, users, money</a:t>
            </a:r>
          </a:p>
        </p:txBody>
      </p:sp>
      <p:sp>
        <p:nvSpPr>
          <p:cNvPr id="244" name="Rounded Rectangle 243"/>
          <p:cNvSpPr/>
          <p:nvPr/>
        </p:nvSpPr>
        <p:spPr>
          <a:xfrm>
            <a:off x="3432017" y="1828800"/>
            <a:ext cx="2560320" cy="2971800"/>
          </a:xfrm>
          <a:prstGeom prst="roundRect">
            <a:avLst>
              <a:gd name="adj" fmla="val 2500"/>
            </a:avLst>
          </a:prstGeom>
          <a:solidFill>
            <a:srgbClr val="EAF4FB"/>
          </a:solidFill>
          <a:ln>
            <a:noFill/>
          </a:ln>
          <a:effectLst/>
        </p:spPr>
        <p:txBody>
          <a:bodyPr rtlCol="0" anchor="t" lIns="128016" rIns="128016" tIns="91440" bIns="91440"/>
          <a:lstStyle/>
          <a:p>
            <a:pPr algn="ctr"/>
          </a:p>
        </p:txBody>
      </p:sp>
      <p:sp>
        <p:nvSpPr>
          <p:cNvPr id="245" name="Oval 244"/>
          <p:cNvSpPr/>
          <p:nvPr/>
        </p:nvSpPr>
        <p:spPr>
          <a:xfrm>
            <a:off x="4209257" y="1965960"/>
            <a:ext cx="1005840" cy="1005840"/>
          </a:xfrm>
          <a:prstGeom prst="ellipse">
            <a:avLst/>
          </a:prstGeom>
          <a:solidFill>
            <a:srgbClr val="FFFBE6"/>
          </a:solidFill>
          <a:ln w="12700">
            <a:solidFill>
              <a:srgbClr val="C9A227"/>
            </a:solidFill>
            <a:prstDash val="dash"/>
          </a:ln>
          <a:effectLst/>
        </p:spPr>
        <p:txBody>
          <a:bodyPr rtlCol="0" anchor="ctr" lIns="18288" rIns="18288" tIns="18288" bIns="18288" wrap="square"/>
          <a:lstStyle/>
          <a:p>
            <a:pPr algn="ctr">
              <a:spcBef>
                <a:spcPts val="0"/>
              </a:spcBef>
              <a:spcAft>
                <a:spcPts val="0"/>
              </a:spcAft>
            </a:pPr>
            <a:r>
              <a:rPr sz="1100" b="1" i="0">
                <a:solidFill>
                  <a:srgbClr val="5A3A00"/>
                </a:solidFill>
                <a:highlight>
                  <a:srgbClr val="FFE95C"/>
                </a:highlight>
                <a:latin typeface="Calibri"/>
              </a:rPr>
              <a:t>[ADD: photo]</a:t>
            </a:r>
          </a:p>
        </p:txBody>
      </p:sp>
      <p:sp>
        <p:nvSpPr>
          <p:cNvPr id="246" name="TextBox 245"/>
          <p:cNvSpPr txBox="1"/>
          <p:nvPr/>
        </p:nvSpPr>
        <p:spPr>
          <a:xfrm>
            <a:off x="3541745" y="3063240"/>
            <a:ext cx="2340864" cy="1691640"/>
          </a:xfrm>
          <a:prstGeom prst="rect">
            <a:avLst/>
          </a:prstGeom>
          <a:noFill/>
        </p:spPr>
        <p:txBody>
          <a:bodyPr wrap="square" lIns="0" rIns="0" tIns="0" bIns="0" anchor="t">
            <a:spAutoFit/>
          </a:bodyPr>
          <a:lstStyle/>
          <a:p>
            <a:pPr algn="ctr">
              <a:spcBef>
                <a:spcPts val="0"/>
              </a:spcBef>
              <a:spcAft>
                <a:spcPts val="300"/>
              </a:spcAft>
            </a:pPr>
            <a:r>
              <a:rPr sz="1600" b="1" i="0">
                <a:solidFill>
                  <a:srgbClr val="5A3A00"/>
                </a:solidFill>
                <a:highlight>
                  <a:srgbClr val="FFE95C"/>
                </a:highlight>
                <a:latin typeface="Calibri"/>
              </a:rPr>
              <a:t>[ADD: name]</a:t>
            </a:r>
          </a:p>
          <a:p>
            <a:pPr algn="ctr">
              <a:spcBef>
                <a:spcPts val="0"/>
              </a:spcBef>
              <a:spcAft>
                <a:spcPts val="800"/>
              </a:spcAft>
            </a:pPr>
            <a:r>
              <a:rPr sz="1400" b="1" i="0">
                <a:solidFill>
                  <a:srgbClr val="5A3A00"/>
                </a:solidFill>
                <a:highlight>
                  <a:srgbClr val="FFE95C"/>
                </a:highlight>
                <a:latin typeface="Calibri"/>
              </a:rPr>
              <a:t>[ADD: role]</a:t>
            </a:r>
          </a:p>
          <a:p>
            <a:pPr algn="ctr">
              <a:spcBef>
                <a:spcPts val="0"/>
              </a:spcBef>
              <a:spcAft>
                <a:spcPts val="0"/>
              </a:spcAft>
            </a:pPr>
            <a:r>
              <a:rPr sz="1400" b="1" i="0">
                <a:solidFill>
                  <a:srgbClr val="E57116"/>
                </a:solidFill>
                <a:latin typeface="Calibri"/>
              </a:rPr>
              <a:t>Owns:</a:t>
            </a:r>
            <a:r>
              <a:rPr sz="1400" b="0" i="0">
                <a:solidFill>
                  <a:srgbClr val="1F2933"/>
                </a:solidFill>
                <a:latin typeface="Calibri"/>
              </a:rPr>
              <a:t> Sensor and the unit design</a:t>
            </a:r>
          </a:p>
        </p:txBody>
      </p:sp>
      <p:sp>
        <p:nvSpPr>
          <p:cNvPr id="247" name="Rounded Rectangle 246"/>
          <p:cNvSpPr/>
          <p:nvPr/>
        </p:nvSpPr>
        <p:spPr>
          <a:xfrm>
            <a:off x="6205667" y="1828800"/>
            <a:ext cx="2560320" cy="2971800"/>
          </a:xfrm>
          <a:prstGeom prst="roundRect">
            <a:avLst>
              <a:gd name="adj" fmla="val 2500"/>
            </a:avLst>
          </a:prstGeom>
          <a:solidFill>
            <a:srgbClr val="EAF4FB"/>
          </a:solidFill>
          <a:ln>
            <a:noFill/>
          </a:ln>
          <a:effectLst/>
        </p:spPr>
        <p:txBody>
          <a:bodyPr rtlCol="0" anchor="t" lIns="128016" rIns="128016" tIns="91440" bIns="91440"/>
          <a:lstStyle/>
          <a:p>
            <a:pPr algn="ctr"/>
          </a:p>
        </p:txBody>
      </p:sp>
      <p:sp>
        <p:nvSpPr>
          <p:cNvPr id="248" name="Oval 247"/>
          <p:cNvSpPr/>
          <p:nvPr/>
        </p:nvSpPr>
        <p:spPr>
          <a:xfrm>
            <a:off x="6982907" y="1965960"/>
            <a:ext cx="1005840" cy="1005840"/>
          </a:xfrm>
          <a:prstGeom prst="ellipse">
            <a:avLst/>
          </a:prstGeom>
          <a:solidFill>
            <a:srgbClr val="FFFBE6"/>
          </a:solidFill>
          <a:ln w="12700">
            <a:solidFill>
              <a:srgbClr val="C9A227"/>
            </a:solidFill>
            <a:prstDash val="dash"/>
          </a:ln>
          <a:effectLst/>
        </p:spPr>
        <p:txBody>
          <a:bodyPr rtlCol="0" anchor="ctr" lIns="18288" rIns="18288" tIns="18288" bIns="18288" wrap="square"/>
          <a:lstStyle/>
          <a:p>
            <a:pPr algn="ctr">
              <a:spcBef>
                <a:spcPts val="0"/>
              </a:spcBef>
              <a:spcAft>
                <a:spcPts val="0"/>
              </a:spcAft>
            </a:pPr>
            <a:r>
              <a:rPr sz="1100" b="1" i="0">
                <a:solidFill>
                  <a:srgbClr val="5A3A00"/>
                </a:solidFill>
                <a:highlight>
                  <a:srgbClr val="FFE95C"/>
                </a:highlight>
                <a:latin typeface="Calibri"/>
              </a:rPr>
              <a:t>[ADD: photo]</a:t>
            </a:r>
          </a:p>
        </p:txBody>
      </p:sp>
      <p:sp>
        <p:nvSpPr>
          <p:cNvPr id="249" name="TextBox 248"/>
          <p:cNvSpPr txBox="1"/>
          <p:nvPr/>
        </p:nvSpPr>
        <p:spPr>
          <a:xfrm>
            <a:off x="6315395" y="3063240"/>
            <a:ext cx="2340864" cy="1691640"/>
          </a:xfrm>
          <a:prstGeom prst="rect">
            <a:avLst/>
          </a:prstGeom>
          <a:noFill/>
        </p:spPr>
        <p:txBody>
          <a:bodyPr wrap="square" lIns="0" rIns="0" tIns="0" bIns="0" anchor="t">
            <a:spAutoFit/>
          </a:bodyPr>
          <a:lstStyle/>
          <a:p>
            <a:pPr algn="ctr">
              <a:spcBef>
                <a:spcPts val="0"/>
              </a:spcBef>
              <a:spcAft>
                <a:spcPts val="300"/>
              </a:spcAft>
            </a:pPr>
            <a:r>
              <a:rPr sz="1600" b="1" i="0">
                <a:solidFill>
                  <a:srgbClr val="5A3A00"/>
                </a:solidFill>
                <a:highlight>
                  <a:srgbClr val="FFE95C"/>
                </a:highlight>
                <a:latin typeface="Calibri"/>
              </a:rPr>
              <a:t>[ADD: name]</a:t>
            </a:r>
          </a:p>
          <a:p>
            <a:pPr algn="ctr">
              <a:spcBef>
                <a:spcPts val="0"/>
              </a:spcBef>
              <a:spcAft>
                <a:spcPts val="800"/>
              </a:spcAft>
            </a:pPr>
            <a:r>
              <a:rPr sz="1400" b="1" i="0">
                <a:solidFill>
                  <a:srgbClr val="5A3A00"/>
                </a:solidFill>
                <a:highlight>
                  <a:srgbClr val="FFE95C"/>
                </a:highlight>
                <a:latin typeface="Calibri"/>
              </a:rPr>
              <a:t>[ADD: role]</a:t>
            </a:r>
          </a:p>
          <a:p>
            <a:pPr algn="ctr">
              <a:spcBef>
                <a:spcPts val="0"/>
              </a:spcBef>
              <a:spcAft>
                <a:spcPts val="0"/>
              </a:spcAft>
            </a:pPr>
            <a:r>
              <a:rPr sz="1400" b="1" i="0">
                <a:solidFill>
                  <a:srgbClr val="E57116"/>
                </a:solidFill>
                <a:latin typeface="Calibri"/>
              </a:rPr>
              <a:t>Owns:</a:t>
            </a:r>
            <a:r>
              <a:rPr sz="1400" b="0" i="0">
                <a:solidFill>
                  <a:srgbClr val="1F2933"/>
                </a:solidFill>
                <a:latin typeface="Calibri"/>
              </a:rPr>
              <a:t> Breath detection and the model (trained on simulated breaths)</a:t>
            </a:r>
          </a:p>
        </p:txBody>
      </p:sp>
      <p:sp>
        <p:nvSpPr>
          <p:cNvPr id="250" name="Rounded Rectangle 249"/>
          <p:cNvSpPr/>
          <p:nvPr/>
        </p:nvSpPr>
        <p:spPr>
          <a:xfrm>
            <a:off x="8979316" y="1828800"/>
            <a:ext cx="2560320" cy="2971800"/>
          </a:xfrm>
          <a:prstGeom prst="roundRect">
            <a:avLst>
              <a:gd name="adj" fmla="val 2500"/>
            </a:avLst>
          </a:prstGeom>
          <a:solidFill>
            <a:srgbClr val="EAF4FB"/>
          </a:solidFill>
          <a:ln>
            <a:noFill/>
          </a:ln>
          <a:effectLst/>
        </p:spPr>
        <p:txBody>
          <a:bodyPr rtlCol="0" anchor="t" lIns="128016" rIns="128016" tIns="91440" bIns="91440"/>
          <a:lstStyle/>
          <a:p>
            <a:pPr algn="ctr"/>
          </a:p>
        </p:txBody>
      </p:sp>
      <p:sp>
        <p:nvSpPr>
          <p:cNvPr id="251" name="Oval 250"/>
          <p:cNvSpPr/>
          <p:nvPr/>
        </p:nvSpPr>
        <p:spPr>
          <a:xfrm>
            <a:off x="9756556" y="1965960"/>
            <a:ext cx="1005840" cy="1005840"/>
          </a:xfrm>
          <a:prstGeom prst="ellipse">
            <a:avLst/>
          </a:prstGeom>
          <a:solidFill>
            <a:srgbClr val="FFFBE6"/>
          </a:solidFill>
          <a:ln w="12700">
            <a:solidFill>
              <a:srgbClr val="C9A227"/>
            </a:solidFill>
            <a:prstDash val="dash"/>
          </a:ln>
          <a:effectLst/>
        </p:spPr>
        <p:txBody>
          <a:bodyPr rtlCol="0" anchor="ctr" lIns="18288" rIns="18288" tIns="18288" bIns="18288" wrap="square"/>
          <a:lstStyle/>
          <a:p>
            <a:pPr algn="ctr">
              <a:spcBef>
                <a:spcPts val="0"/>
              </a:spcBef>
              <a:spcAft>
                <a:spcPts val="0"/>
              </a:spcAft>
            </a:pPr>
            <a:r>
              <a:rPr sz="1100" b="1" i="0">
                <a:solidFill>
                  <a:srgbClr val="5A3A00"/>
                </a:solidFill>
                <a:highlight>
                  <a:srgbClr val="FFE95C"/>
                </a:highlight>
                <a:latin typeface="Calibri"/>
              </a:rPr>
              <a:t>[ADD: photo]</a:t>
            </a:r>
          </a:p>
        </p:txBody>
      </p:sp>
      <p:sp>
        <p:nvSpPr>
          <p:cNvPr id="252" name="TextBox 251"/>
          <p:cNvSpPr txBox="1"/>
          <p:nvPr/>
        </p:nvSpPr>
        <p:spPr>
          <a:xfrm>
            <a:off x="9089044" y="3063240"/>
            <a:ext cx="2340864" cy="1691640"/>
          </a:xfrm>
          <a:prstGeom prst="rect">
            <a:avLst/>
          </a:prstGeom>
          <a:noFill/>
        </p:spPr>
        <p:txBody>
          <a:bodyPr wrap="square" lIns="0" rIns="0" tIns="0" bIns="0" anchor="t">
            <a:spAutoFit/>
          </a:bodyPr>
          <a:lstStyle/>
          <a:p>
            <a:pPr algn="ctr">
              <a:spcBef>
                <a:spcPts val="0"/>
              </a:spcBef>
              <a:spcAft>
                <a:spcPts val="300"/>
              </a:spcAft>
            </a:pPr>
            <a:r>
              <a:rPr sz="1600" b="1" i="0">
                <a:solidFill>
                  <a:srgbClr val="5A3A00"/>
                </a:solidFill>
                <a:highlight>
                  <a:srgbClr val="FFE95C"/>
                </a:highlight>
                <a:latin typeface="Calibri"/>
              </a:rPr>
              <a:t>[ADD: name]</a:t>
            </a:r>
          </a:p>
          <a:p>
            <a:pPr algn="ctr">
              <a:spcBef>
                <a:spcPts val="0"/>
              </a:spcBef>
              <a:spcAft>
                <a:spcPts val="800"/>
              </a:spcAft>
            </a:pPr>
            <a:r>
              <a:rPr sz="1400" b="1" i="0">
                <a:solidFill>
                  <a:srgbClr val="5A3A00"/>
                </a:solidFill>
                <a:highlight>
                  <a:srgbClr val="FFE95C"/>
                </a:highlight>
                <a:latin typeface="Calibri"/>
              </a:rPr>
              <a:t>[ADD: role]</a:t>
            </a:r>
          </a:p>
          <a:p>
            <a:pPr algn="ctr">
              <a:spcBef>
                <a:spcPts val="0"/>
              </a:spcBef>
              <a:spcAft>
                <a:spcPts val="0"/>
              </a:spcAft>
            </a:pPr>
            <a:r>
              <a:rPr sz="1400" b="1" i="0">
                <a:solidFill>
                  <a:srgbClr val="E57116"/>
                </a:solidFill>
                <a:latin typeface="Calibri"/>
              </a:rPr>
              <a:t>Owns:</a:t>
            </a:r>
            <a:r>
              <a:rPr sz="1400" b="0" i="0">
                <a:solidFill>
                  <a:srgbClr val="1F2933"/>
                </a:solidFill>
                <a:latin typeface="Calibri"/>
              </a:rPr>
              <a:t> Alerts, WhatsApp, consent, safety words</a:t>
            </a:r>
          </a:p>
        </p:txBody>
      </p:sp>
      <p:sp>
        <p:nvSpPr>
          <p:cNvPr id="253" name="Rounded Rectangle 252"/>
          <p:cNvSpPr/>
          <p:nvPr/>
        </p:nvSpPr>
        <p:spPr>
          <a:xfrm>
            <a:off x="658368" y="4956048"/>
            <a:ext cx="5349240" cy="822960"/>
          </a:xfrm>
          <a:prstGeom prst="roundRect">
            <a:avLst>
              <a:gd name="adj" fmla="val 7777"/>
            </a:avLst>
          </a:prstGeom>
          <a:solidFill>
            <a:srgbClr val="FFFBE6"/>
          </a:solidFill>
          <a:ln w="12700">
            <a:solidFill>
              <a:srgbClr val="C9A227"/>
            </a:solidFill>
            <a:prstDash val="dash"/>
          </a:ln>
          <a:effectLst/>
        </p:spPr>
        <p:txBody>
          <a:bodyPr rtlCol="0" anchor="ctr" lIns="128016" rIns="128016" tIns="91440" bIns="91440" wrap="square"/>
          <a:lstStyle/>
          <a:p>
            <a:pPr algn="l">
              <a:spcBef>
                <a:spcPts val="0"/>
              </a:spcBef>
              <a:spcAft>
                <a:spcPts val="0"/>
              </a:spcAft>
            </a:pPr>
            <a:r>
              <a:rPr sz="1400" b="1" i="0">
                <a:solidFill>
                  <a:srgbClr val="5A3A00"/>
                </a:solidFill>
                <a:highlight>
                  <a:srgbClr val="FFE95C"/>
                </a:highlight>
                <a:latin typeface="Calibri"/>
              </a:rPr>
              <a:t>[ADD: college or organisation, city, state]</a:t>
            </a:r>
          </a:p>
        </p:txBody>
      </p:sp>
      <p:sp>
        <p:nvSpPr>
          <p:cNvPr id="254" name="Rounded Rectangle 253"/>
          <p:cNvSpPr/>
          <p:nvPr/>
        </p:nvSpPr>
        <p:spPr>
          <a:xfrm>
            <a:off x="6190488" y="4956048"/>
            <a:ext cx="5349240" cy="822960"/>
          </a:xfrm>
          <a:prstGeom prst="roundRect">
            <a:avLst>
              <a:gd name="adj" fmla="val 7777"/>
            </a:avLst>
          </a:prstGeom>
          <a:solidFill>
            <a:srgbClr val="FFFBE6"/>
          </a:solidFill>
          <a:ln w="12700">
            <a:solidFill>
              <a:srgbClr val="C9A227"/>
            </a:solidFill>
            <a:prstDash val="dash"/>
          </a:ln>
          <a:effectLst/>
        </p:spPr>
        <p:txBody>
          <a:bodyPr rtlCol="0" anchor="ctr" lIns="128016" rIns="128016" tIns="91440" bIns="91440" wrap="square"/>
          <a:lstStyle/>
          <a:p>
            <a:pPr algn="l">
              <a:spcBef>
                <a:spcPts val="0"/>
              </a:spcBef>
              <a:spcAft>
                <a:spcPts val="0"/>
              </a:spcAft>
            </a:pPr>
            <a:r>
              <a:rPr sz="1400" b="1" i="0">
                <a:solidFill>
                  <a:srgbClr val="253653"/>
                </a:solidFill>
                <a:latin typeface="Calibri"/>
              </a:rPr>
              <a:t>Advisors / mentors:</a:t>
            </a:r>
            <a:r>
              <a:rPr sz="1400" b="0" i="0">
                <a:solidFill>
                  <a:srgbClr val="1F2933"/>
                </a:solidFill>
                <a:latin typeface="Calibri"/>
              </a:rPr>
              <a:t> </a:t>
            </a:r>
            <a:r>
              <a:rPr sz="1400" b="1" i="0">
                <a:solidFill>
                  <a:srgbClr val="5A3A00"/>
                </a:solidFill>
                <a:highlight>
                  <a:srgbClr val="FFE95C"/>
                </a:highlight>
                <a:latin typeface="Calibri"/>
              </a:rPr>
              <a:t>[ADD: names and roles, or "none yet - mentoring is part of our ask"]</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8"/>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3000">
                <a:solidFill>
                  <a:schemeClr val="accent4"/>
                </a:solidFill>
                <a:latin typeface="Play"/>
                <a:ea typeface="Play"/>
                <a:cs typeface="Play"/>
                <a:sym typeface="Play"/>
              </a:rPr>
              <a:t>Financial Requirements</a:t>
            </a:r>
            <a:endParaRPr/>
          </a:p>
        </p:txBody>
      </p:sp>
      <p:sp>
        <p:nvSpPr>
          <p:cNvPr id="246" name="Google Shape;246;p18"/>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 name="Google Shape;247;p18"/>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8" name="Google Shape;248;p18"/>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9" name="Google Shape;249;p18"/>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 name="Google Shape;250;p18"/>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251" name="Google Shape;251;p18"/>
          <p:cNvSpPr txBox="1"/>
          <p:nvPr/>
        </p:nvSpPr>
        <p:spPr>
          <a:xfrm>
            <a:off x="11109960" y="6569294"/>
            <a:ext cx="438912" cy="138499"/>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19</a:t>
            </a:r>
            <a:endParaRPr/>
          </a:p>
        </p:txBody>
      </p:sp>
      <p:pic>
        <p:nvPicPr>
          <p:cNvPr id="252" name="Picture 251" descr="Dolphin Tank India logo"/>
          <p:cNvPicPr>
            <a:picLocks noChangeAspect="1"/>
          </p:cNvPicPr>
          <p:nvPr/>
        </p:nvPicPr>
        <p:blipFill>
          <a:blip r:embed="rId3"/>
          <a:stretch>
            <a:fillRect/>
          </a:stretch>
        </p:blipFill>
        <p:spPr>
          <a:xfrm>
            <a:off x="10669520" y="146304"/>
            <a:ext cx="1387352" cy="654087"/>
          </a:xfrm>
          <a:prstGeom prst="rect">
            <a:avLst/>
          </a:prstGeom>
        </p:spPr>
      </p:pic>
      <p:sp>
        <p:nvSpPr>
          <p:cNvPr id="253" name="TextBox 252"/>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Our near-term need is one pilot: about ₹5.5 lakh (middle estimate).</a:t>
            </a:r>
          </a:p>
        </p:txBody>
      </p:sp>
      <p:graphicFrame>
        <p:nvGraphicFramePr>
          <p:cNvPr id="254" name="Table 253"/>
          <p:cNvGraphicFramePr>
            <a:graphicFrameLocks noGrp="1"/>
          </p:cNvGraphicFramePr>
          <p:nvPr/>
        </p:nvGraphicFramePr>
        <p:xfrm>
          <a:off x="658368" y="1828800"/>
          <a:ext cx="10881360" cy="3017520"/>
        </p:xfrm>
        <a:graphic>
          <a:graphicData uri="http://schemas.openxmlformats.org/drawingml/2006/table">
            <a:tbl>
              <a:tblPr firstRow="0" bandRow="0">
                <a:tableStyleId>{5C22544A-7EE6-4342-B048-85BDC9FD1C3A}</a:tableStyleId>
              </a:tblPr>
              <a:tblGrid>
                <a:gridCol w="2377440"/>
                <a:gridCol w="3383280"/>
                <a:gridCol w="5120640"/>
              </a:tblGrid>
              <a:tr h="384048">
                <a:tc>
                  <a:txBody>
                    <a:bodyPr wrap="square"/>
                    <a:lstStyle/>
                    <a:p>
                      <a:pPr algn="l">
                        <a:spcBef>
                          <a:spcPts val="0"/>
                        </a:spcBef>
                        <a:spcAft>
                          <a:spcPts val="0"/>
                        </a:spcAft>
                      </a:pPr>
                      <a:r>
                        <a:rPr sz="1400" b="1" i="0">
                          <a:solidFill>
                            <a:srgbClr val="FFFFFF"/>
                          </a:solidFill>
                          <a:latin typeface="Calibri"/>
                        </a:rPr>
                        <a:t>Category</a:t>
                      </a:r>
                    </a:p>
                  </a:txBody>
                  <a:tcPr marL="91440" marR="91440" marT="54864" marB="54864" anchor="ctr">
                    <a:solidFill>
                      <a:srgbClr val="253653"/>
                    </a:solidFill>
                  </a:tcPr>
                </a:tc>
                <a:tc>
                  <a:txBody>
                    <a:bodyPr wrap="square"/>
                    <a:lstStyle/>
                    <a:p>
                      <a:pPr algn="l">
                        <a:spcBef>
                          <a:spcPts val="0"/>
                        </a:spcBef>
                        <a:spcAft>
                          <a:spcPts val="0"/>
                        </a:spcAft>
                      </a:pPr>
                      <a:r>
                        <a:rPr sz="1400" b="1" i="0">
                          <a:solidFill>
                            <a:srgbClr val="FFFFFF"/>
                          </a:solidFill>
                          <a:latin typeface="Calibri"/>
                        </a:rPr>
                        <a:t>Amount</a:t>
                      </a:r>
                    </a:p>
                  </a:txBody>
                  <a:tcPr marL="91440" marR="91440" marT="54864" marB="54864" anchor="ctr">
                    <a:solidFill>
                      <a:srgbClr val="253653"/>
                    </a:solidFill>
                  </a:tcPr>
                </a:tc>
                <a:tc>
                  <a:txBody>
                    <a:bodyPr wrap="square"/>
                    <a:lstStyle/>
                    <a:p>
                      <a:pPr algn="l">
                        <a:spcBef>
                          <a:spcPts val="0"/>
                        </a:spcBef>
                        <a:spcAft>
                          <a:spcPts val="0"/>
                        </a:spcAft>
                      </a:pPr>
                      <a:r>
                        <a:rPr sz="1400" b="1" i="0">
                          <a:solidFill>
                            <a:srgbClr val="FFFFFF"/>
                          </a:solidFill>
                          <a:latin typeface="Calibri"/>
                        </a:rPr>
                        <a:t>What it covers</a:t>
                      </a:r>
                    </a:p>
                  </a:txBody>
                  <a:tcPr marL="91440" marR="91440" marT="54864" marB="54864" anchor="ctr">
                    <a:solidFill>
                      <a:srgbClr val="253653"/>
                    </a:solidFill>
                  </a:tcPr>
                </a:tc>
              </a:tr>
              <a:tr h="658368">
                <a:tc>
                  <a:txBody>
                    <a:bodyPr wrap="square"/>
                    <a:lstStyle/>
                    <a:p>
                      <a:pPr algn="l">
                        <a:spcBef>
                          <a:spcPts val="0"/>
                        </a:spcBef>
                        <a:spcAft>
                          <a:spcPts val="0"/>
                        </a:spcAft>
                      </a:pPr>
                      <a:r>
                        <a:rPr sz="1400" b="1" i="0">
                          <a:solidFill>
                            <a:srgbClr val="253653"/>
                          </a:solidFill>
                          <a:latin typeface="Calibri"/>
                        </a:rPr>
                        <a:t>Product development</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About ₹2,500 of parts per unit (estimate)</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Building and bench-testing the clip-on unit. A hand-built cable prototype is about ₹1,365</a:t>
                      </a:r>
                    </a:p>
                  </a:txBody>
                  <a:tcPr marL="91440" marR="91440" marT="54864" marB="54864" anchor="ctr">
                    <a:solidFill>
                      <a:srgbClr val="FFFFFF"/>
                    </a:solidFill>
                  </a:tcPr>
                </a:tc>
              </a:tr>
              <a:tr h="658368">
                <a:tc>
                  <a:txBody>
                    <a:bodyPr wrap="square"/>
                    <a:lstStyle/>
                    <a:p>
                      <a:pPr algn="l">
                        <a:spcBef>
                          <a:spcPts val="0"/>
                        </a:spcBef>
                        <a:spcAft>
                          <a:spcPts val="0"/>
                        </a:spcAft>
                      </a:pPr>
                      <a:r>
                        <a:rPr sz="1400" b="1" i="0">
                          <a:solidFill>
                            <a:srgbClr val="253653"/>
                          </a:solidFill>
                          <a:latin typeface="Calibri"/>
                        </a:rPr>
                        <a:t>Marketing</a:t>
                      </a:r>
                    </a:p>
                  </a:txBody>
                  <a:tcPr marL="91440" marR="91440" marT="54864" marB="54864" anchor="ctr">
                    <a:solidFill>
                      <a:srgbClr val="F4F8FB"/>
                    </a:solidFill>
                  </a:tcPr>
                </a:tc>
                <a:tc>
                  <a:txBody>
                    <a:bodyPr wrap="square"/>
                    <a:lstStyle/>
                    <a:p>
                      <a:pPr algn="l">
                        <a:spcBef>
                          <a:spcPts val="0"/>
                        </a:spcBef>
                        <a:spcAft>
                          <a:spcPts val="0"/>
                        </a:spcAft>
                      </a:pPr>
                      <a:r>
                        <a:rPr sz="1400" b="0" i="0">
                          <a:solidFill>
                            <a:srgbClr val="1F2933"/>
                          </a:solidFill>
                          <a:latin typeface="Calibri"/>
                        </a:rPr>
                        <a:t>None planned</a:t>
                      </a:r>
                    </a:p>
                  </a:txBody>
                  <a:tcPr marL="91440" marR="91440" marT="54864" marB="54864" anchor="ctr">
                    <a:solidFill>
                      <a:srgbClr val="F4F8FB"/>
                    </a:solidFill>
                  </a:tcPr>
                </a:tc>
                <a:tc>
                  <a:txBody>
                    <a:bodyPr wrap="square"/>
                    <a:lstStyle/>
                    <a:p>
                      <a:pPr algn="l">
                        <a:spcBef>
                          <a:spcPts val="0"/>
                        </a:spcBef>
                        <a:spcAft>
                          <a:spcPts val="0"/>
                        </a:spcAft>
                      </a:pPr>
                      <a:r>
                        <a:rPr sz="1400" b="0" i="0">
                          <a:solidFill>
                            <a:srgbClr val="1F2933"/>
                          </a:solidFill>
                          <a:latin typeface="Calibri"/>
                        </a:rPr>
                        <a:t>We need introductions to hospital teams, not advertising</a:t>
                      </a:r>
                    </a:p>
                  </a:txBody>
                  <a:tcPr marL="91440" marR="91440" marT="54864" marB="54864" anchor="ctr">
                    <a:solidFill>
                      <a:srgbClr val="F4F8FB"/>
                    </a:solidFill>
                  </a:tcPr>
                </a:tc>
              </a:tr>
              <a:tr h="658368">
                <a:tc>
                  <a:txBody>
                    <a:bodyPr wrap="square"/>
                    <a:lstStyle/>
                    <a:p>
                      <a:pPr algn="l">
                        <a:spcBef>
                          <a:spcPts val="0"/>
                        </a:spcBef>
                        <a:spcAft>
                          <a:spcPts val="0"/>
                        </a:spcAft>
                      </a:pPr>
                      <a:r>
                        <a:rPr sz="1400" b="1" i="0">
                          <a:solidFill>
                            <a:srgbClr val="253653"/>
                          </a:solidFill>
                          <a:latin typeface="Calibri"/>
                        </a:rPr>
                        <a:t>Operations</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About ₹5.5 lakh (middle estimate)</a:t>
                      </a:r>
                    </a:p>
                  </a:txBody>
                  <a:tcPr marL="91440" marR="91440" marT="54864" marB="54864" anchor="ctr">
                    <a:solidFill>
                      <a:srgbClr val="FFFFFF"/>
                    </a:solidFill>
                  </a:tcPr>
                </a:tc>
                <a:tc>
                  <a:txBody>
                    <a:bodyPr wrap="square"/>
                    <a:lstStyle/>
                    <a:p>
                      <a:pPr algn="l">
                        <a:spcBef>
                          <a:spcPts val="0"/>
                        </a:spcBef>
                        <a:spcAft>
                          <a:spcPts val="0"/>
                        </a:spcAft>
                      </a:pPr>
                      <a:r>
                        <a:rPr sz="1400" b="0" i="0">
                          <a:solidFill>
                            <a:srgbClr val="1F2933"/>
                          </a:solidFill>
                          <a:latin typeface="Calibri"/>
                        </a:rPr>
                        <a:t>A 30-patient, 3-month pilot at one hospital. Hosting is free for the demo only</a:t>
                      </a:r>
                    </a:p>
                  </a:txBody>
                  <a:tcPr marL="91440" marR="91440" marT="54864" marB="54864" anchor="ctr">
                    <a:solidFill>
                      <a:srgbClr val="FFFFFF"/>
                    </a:solidFill>
                  </a:tcPr>
                </a:tc>
              </a:tr>
              <a:tr h="658368">
                <a:tc>
                  <a:txBody>
                    <a:bodyPr wrap="square"/>
                    <a:lstStyle/>
                    <a:p>
                      <a:pPr algn="l">
                        <a:spcBef>
                          <a:spcPts val="0"/>
                        </a:spcBef>
                        <a:spcAft>
                          <a:spcPts val="0"/>
                        </a:spcAft>
                      </a:pPr>
                      <a:r>
                        <a:rPr sz="1400" b="1" i="0">
                          <a:solidFill>
                            <a:srgbClr val="253653"/>
                          </a:solidFill>
                          <a:latin typeface="Calibri"/>
                        </a:rPr>
                        <a:t>Funding requirement</a:t>
                      </a:r>
                    </a:p>
                  </a:txBody>
                  <a:tcPr marL="91440" marR="91440" marT="54864" marB="54864" anchor="ctr">
                    <a:solidFill>
                      <a:srgbClr val="DCEEF9"/>
                    </a:solidFill>
                  </a:tcPr>
                </a:tc>
                <a:tc>
                  <a:txBody>
                    <a:bodyPr wrap="square"/>
                    <a:lstStyle/>
                    <a:p>
                      <a:pPr algn="l">
                        <a:spcBef>
                          <a:spcPts val="0"/>
                        </a:spcBef>
                        <a:spcAft>
                          <a:spcPts val="0"/>
                        </a:spcAft>
                      </a:pPr>
                      <a:r>
                        <a:rPr sz="1400" b="0" i="0">
                          <a:solidFill>
                            <a:srgbClr val="1F2933"/>
                          </a:solidFill>
                          <a:latin typeface="Calibri"/>
                        </a:rPr>
                        <a:t>About ₹5.5 lakh for the pilot</a:t>
                      </a:r>
                    </a:p>
                  </a:txBody>
                  <a:tcPr marL="91440" marR="91440" marT="54864" marB="54864" anchor="ctr">
                    <a:solidFill>
                      <a:srgbClr val="DCEEF9"/>
                    </a:solidFill>
                  </a:tcPr>
                </a:tc>
                <a:tc>
                  <a:txBody>
                    <a:bodyPr wrap="square"/>
                    <a:lstStyle/>
                    <a:p>
                      <a:pPr algn="l">
                        <a:spcBef>
                          <a:spcPts val="0"/>
                        </a:spcBef>
                        <a:spcAft>
                          <a:spcPts val="0"/>
                        </a:spcAft>
                      </a:pPr>
                      <a:r>
                        <a:rPr sz="1400" b="0" i="0">
                          <a:solidFill>
                            <a:srgbClr val="1F2933"/>
                          </a:solidFill>
                          <a:latin typeface="Calibri"/>
                        </a:rPr>
                        <a:t>One NIDHI-PRAYAS grant (up to ₹10 lakh) could fund it</a:t>
                      </a:r>
                    </a:p>
                  </a:txBody>
                  <a:tcPr marL="91440" marR="91440" marT="54864" marB="54864" anchor="ctr">
                    <a:solidFill>
                      <a:srgbClr val="DCEEF9"/>
                    </a:solidFill>
                  </a:tcPr>
                </a:tc>
              </a:tr>
            </a:tbl>
          </a:graphicData>
        </a:graphic>
      </p:graphicFrame>
      <p:sp>
        <p:nvSpPr>
          <p:cNvPr id="255" name="Rounded Rectangle 254"/>
          <p:cNvSpPr/>
          <p:nvPr/>
        </p:nvSpPr>
        <p:spPr>
          <a:xfrm>
            <a:off x="658368" y="5074920"/>
            <a:ext cx="10881360" cy="713232"/>
          </a:xfrm>
          <a:prstGeom prst="roundRect">
            <a:avLst>
              <a:gd name="adj" fmla="val 8974"/>
            </a:avLst>
          </a:prstGeom>
          <a:solidFill>
            <a:srgbClr val="FDF1E7"/>
          </a:solidFill>
          <a:ln>
            <a:noFill/>
          </a:ln>
          <a:effectLst/>
        </p:spPr>
        <p:txBody>
          <a:bodyPr rtlCol="0" anchor="ctr" lIns="128016" rIns="128016" tIns="91440" bIns="91440" wrap="square"/>
          <a:lstStyle/>
          <a:p>
            <a:pPr algn="l">
              <a:spcBef>
                <a:spcPts val="0"/>
              </a:spcBef>
              <a:spcAft>
                <a:spcPts val="0"/>
              </a:spcAft>
            </a:pPr>
            <a:r>
              <a:rPr sz="1400" b="1" i="0">
                <a:solidFill>
                  <a:srgbClr val="253653"/>
                </a:solidFill>
                <a:latin typeface="Calibri"/>
              </a:rPr>
              <a:t>Read this as estimates:</a:t>
            </a:r>
            <a:r>
              <a:rPr sz="1400" b="0" i="0">
                <a:solidFill>
                  <a:srgbClr val="1F2933"/>
                </a:solidFill>
                <a:latin typeface="Calibri"/>
              </a:rPr>
              <a:t> these are our own figures from shop prices and published rate cards, not quotes from a supplier or a hospital.</a:t>
            </a:r>
          </a:p>
        </p:txBody>
      </p:sp>
      <p:sp>
        <p:nvSpPr>
          <p:cNvPr id="256" name="TextBox 255"/>
          <p:cNvSpPr txBox="1"/>
          <p:nvPr/>
        </p:nvSpPr>
        <p:spPr>
          <a:xfrm>
            <a:off x="658368" y="6035040"/>
            <a:ext cx="9326880" cy="402336"/>
          </a:xfrm>
          <a:prstGeom prst="rect">
            <a:avLst/>
          </a:prstGeom>
          <a:noFill/>
        </p:spPr>
        <p:txBody>
          <a:bodyPr wrap="square" lIns="0" rIns="0" tIns="0" bIns="0" anchor="b">
            <a:spAutoFit/>
          </a:bodyPr>
          <a:lstStyle/>
          <a:p>
            <a:pPr algn="l">
              <a:spcBef>
                <a:spcPts val="0"/>
              </a:spcBef>
              <a:spcAft>
                <a:spcPts val="0"/>
              </a:spcAft>
            </a:pPr>
            <a:r>
              <a:rPr sz="1000" b="0" i="0">
                <a:solidFill>
                  <a:srgbClr val="5B6B7D"/>
                </a:solidFill>
                <a:latin typeface="Calibri"/>
              </a:rPr>
              <a:t>All amounts are team estimates. The NIDHI-PRAYAS figure is the grant's upper limit, not money we hold.</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9"/>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3000">
                <a:solidFill>
                  <a:schemeClr val="accent4"/>
                </a:solidFill>
                <a:latin typeface="Play"/>
                <a:ea typeface="Play"/>
                <a:cs typeface="Play"/>
                <a:sym typeface="Play"/>
              </a:rPr>
              <a:t>Ask &amp; Next Steps</a:t>
            </a:r>
            <a:endParaRPr/>
          </a:p>
        </p:txBody>
      </p:sp>
      <p:sp>
        <p:nvSpPr>
          <p:cNvPr id="260" name="Google Shape;260;p19"/>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1" name="Google Shape;261;p19"/>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2" name="Google Shape;262;p19"/>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3" name="Google Shape;263;p19"/>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 name="Google Shape;264;p19"/>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265" name="Google Shape;265;p19"/>
          <p:cNvSpPr txBox="1"/>
          <p:nvPr/>
        </p:nvSpPr>
        <p:spPr>
          <a:xfrm>
            <a:off x="11109960" y="6569294"/>
            <a:ext cx="438912" cy="138499"/>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20</a:t>
            </a:r>
            <a:endParaRPr/>
          </a:p>
        </p:txBody>
      </p:sp>
      <p:pic>
        <p:nvPicPr>
          <p:cNvPr id="266" name="Picture 265" descr="Dolphin Tank India logo"/>
          <p:cNvPicPr>
            <a:picLocks noChangeAspect="1"/>
          </p:cNvPicPr>
          <p:nvPr/>
        </p:nvPicPr>
        <p:blipFill>
          <a:blip r:embed="rId3"/>
          <a:stretch>
            <a:fillRect/>
          </a:stretch>
        </p:blipFill>
        <p:spPr>
          <a:xfrm>
            <a:off x="10669520" y="146304"/>
            <a:ext cx="1387352" cy="654087"/>
          </a:xfrm>
          <a:prstGeom prst="rect">
            <a:avLst/>
          </a:prstGeom>
        </p:spPr>
      </p:pic>
      <p:sp>
        <p:nvSpPr>
          <p:cNvPr id="267" name="TextBox 266"/>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Our ask: one hospital team to pilot with, and guidance on the regulatory steps.</a:t>
            </a:r>
          </a:p>
        </p:txBody>
      </p:sp>
      <p:sp>
        <p:nvSpPr>
          <p:cNvPr id="268" name="Rounded Rectangle 267"/>
          <p:cNvSpPr/>
          <p:nvPr/>
        </p:nvSpPr>
        <p:spPr>
          <a:xfrm>
            <a:off x="658368" y="1828800"/>
            <a:ext cx="6583680" cy="758952"/>
          </a:xfrm>
          <a:prstGeom prst="roundRect">
            <a:avLst>
              <a:gd name="adj" fmla="val 8433"/>
            </a:avLst>
          </a:prstGeom>
          <a:solidFill>
            <a:srgbClr val="EAF4FB"/>
          </a:solidFill>
          <a:ln>
            <a:noFill/>
          </a:ln>
          <a:effectLst/>
        </p:spPr>
        <p:txBody>
          <a:bodyPr rtlCol="0" anchor="t" lIns="128016" rIns="128016" tIns="91440" bIns="91440"/>
          <a:lstStyle/>
          <a:p>
            <a:pPr algn="ctr"/>
          </a:p>
        </p:txBody>
      </p:sp>
      <p:sp>
        <p:nvSpPr>
          <p:cNvPr id="269" name="Rounded Rectangle 268"/>
          <p:cNvSpPr/>
          <p:nvPr/>
        </p:nvSpPr>
        <p:spPr>
          <a:xfrm>
            <a:off x="658368" y="1828800"/>
            <a:ext cx="1783080" cy="758952"/>
          </a:xfrm>
          <a:prstGeom prst="roundRect">
            <a:avLst>
              <a:gd name="adj" fmla="val 8433"/>
            </a:avLst>
          </a:prstGeom>
          <a:solidFill>
            <a:srgbClr val="253653"/>
          </a:solidFill>
          <a:ln>
            <a:noFill/>
          </a:ln>
          <a:effectLst/>
        </p:spPr>
        <p:txBody>
          <a:bodyPr rtlCol="0" anchor="ctr" lIns="45720" rIns="45720" wrap="square"/>
          <a:lstStyle/>
          <a:p>
            <a:pPr algn="ctr">
              <a:spcBef>
                <a:spcPts val="0"/>
              </a:spcBef>
              <a:spcAft>
                <a:spcPts val="0"/>
              </a:spcAft>
            </a:pPr>
            <a:r>
              <a:rPr sz="1600" b="1" i="0">
                <a:solidFill>
                  <a:srgbClr val="FFFFFF"/>
                </a:solidFill>
                <a:latin typeface="Calibri"/>
              </a:rPr>
              <a:t>Pilot partner</a:t>
            </a:r>
          </a:p>
        </p:txBody>
      </p:sp>
      <p:sp>
        <p:nvSpPr>
          <p:cNvPr id="270" name="TextBox 269"/>
          <p:cNvSpPr txBox="1"/>
          <p:nvPr/>
        </p:nvSpPr>
        <p:spPr>
          <a:xfrm>
            <a:off x="2578608" y="1828800"/>
            <a:ext cx="4572000" cy="758952"/>
          </a:xfrm>
          <a:prstGeom prst="rect">
            <a:avLst/>
          </a:prstGeom>
          <a:noFill/>
        </p:spPr>
        <p:txBody>
          <a:bodyPr wrap="square" lIns="0" rIns="0" tIns="0" bIns="0" anchor="ctr">
            <a:spAutoFit/>
          </a:bodyPr>
          <a:lstStyle/>
          <a:p>
            <a:pPr algn="l">
              <a:spcBef>
                <a:spcPts val="0"/>
              </a:spcBef>
              <a:spcAft>
                <a:spcPts val="0"/>
              </a:spcAft>
            </a:pPr>
            <a:r>
              <a:rPr sz="1500" b="0" i="0">
                <a:solidFill>
                  <a:srgbClr val="1F2933"/>
                </a:solidFill>
                <a:latin typeface="Calibri"/>
              </a:rPr>
              <a:t>An introduction to one hospital's nurse or physiotherapy team</a:t>
            </a:r>
          </a:p>
        </p:txBody>
      </p:sp>
      <p:sp>
        <p:nvSpPr>
          <p:cNvPr id="271" name="Rounded Rectangle 270"/>
          <p:cNvSpPr/>
          <p:nvPr/>
        </p:nvSpPr>
        <p:spPr>
          <a:xfrm>
            <a:off x="658368" y="2697480"/>
            <a:ext cx="6583680" cy="758952"/>
          </a:xfrm>
          <a:prstGeom prst="roundRect">
            <a:avLst>
              <a:gd name="adj" fmla="val 8433"/>
            </a:avLst>
          </a:prstGeom>
          <a:solidFill>
            <a:srgbClr val="EAF4FB"/>
          </a:solidFill>
          <a:ln>
            <a:noFill/>
          </a:ln>
          <a:effectLst/>
        </p:spPr>
        <p:txBody>
          <a:bodyPr rtlCol="0" anchor="t" lIns="128016" rIns="128016" tIns="91440" bIns="91440"/>
          <a:lstStyle/>
          <a:p>
            <a:pPr algn="ctr"/>
          </a:p>
        </p:txBody>
      </p:sp>
      <p:sp>
        <p:nvSpPr>
          <p:cNvPr id="272" name="Rounded Rectangle 271"/>
          <p:cNvSpPr/>
          <p:nvPr/>
        </p:nvSpPr>
        <p:spPr>
          <a:xfrm>
            <a:off x="658368" y="2697480"/>
            <a:ext cx="1783080" cy="758952"/>
          </a:xfrm>
          <a:prstGeom prst="roundRect">
            <a:avLst>
              <a:gd name="adj" fmla="val 8433"/>
            </a:avLst>
          </a:prstGeom>
          <a:solidFill>
            <a:srgbClr val="253653"/>
          </a:solidFill>
          <a:ln>
            <a:noFill/>
          </a:ln>
          <a:effectLst/>
        </p:spPr>
        <p:txBody>
          <a:bodyPr rtlCol="0" anchor="ctr" lIns="45720" rIns="45720" wrap="square"/>
          <a:lstStyle/>
          <a:p>
            <a:pPr algn="ctr">
              <a:spcBef>
                <a:spcPts val="0"/>
              </a:spcBef>
              <a:spcAft>
                <a:spcPts val="0"/>
              </a:spcAft>
            </a:pPr>
            <a:r>
              <a:rPr sz="1600" b="1" i="0">
                <a:solidFill>
                  <a:srgbClr val="FFFFFF"/>
                </a:solidFill>
                <a:latin typeface="Calibri"/>
              </a:rPr>
              <a:t>Mentorship</a:t>
            </a:r>
          </a:p>
        </p:txBody>
      </p:sp>
      <p:sp>
        <p:nvSpPr>
          <p:cNvPr id="273" name="TextBox 272"/>
          <p:cNvSpPr txBox="1"/>
          <p:nvPr/>
        </p:nvSpPr>
        <p:spPr>
          <a:xfrm>
            <a:off x="2578608" y="2697480"/>
            <a:ext cx="4572000" cy="758952"/>
          </a:xfrm>
          <a:prstGeom prst="rect">
            <a:avLst/>
          </a:prstGeom>
          <a:noFill/>
        </p:spPr>
        <p:txBody>
          <a:bodyPr wrap="square" lIns="0" rIns="0" tIns="0" bIns="0" anchor="ctr">
            <a:spAutoFit/>
          </a:bodyPr>
          <a:lstStyle/>
          <a:p>
            <a:pPr algn="l">
              <a:spcBef>
                <a:spcPts val="0"/>
              </a:spcBef>
              <a:spcAft>
                <a:spcPts val="0"/>
              </a:spcAft>
            </a:pPr>
            <a:r>
              <a:rPr sz="1500" b="0" i="0">
                <a:solidFill>
                  <a:srgbClr val="1F2933"/>
                </a:solidFill>
                <a:latin typeface="Calibri"/>
              </a:rPr>
              <a:t>The CDSCO steps for a device that measures, and help with a NIDHI-PRAYAS application</a:t>
            </a:r>
          </a:p>
        </p:txBody>
      </p:sp>
      <p:sp>
        <p:nvSpPr>
          <p:cNvPr id="274" name="Rounded Rectangle 273"/>
          <p:cNvSpPr/>
          <p:nvPr/>
        </p:nvSpPr>
        <p:spPr>
          <a:xfrm>
            <a:off x="658368" y="3566160"/>
            <a:ext cx="6583680" cy="758952"/>
          </a:xfrm>
          <a:prstGeom prst="roundRect">
            <a:avLst>
              <a:gd name="adj" fmla="val 8433"/>
            </a:avLst>
          </a:prstGeom>
          <a:solidFill>
            <a:srgbClr val="EAF4FB"/>
          </a:solidFill>
          <a:ln>
            <a:noFill/>
          </a:ln>
          <a:effectLst/>
        </p:spPr>
        <p:txBody>
          <a:bodyPr rtlCol="0" anchor="t" lIns="128016" rIns="128016" tIns="91440" bIns="91440"/>
          <a:lstStyle/>
          <a:p>
            <a:pPr algn="ctr"/>
          </a:p>
        </p:txBody>
      </p:sp>
      <p:sp>
        <p:nvSpPr>
          <p:cNvPr id="275" name="Rounded Rectangle 274"/>
          <p:cNvSpPr/>
          <p:nvPr/>
        </p:nvSpPr>
        <p:spPr>
          <a:xfrm>
            <a:off x="658368" y="3566160"/>
            <a:ext cx="1783080" cy="758952"/>
          </a:xfrm>
          <a:prstGeom prst="roundRect">
            <a:avLst>
              <a:gd name="adj" fmla="val 8433"/>
            </a:avLst>
          </a:prstGeom>
          <a:solidFill>
            <a:srgbClr val="253653"/>
          </a:solidFill>
          <a:ln>
            <a:noFill/>
          </a:ln>
          <a:effectLst/>
        </p:spPr>
        <p:txBody>
          <a:bodyPr rtlCol="0" anchor="ctr" lIns="45720" rIns="45720" wrap="square"/>
          <a:lstStyle/>
          <a:p>
            <a:pPr algn="ctr">
              <a:spcBef>
                <a:spcPts val="0"/>
              </a:spcBef>
              <a:spcAft>
                <a:spcPts val="0"/>
              </a:spcAft>
            </a:pPr>
            <a:r>
              <a:rPr sz="1600" b="1" i="0">
                <a:solidFill>
                  <a:srgbClr val="FFFFFF"/>
                </a:solidFill>
                <a:latin typeface="Calibri"/>
              </a:rPr>
              <a:t>Funding</a:t>
            </a:r>
          </a:p>
        </p:txBody>
      </p:sp>
      <p:sp>
        <p:nvSpPr>
          <p:cNvPr id="276" name="TextBox 275"/>
          <p:cNvSpPr txBox="1"/>
          <p:nvPr/>
        </p:nvSpPr>
        <p:spPr>
          <a:xfrm>
            <a:off x="2578608" y="3566160"/>
            <a:ext cx="4572000" cy="758952"/>
          </a:xfrm>
          <a:prstGeom prst="rect">
            <a:avLst/>
          </a:prstGeom>
          <a:noFill/>
        </p:spPr>
        <p:txBody>
          <a:bodyPr wrap="square" lIns="0" rIns="0" tIns="0" bIns="0" anchor="ctr">
            <a:spAutoFit/>
          </a:bodyPr>
          <a:lstStyle/>
          <a:p>
            <a:pPr algn="l">
              <a:spcBef>
                <a:spcPts val="0"/>
              </a:spcBef>
              <a:spcAft>
                <a:spcPts val="0"/>
              </a:spcAft>
            </a:pPr>
            <a:r>
              <a:rPr sz="1500" b="0" i="0">
                <a:solidFill>
                  <a:srgbClr val="1F2933"/>
                </a:solidFill>
                <a:latin typeface="Calibri"/>
              </a:rPr>
              <a:t>About ₹5.5 lakh for a 30-patient, 3-month pilot (middle estimate)</a:t>
            </a:r>
          </a:p>
        </p:txBody>
      </p:sp>
      <p:sp>
        <p:nvSpPr>
          <p:cNvPr id="277" name="TextBox 276"/>
          <p:cNvSpPr txBox="1"/>
          <p:nvPr/>
        </p:nvSpPr>
        <p:spPr>
          <a:xfrm>
            <a:off x="658368" y="4553712"/>
            <a:ext cx="6583680" cy="731520"/>
          </a:xfrm>
          <a:prstGeom prst="rect">
            <a:avLst/>
          </a:prstGeom>
          <a:noFill/>
        </p:spPr>
        <p:txBody>
          <a:bodyPr wrap="square" lIns="0" rIns="0" tIns="0" bIns="0" anchor="t">
            <a:spAutoFit/>
          </a:bodyPr>
          <a:lstStyle/>
          <a:p>
            <a:pPr algn="l">
              <a:spcBef>
                <a:spcPts val="0"/>
              </a:spcBef>
              <a:spcAft>
                <a:spcPts val="300"/>
              </a:spcAft>
            </a:pPr>
            <a:r>
              <a:rPr sz="1800" b="1" i="0">
                <a:solidFill>
                  <a:srgbClr val="253653"/>
                </a:solidFill>
                <a:latin typeface="Calibri"/>
              </a:rPr>
              <a:t>After surgery, the hospital stays connected to the patient at home.</a:t>
            </a:r>
          </a:p>
          <a:p>
            <a:pPr algn="l">
              <a:spcBef>
                <a:spcPts val="0"/>
              </a:spcBef>
              <a:spcAft>
                <a:spcPts val="0"/>
              </a:spcAft>
            </a:pPr>
            <a:r>
              <a:rPr sz="1600" b="1" i="0">
                <a:solidFill>
                  <a:srgbClr val="38A0D8"/>
                </a:solidFill>
                <a:latin typeface="Calibri"/>
              </a:rPr>
              <a:t>SpiroBuddy. Every breath, coached and counted.</a:t>
            </a:r>
          </a:p>
        </p:txBody>
      </p:sp>
      <p:sp>
        <p:nvSpPr>
          <p:cNvPr id="278" name="Rounded Rectangle 277"/>
          <p:cNvSpPr/>
          <p:nvPr/>
        </p:nvSpPr>
        <p:spPr>
          <a:xfrm>
            <a:off x="658368" y="5394960"/>
            <a:ext cx="6583680" cy="502920"/>
          </a:xfrm>
          <a:prstGeom prst="roundRect">
            <a:avLst>
              <a:gd name="adj" fmla="val 12727"/>
            </a:avLst>
          </a:prstGeom>
          <a:solidFill>
            <a:srgbClr val="FFFBE6"/>
          </a:solidFill>
          <a:ln w="12700">
            <a:solidFill>
              <a:srgbClr val="C9A227"/>
            </a:solidFill>
            <a:prstDash val="dash"/>
          </a:ln>
          <a:effectLst/>
        </p:spPr>
        <p:txBody>
          <a:bodyPr rtlCol="0" anchor="ctr" lIns="128016" rIns="128016" tIns="91440" bIns="91440" wrap="square"/>
          <a:lstStyle/>
          <a:p>
            <a:pPr algn="l">
              <a:spcBef>
                <a:spcPts val="0"/>
              </a:spcBef>
              <a:spcAft>
                <a:spcPts val="0"/>
              </a:spcAft>
            </a:pPr>
            <a:r>
              <a:rPr sz="1400" b="1" i="0">
                <a:solidFill>
                  <a:srgbClr val="253653"/>
                </a:solidFill>
                <a:latin typeface="Calibri"/>
              </a:rPr>
              <a:t>Queries &amp; feedback:</a:t>
            </a:r>
            <a:r>
              <a:rPr sz="1400" b="0" i="0">
                <a:solidFill>
                  <a:srgbClr val="1F2933"/>
                </a:solidFill>
                <a:latin typeface="Calibri"/>
              </a:rPr>
              <a:t> </a:t>
            </a:r>
            <a:r>
              <a:rPr sz="1400" b="1" i="0">
                <a:solidFill>
                  <a:srgbClr val="5A3A00"/>
                </a:solidFill>
                <a:highlight>
                  <a:srgbClr val="FFE95C"/>
                </a:highlight>
                <a:latin typeface="Calibri"/>
              </a:rPr>
              <a:t>[ADD: leader's name, email, phone]</a:t>
            </a:r>
          </a:p>
        </p:txBody>
      </p:sp>
      <p:sp>
        <p:nvSpPr>
          <p:cNvPr id="279" name="Rounded Rectangle 278"/>
          <p:cNvSpPr/>
          <p:nvPr/>
        </p:nvSpPr>
        <p:spPr>
          <a:xfrm>
            <a:off x="7589520" y="1828800"/>
            <a:ext cx="3950208" cy="4069080"/>
          </a:xfrm>
          <a:prstGeom prst="roundRect">
            <a:avLst>
              <a:gd name="adj" fmla="val 1620"/>
            </a:avLst>
          </a:prstGeom>
          <a:solidFill>
            <a:srgbClr val="F1F3F5"/>
          </a:solidFill>
          <a:ln>
            <a:noFill/>
          </a:ln>
          <a:effectLst/>
        </p:spPr>
        <p:txBody>
          <a:bodyPr rtlCol="0" anchor="t" lIns="128016" rIns="128016" tIns="91440" bIns="91440"/>
          <a:lstStyle/>
          <a:p>
            <a:pPr algn="ctr"/>
          </a:p>
        </p:txBody>
      </p:sp>
      <p:sp>
        <p:nvSpPr>
          <p:cNvPr id="280" name="TextBox 279"/>
          <p:cNvSpPr txBox="1"/>
          <p:nvPr/>
        </p:nvSpPr>
        <p:spPr>
          <a:xfrm>
            <a:off x="7589520" y="1920240"/>
            <a:ext cx="3950208" cy="365760"/>
          </a:xfrm>
          <a:prstGeom prst="rect">
            <a:avLst/>
          </a:prstGeom>
          <a:noFill/>
        </p:spPr>
        <p:txBody>
          <a:bodyPr wrap="square" lIns="0" rIns="0" tIns="0" bIns="0" anchor="ctr">
            <a:spAutoFit/>
          </a:bodyPr>
          <a:lstStyle/>
          <a:p>
            <a:pPr algn="ctr">
              <a:spcBef>
                <a:spcPts val="0"/>
              </a:spcBef>
              <a:spcAft>
                <a:spcPts val="0"/>
              </a:spcAft>
            </a:pPr>
            <a:r>
              <a:rPr sz="1800" b="1" i="0">
                <a:solidFill>
                  <a:srgbClr val="253653"/>
                </a:solidFill>
                <a:latin typeface="Calibri"/>
              </a:rPr>
              <a:t>Scan for the demo</a:t>
            </a:r>
          </a:p>
        </p:txBody>
      </p:sp>
      <p:pic>
        <p:nvPicPr>
          <p:cNvPr id="281" name="Picture 280" descr="QR code that opens the SpiroBuddy patient app demo at spirobuddy.onrender.com/app.html?id=1"/>
          <p:cNvPicPr>
            <a:picLocks noChangeAspect="1"/>
          </p:cNvPicPr>
          <p:nvPr/>
        </p:nvPicPr>
        <p:blipFill>
          <a:blip r:embed="rId4"/>
          <a:stretch>
            <a:fillRect/>
          </a:stretch>
        </p:blipFill>
        <p:spPr>
          <a:xfrm>
            <a:off x="8535924" y="2359152"/>
            <a:ext cx="2057400" cy="2057400"/>
          </a:xfrm>
          <a:prstGeom prst="rect">
            <a:avLst/>
          </a:prstGeom>
        </p:spPr>
      </p:pic>
      <p:sp>
        <p:nvSpPr>
          <p:cNvPr id="282" name="TextBox 281"/>
          <p:cNvSpPr txBox="1"/>
          <p:nvPr/>
        </p:nvSpPr>
        <p:spPr>
          <a:xfrm>
            <a:off x="7589520" y="4480560"/>
            <a:ext cx="3950208" cy="329184"/>
          </a:xfrm>
          <a:prstGeom prst="rect">
            <a:avLst/>
          </a:prstGeom>
          <a:noFill/>
        </p:spPr>
        <p:txBody>
          <a:bodyPr wrap="square" lIns="0" rIns="0" tIns="0" bIns="0" anchor="ctr">
            <a:spAutoFit/>
          </a:bodyPr>
          <a:lstStyle/>
          <a:p>
            <a:pPr algn="ctr">
              <a:spcBef>
                <a:spcPts val="0"/>
              </a:spcBef>
              <a:spcAft>
                <a:spcPts val="0"/>
              </a:spcAft>
            </a:pPr>
            <a:r>
              <a:rPr sz="1600" b="1" i="0">
                <a:solidFill>
                  <a:srgbClr val="38A0D8"/>
                </a:solidFill>
                <a:latin typeface="Calibri"/>
                <a:hlinkClick r:id="rId5"/>
              </a:rPr>
              <a:t>spirobuddy.onrender.com</a:t>
            </a:r>
          </a:p>
        </p:txBody>
      </p:sp>
      <p:sp>
        <p:nvSpPr>
          <p:cNvPr id="283" name="TextBox 282"/>
          <p:cNvSpPr txBox="1"/>
          <p:nvPr/>
        </p:nvSpPr>
        <p:spPr>
          <a:xfrm>
            <a:off x="7772400" y="4846320"/>
            <a:ext cx="3584448" cy="960120"/>
          </a:xfrm>
          <a:prstGeom prst="rect">
            <a:avLst/>
          </a:prstGeom>
          <a:noFill/>
        </p:spPr>
        <p:txBody>
          <a:bodyPr wrap="square" lIns="0" rIns="0" tIns="0" bIns="0" anchor="t">
            <a:spAutoFit/>
          </a:bodyPr>
          <a:lstStyle/>
          <a:p>
            <a:pPr algn="ctr">
              <a:spcBef>
                <a:spcPts val="0"/>
              </a:spcBef>
              <a:spcAft>
                <a:spcPts val="0"/>
              </a:spcAft>
            </a:pPr>
            <a:r>
              <a:rPr sz="1400" b="0" i="0">
                <a:solidFill>
                  <a:srgbClr val="5B6B7D"/>
                </a:solidFill>
                <a:latin typeface="Calibri"/>
              </a:rPr>
              <a:t>Opens the patient app (demo). Simulated breaths, fictional patients. The free server can take a moment to wake.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6" name="Google Shape;56;p4"/>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4"/>
              </a:buClr>
              <a:buSzPts val="3000"/>
              <a:buFont typeface="Play"/>
              <a:buNone/>
            </a:pPr>
            <a:r>
              <a:rPr b="1" lang="en-IN" sz="3000">
                <a:solidFill>
                  <a:schemeClr val="accent4"/>
                </a:solidFill>
                <a:latin typeface="Play"/>
                <a:ea typeface="Play"/>
                <a:cs typeface="Play"/>
                <a:sym typeface="Play"/>
              </a:rPr>
              <a:t>Solution Overview: The Prescription</a:t>
            </a:r>
            <a:endParaRPr sz="2400">
              <a:solidFill>
                <a:schemeClr val="accent4"/>
              </a:solidFill>
              <a:latin typeface="Calibri"/>
              <a:ea typeface="Calibri"/>
              <a:cs typeface="Calibri"/>
              <a:sym typeface="Calibri"/>
            </a:endParaRPr>
          </a:p>
        </p:txBody>
      </p:sp>
      <p:sp>
        <p:nvSpPr>
          <p:cNvPr id="58" name="Google Shape;58;p4"/>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 name="Google Shape;59;p4"/>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 name="Google Shape;60;p4"/>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 name="Google Shape;61;p4"/>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 name="Google Shape;62;p4"/>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63" name="Google Shape;63;p4"/>
          <p:cNvSpPr txBox="1"/>
          <p:nvPr/>
        </p:nvSpPr>
        <p:spPr>
          <a:xfrm>
            <a:off x="11109960" y="6547104"/>
            <a:ext cx="438912"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06</a:t>
            </a:r>
            <a:endParaRPr/>
          </a:p>
        </p:txBody>
      </p:sp>
      <p:pic>
        <p:nvPicPr>
          <p:cNvPr id="64" name="Picture 63" descr="Dolphin Tank India logo"/>
          <p:cNvPicPr>
            <a:picLocks noChangeAspect="1"/>
          </p:cNvPicPr>
          <p:nvPr/>
        </p:nvPicPr>
        <p:blipFill>
          <a:blip r:embed="rId2"/>
          <a:stretch>
            <a:fillRect/>
          </a:stretch>
        </p:blipFill>
        <p:spPr>
          <a:xfrm>
            <a:off x="10669520" y="146304"/>
            <a:ext cx="1387352" cy="654087"/>
          </a:xfrm>
          <a:prstGeom prst="rect">
            <a:avLst/>
          </a:prstGeom>
        </p:spPr>
      </p:pic>
      <p:sp>
        <p:nvSpPr>
          <p:cNvPr id="65" name="TextBox 64"/>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Pillar 2: the doctor's prescription goes straight to the patient's phone. No paper to lose.</a:t>
            </a:r>
          </a:p>
        </p:txBody>
      </p:sp>
      <p:sp>
        <p:nvSpPr>
          <p:cNvPr id="66" name="TextBox 65"/>
          <p:cNvSpPr txBox="1"/>
          <p:nvPr/>
        </p:nvSpPr>
        <p:spPr>
          <a:xfrm>
            <a:off x="658368" y="1801368"/>
            <a:ext cx="1737360" cy="640080"/>
          </a:xfrm>
          <a:prstGeom prst="rect">
            <a:avLst/>
          </a:prstGeom>
          <a:noFill/>
        </p:spPr>
        <p:txBody>
          <a:bodyPr wrap="square" lIns="0" rIns="0" tIns="0" bIns="0" anchor="b">
            <a:spAutoFit/>
          </a:bodyPr>
          <a:lstStyle/>
          <a:p>
            <a:pPr algn="l">
              <a:spcBef>
                <a:spcPts val="0"/>
              </a:spcBef>
              <a:spcAft>
                <a:spcPts val="0"/>
              </a:spcAft>
            </a:pPr>
            <a:r>
              <a:rPr sz="1400" b="1" i="0">
                <a:solidFill>
                  <a:srgbClr val="E57116"/>
                </a:solidFill>
                <a:latin typeface="Calibri"/>
              </a:rPr>
              <a:t>1</a:t>
            </a:r>
            <a:r>
              <a:rPr sz="1400" b="0" i="0">
                <a:solidFill>
                  <a:srgbClr val="253653"/>
                </a:solidFill>
                <a:latin typeface="Calibri"/>
              </a:rPr>
              <a:t>  The doctor types the prescription</a:t>
            </a:r>
          </a:p>
        </p:txBody>
      </p:sp>
      <p:pic>
        <p:nvPicPr>
          <p:cNvPr id="67" name="Picture 66" descr="Doctor's screen: medicines for a fictional patient, prescription issued."/>
          <p:cNvPicPr>
            <a:picLocks noChangeAspect="1"/>
          </p:cNvPicPr>
          <p:nvPr/>
        </p:nvPicPr>
        <p:blipFill>
          <a:blip r:embed="rId3"/>
          <a:stretch>
            <a:fillRect/>
          </a:stretch>
        </p:blipFill>
        <p:spPr>
          <a:xfrm>
            <a:off x="658368" y="2523744"/>
            <a:ext cx="1737360" cy="3394534"/>
          </a:xfrm>
          <a:prstGeom prst="roundRect">
            <a:avLst>
              <a:gd name="adj" fmla="val 5500"/>
            </a:avLst>
          </a:prstGeom>
          <a:ln w="15875">
            <a:solidFill>
              <a:srgbClr val="3A4654"/>
            </a:solidFill>
          </a:ln>
        </p:spPr>
      </p:pic>
      <p:sp>
        <p:nvSpPr>
          <p:cNvPr id="68" name="TextBox 67"/>
          <p:cNvSpPr txBox="1"/>
          <p:nvPr/>
        </p:nvSpPr>
        <p:spPr>
          <a:xfrm>
            <a:off x="2578608" y="1801368"/>
            <a:ext cx="1737360" cy="640080"/>
          </a:xfrm>
          <a:prstGeom prst="rect">
            <a:avLst/>
          </a:prstGeom>
          <a:noFill/>
        </p:spPr>
        <p:txBody>
          <a:bodyPr wrap="square" lIns="0" rIns="0" tIns="0" bIns="0" anchor="b">
            <a:spAutoFit/>
          </a:bodyPr>
          <a:lstStyle/>
          <a:p>
            <a:pPr algn="l">
              <a:spcBef>
                <a:spcPts val="0"/>
              </a:spcBef>
              <a:spcAft>
                <a:spcPts val="0"/>
              </a:spcAft>
            </a:pPr>
            <a:r>
              <a:rPr sz="1400" b="1" i="0">
                <a:solidFill>
                  <a:srgbClr val="E57116"/>
                </a:solidFill>
                <a:latin typeface="Calibri"/>
              </a:rPr>
              <a:t>2</a:t>
            </a:r>
            <a:r>
              <a:rPr sz="1400" b="0" i="0">
                <a:solidFill>
                  <a:srgbClr val="253653"/>
                </a:solidFill>
                <a:latin typeface="Calibri"/>
              </a:rPr>
              <a:t>  The patient sees it, in Hindi</a:t>
            </a:r>
          </a:p>
        </p:txBody>
      </p:sp>
      <p:pic>
        <p:nvPicPr>
          <p:cNvPr id="69" name="Picture 68" descr="Patient's phone in Hindi: today's medicines at 8:00 AM. Demo data, fictional patient."/>
          <p:cNvPicPr>
            <a:picLocks noChangeAspect="1"/>
          </p:cNvPicPr>
          <p:nvPr/>
        </p:nvPicPr>
        <p:blipFill>
          <a:blip r:embed="rId4"/>
          <a:stretch>
            <a:fillRect/>
          </a:stretch>
        </p:blipFill>
        <p:spPr>
          <a:xfrm>
            <a:off x="2578608" y="2523744"/>
            <a:ext cx="1737360" cy="3216343"/>
          </a:xfrm>
          <a:prstGeom prst="roundRect">
            <a:avLst>
              <a:gd name="adj" fmla="val 5500"/>
            </a:avLst>
          </a:prstGeom>
          <a:ln w="15875">
            <a:solidFill>
              <a:srgbClr val="3A4654"/>
            </a:solidFill>
          </a:ln>
        </p:spPr>
      </p:pic>
      <p:sp>
        <p:nvSpPr>
          <p:cNvPr id="70" name="TextBox 69"/>
          <p:cNvSpPr txBox="1"/>
          <p:nvPr/>
        </p:nvSpPr>
        <p:spPr>
          <a:xfrm>
            <a:off x="4498848" y="1801368"/>
            <a:ext cx="1737360" cy="640080"/>
          </a:xfrm>
          <a:prstGeom prst="rect">
            <a:avLst/>
          </a:prstGeom>
          <a:noFill/>
        </p:spPr>
        <p:txBody>
          <a:bodyPr wrap="square" lIns="0" rIns="0" tIns="0" bIns="0" anchor="b">
            <a:spAutoFit/>
          </a:bodyPr>
          <a:lstStyle/>
          <a:p>
            <a:pPr algn="l">
              <a:spcBef>
                <a:spcPts val="0"/>
              </a:spcBef>
              <a:spcAft>
                <a:spcPts val="0"/>
              </a:spcAft>
            </a:pPr>
            <a:r>
              <a:rPr sz="1400" b="1" i="0">
                <a:solidFill>
                  <a:srgbClr val="E57116"/>
                </a:solidFill>
                <a:latin typeface="Calibri"/>
              </a:rPr>
              <a:t>3</a:t>
            </a:r>
            <a:r>
              <a:rPr sz="1400" b="0" i="0">
                <a:solidFill>
                  <a:srgbClr val="253653"/>
                </a:solidFill>
                <a:latin typeface="Calibri"/>
              </a:rPr>
              <a:t>  Shown at the pharmacy counter</a:t>
            </a:r>
          </a:p>
        </p:txBody>
      </p:sp>
      <p:pic>
        <p:nvPicPr>
          <p:cNvPr id="71" name="Picture 70" descr="Pharmacy screen on the patient's phone with a QR code for the chemist. Demo data."/>
          <p:cNvPicPr>
            <a:picLocks noChangeAspect="1"/>
          </p:cNvPicPr>
          <p:nvPr/>
        </p:nvPicPr>
        <p:blipFill>
          <a:blip r:embed="rId5"/>
          <a:stretch>
            <a:fillRect/>
          </a:stretch>
        </p:blipFill>
        <p:spPr>
          <a:xfrm>
            <a:off x="4498848" y="2523744"/>
            <a:ext cx="1737360" cy="2895600"/>
          </a:xfrm>
          <a:prstGeom prst="roundRect">
            <a:avLst>
              <a:gd name="adj" fmla="val 5500"/>
            </a:avLst>
          </a:prstGeom>
          <a:ln w="15875">
            <a:solidFill>
              <a:srgbClr val="3A4654"/>
            </a:solidFill>
          </a:ln>
        </p:spPr>
      </p:pic>
      <p:sp>
        <p:nvSpPr>
          <p:cNvPr id="72" name="TextBox 71"/>
          <p:cNvSpPr txBox="1"/>
          <p:nvPr/>
        </p:nvSpPr>
        <p:spPr>
          <a:xfrm>
            <a:off x="6419088" y="1801368"/>
            <a:ext cx="1737360" cy="640080"/>
          </a:xfrm>
          <a:prstGeom prst="rect">
            <a:avLst/>
          </a:prstGeom>
          <a:noFill/>
        </p:spPr>
        <p:txBody>
          <a:bodyPr wrap="square" lIns="0" rIns="0" tIns="0" bIns="0" anchor="b">
            <a:spAutoFit/>
          </a:bodyPr>
          <a:lstStyle/>
          <a:p>
            <a:pPr algn="l">
              <a:spcBef>
                <a:spcPts val="0"/>
              </a:spcBef>
              <a:spcAft>
                <a:spcPts val="0"/>
              </a:spcAft>
            </a:pPr>
            <a:r>
              <a:rPr sz="1400" b="1" i="0">
                <a:solidFill>
                  <a:srgbClr val="E57116"/>
                </a:solidFill>
                <a:latin typeface="Calibri"/>
              </a:rPr>
              <a:t>4</a:t>
            </a:r>
            <a:r>
              <a:rPr sz="1400" b="0" i="0">
                <a:solidFill>
                  <a:srgbClr val="253653"/>
                </a:solidFill>
                <a:latin typeface="Calibri"/>
              </a:rPr>
              <a:t>  The chemist scans the QR and checks</a:t>
            </a:r>
          </a:p>
        </p:txBody>
      </p:sp>
      <p:pic>
        <p:nvPicPr>
          <p:cNvPr id="73" name="Picture 72" descr="Prescription check page: the issuing hospital's copy, marked Current. Fictional hospital."/>
          <p:cNvPicPr>
            <a:picLocks noChangeAspect="1"/>
          </p:cNvPicPr>
          <p:nvPr/>
        </p:nvPicPr>
        <p:blipFill>
          <a:blip r:embed="rId6"/>
          <a:stretch>
            <a:fillRect/>
          </a:stretch>
        </p:blipFill>
        <p:spPr>
          <a:xfrm>
            <a:off x="6419088" y="2523744"/>
            <a:ext cx="1737360" cy="3341077"/>
          </a:xfrm>
          <a:prstGeom prst="roundRect">
            <a:avLst>
              <a:gd name="adj" fmla="val 5500"/>
            </a:avLst>
          </a:prstGeom>
          <a:ln w="15875">
            <a:solidFill>
              <a:srgbClr val="3A4654"/>
            </a:solidFill>
          </a:ln>
        </p:spPr>
      </p:pic>
      <p:sp>
        <p:nvSpPr>
          <p:cNvPr id="74" name="Rounded Rectangle 73"/>
          <p:cNvSpPr/>
          <p:nvPr/>
        </p:nvSpPr>
        <p:spPr>
          <a:xfrm>
            <a:off x="8412480" y="1847088"/>
            <a:ext cx="2011680" cy="310896"/>
          </a:xfrm>
          <a:prstGeom prst="roundRect">
            <a:avLst>
              <a:gd name="adj" fmla="val 44117"/>
            </a:avLst>
          </a:prstGeom>
          <a:solidFill>
            <a:srgbClr val="E6F4EA"/>
          </a:solidFill>
          <a:ln>
            <a:noFill/>
          </a:ln>
          <a:effectLst/>
        </p:spPr>
        <p:txBody>
          <a:bodyPr rtlCol="0" anchor="ctr" lIns="45720" rIns="45720" wrap="square"/>
          <a:lstStyle/>
          <a:p>
            <a:pPr algn="ctr">
              <a:spcBef>
                <a:spcPts val="0"/>
              </a:spcBef>
              <a:spcAft>
                <a:spcPts val="0"/>
              </a:spcAft>
            </a:pPr>
            <a:r>
              <a:rPr sz="1300" b="1" i="0">
                <a:solidFill>
                  <a:srgbClr val="1B7035"/>
                </a:solidFill>
                <a:latin typeface="Calibri"/>
              </a:rPr>
              <a:t>Live on the demo site</a:t>
            </a:r>
          </a:p>
        </p:txBody>
      </p:sp>
      <p:sp>
        <p:nvSpPr>
          <p:cNvPr id="75" name="TextBox 74"/>
          <p:cNvSpPr txBox="1"/>
          <p:nvPr/>
        </p:nvSpPr>
        <p:spPr>
          <a:xfrm>
            <a:off x="8412480" y="2304288"/>
            <a:ext cx="3127248" cy="3474720"/>
          </a:xfrm>
          <a:prstGeom prst="rect">
            <a:avLst/>
          </a:prstGeom>
          <a:noFill/>
        </p:spPr>
        <p:txBody>
          <a:bodyPr wrap="square" lIns="0" rIns="0" tIns="0" bIns="0" anchor="t">
            <a:spAutoFit/>
          </a:bodyPr>
          <a:lstStyle/>
          <a:p>
            <a:pPr algn="l" marL="182880" indent="-182880">
              <a:spcBef>
                <a:spcPts val="0"/>
              </a:spcBef>
              <a:spcAft>
                <a:spcPts val="700"/>
              </a:spcAft>
              <a:buFont typeface="Arial"/>
              <a:buChar char="•"/>
            </a:pPr>
            <a:r>
              <a:rPr sz="1450" b="0" i="0">
                <a:solidFill>
                  <a:srgbClr val="1F2933"/>
                </a:solidFill>
                <a:latin typeface="Calibri"/>
              </a:rPr>
              <a:t>The doctor writes it. No AI reads a photo.</a:t>
            </a:r>
          </a:p>
          <a:p>
            <a:pPr algn="l" marL="182880" indent="-182880">
              <a:spcBef>
                <a:spcPts val="0"/>
              </a:spcBef>
              <a:spcAft>
                <a:spcPts val="700"/>
              </a:spcAft>
              <a:buFont typeface="Arial"/>
              <a:buChar char="•"/>
            </a:pPr>
            <a:r>
              <a:rPr sz="1450" b="0" i="0">
                <a:solidFill>
                  <a:srgbClr val="1F2933"/>
                </a:solidFill>
                <a:latin typeface="Calibri"/>
              </a:rPr>
              <a:t>Saved under the patient's hospital registration number.</a:t>
            </a:r>
          </a:p>
          <a:p>
            <a:pPr algn="l" marL="182880" indent="-182880">
              <a:spcBef>
                <a:spcPts val="0"/>
              </a:spcBef>
              <a:spcAft>
                <a:spcPts val="700"/>
              </a:spcAft>
              <a:buFont typeface="Arial"/>
              <a:buChar char="•"/>
            </a:pPr>
            <a:r>
              <a:rPr sz="1450" b="0" i="0">
                <a:solidFill>
                  <a:srgbClr val="1F2933"/>
                </a:solidFill>
                <a:latin typeface="Calibri"/>
              </a:rPr>
              <a:t>The QR opens the hospital's own copy, marked Current.</a:t>
            </a:r>
          </a:p>
          <a:p>
            <a:pPr algn="l" marL="182880" indent="-182880">
              <a:spcBef>
                <a:spcPts val="0"/>
              </a:spcBef>
              <a:spcAft>
                <a:spcPts val="700"/>
              </a:spcAft>
              <a:buFont typeface="Arial"/>
              <a:buChar char="•"/>
            </a:pPr>
            <a:r>
              <a:rPr sz="1450" b="0" i="0">
                <a:solidFill>
                  <a:srgbClr val="1F2933"/>
                </a:solidFill>
                <a:latin typeface="Calibri"/>
              </a:rPr>
              <a:t>A tap on "I took it" is shown as reported, never as taken.</a:t>
            </a:r>
          </a:p>
          <a:p>
            <a:pPr algn="l" marL="182880" indent="-182880">
              <a:spcBef>
                <a:spcPts val="0"/>
              </a:spcBef>
              <a:spcAft>
                <a:spcPts val="700"/>
              </a:spcAft>
              <a:buFont typeface="Arial"/>
              <a:buChar char="•"/>
            </a:pPr>
            <a:r>
              <a:rPr sz="1450" b="0" i="0">
                <a:solidFill>
                  <a:srgbClr val="1F2933"/>
                </a:solidFill>
                <a:latin typeface="Calibri"/>
              </a:rPr>
              <a:t>Only the doctor can change or stop a medicine.</a:t>
            </a:r>
          </a:p>
          <a:p>
            <a:pPr algn="l">
              <a:spcBef>
                <a:spcPts val="600"/>
              </a:spcBef>
              <a:spcAft>
                <a:spcPts val="700"/>
              </a:spcAft>
            </a:pPr>
            <a:r>
              <a:rPr sz="1450" b="1" i="0">
                <a:solidFill>
                  <a:srgbClr val="8F5100"/>
                </a:solidFill>
                <a:latin typeface="Calibri"/>
              </a:rPr>
              <a:t>Demo data, fictional patient. Not yet tested with a real pharmacy.</a:t>
            </a:r>
          </a:p>
        </p:txBody>
      </p:sp>
      <p:sp>
        <p:nvSpPr>
          <p:cNvPr id="76" name="TextBox 75"/>
          <p:cNvSpPr txBox="1"/>
          <p:nvPr/>
        </p:nvSpPr>
        <p:spPr>
          <a:xfrm>
            <a:off x="658368" y="6035040"/>
            <a:ext cx="9326880" cy="402336"/>
          </a:xfrm>
          <a:prstGeom prst="rect">
            <a:avLst/>
          </a:prstGeom>
          <a:noFill/>
        </p:spPr>
        <p:txBody>
          <a:bodyPr wrap="square" lIns="0" rIns="0" tIns="0" bIns="0" anchor="b">
            <a:spAutoFit/>
          </a:bodyPr>
          <a:lstStyle/>
          <a:p>
            <a:pPr algn="l">
              <a:spcBef>
                <a:spcPts val="0"/>
              </a:spcBef>
              <a:spcAft>
                <a:spcPts val="0"/>
              </a:spcAft>
            </a:pPr>
            <a:r>
              <a:rPr sz="1000" b="0" i="0">
                <a:solidFill>
                  <a:srgbClr val="5B6B7D"/>
                </a:solidFill>
                <a:latin typeface="Calibri"/>
              </a:rPr>
              <a:t>Real screenshots from the demo site (12 Oct 2026), cropped. Demo data - fictional patient; the hospital and the doctor are fictional too.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6" name="Google Shape;56;p4"/>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4"/>
              </a:buClr>
              <a:buSzPts val="3000"/>
              <a:buFont typeface="Play"/>
              <a:buNone/>
            </a:pPr>
            <a:r>
              <a:rPr b="1" lang="en-IN" sz="3000">
                <a:solidFill>
                  <a:schemeClr val="accent4"/>
                </a:solidFill>
                <a:latin typeface="Play"/>
                <a:ea typeface="Play"/>
                <a:cs typeface="Play"/>
                <a:sym typeface="Play"/>
              </a:rPr>
              <a:t>Responsible Technology</a:t>
            </a:r>
            <a:endParaRPr sz="2400">
              <a:solidFill>
                <a:schemeClr val="accent4"/>
              </a:solidFill>
              <a:latin typeface="Calibri"/>
              <a:ea typeface="Calibri"/>
              <a:cs typeface="Calibri"/>
              <a:sym typeface="Calibri"/>
            </a:endParaRPr>
          </a:p>
        </p:txBody>
      </p:sp>
      <p:sp>
        <p:nvSpPr>
          <p:cNvPr id="58" name="Google Shape;58;p4"/>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 name="Google Shape;59;p4"/>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 name="Google Shape;60;p4"/>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 name="Google Shape;61;p4"/>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 name="Google Shape;62;p4"/>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63" name="Google Shape;63;p4"/>
          <p:cNvSpPr txBox="1"/>
          <p:nvPr/>
        </p:nvSpPr>
        <p:spPr>
          <a:xfrm>
            <a:off x="11109960" y="6547104"/>
            <a:ext cx="438912"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09</a:t>
            </a:r>
            <a:endParaRPr/>
          </a:p>
        </p:txBody>
      </p:sp>
      <p:pic>
        <p:nvPicPr>
          <p:cNvPr id="64" name="Picture 63" descr="Dolphin Tank India logo"/>
          <p:cNvPicPr>
            <a:picLocks noChangeAspect="1"/>
          </p:cNvPicPr>
          <p:nvPr/>
        </p:nvPicPr>
        <p:blipFill>
          <a:blip r:embed="rId2"/>
          <a:stretch>
            <a:fillRect/>
          </a:stretch>
        </p:blipFill>
        <p:spPr>
          <a:xfrm>
            <a:off x="10669520" y="146304"/>
            <a:ext cx="1387352" cy="654087"/>
          </a:xfrm>
          <a:prstGeom prst="rect">
            <a:avLst/>
          </a:prstGeom>
        </p:spPr>
      </p:pic>
      <p:sp>
        <p:nvSpPr>
          <p:cNvPr id="65" name="TextBox 64"/>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Responsible by design: the software coaches and records. It never gives medical advice.</a:t>
            </a:r>
          </a:p>
        </p:txBody>
      </p:sp>
      <p:sp>
        <p:nvSpPr>
          <p:cNvPr id="66" name="Rounded Rectangle 65"/>
          <p:cNvSpPr/>
          <p:nvPr/>
        </p:nvSpPr>
        <p:spPr>
          <a:xfrm>
            <a:off x="658368" y="1828800"/>
            <a:ext cx="3474720" cy="1673352"/>
          </a:xfrm>
          <a:prstGeom prst="roundRect">
            <a:avLst>
              <a:gd name="adj" fmla="val 3825"/>
            </a:avLst>
          </a:prstGeom>
          <a:solidFill>
            <a:srgbClr val="EAF4FB"/>
          </a:solidFill>
          <a:ln>
            <a:noFill/>
          </a:ln>
          <a:effectLst/>
        </p:spPr>
        <p:txBody>
          <a:bodyPr rtlCol="0" anchor="t" lIns="128016" rIns="128016" tIns="91440" bIns="91440" wrap="square"/>
          <a:lstStyle/>
          <a:p>
            <a:pPr algn="l">
              <a:spcBef>
                <a:spcPts val="0"/>
              </a:spcBef>
              <a:spcAft>
                <a:spcPts val="500"/>
              </a:spcAft>
            </a:pPr>
            <a:r>
              <a:rPr sz="1700" b="1" i="0">
                <a:solidFill>
                  <a:srgbClr val="253653"/>
                </a:solidFill>
                <a:latin typeface="Calibri"/>
              </a:rPr>
              <a:t>The AI never diagnoses</a:t>
            </a:r>
          </a:p>
          <a:p>
            <a:pPr algn="l">
              <a:spcBef>
                <a:spcPts val="0"/>
              </a:spcBef>
              <a:spcAft>
                <a:spcPts val="500"/>
              </a:spcAft>
            </a:pPr>
            <a:r>
              <a:rPr sz="1500" b="0" i="0">
                <a:solidFill>
                  <a:srgbClr val="1F2933"/>
                </a:solidFill>
                <a:latin typeface="Calibri"/>
              </a:rPr>
              <a:t>It coaches and summarises only. No dose advice and no drug-interaction checks, on purpose.</a:t>
            </a:r>
          </a:p>
        </p:txBody>
      </p:sp>
      <p:sp>
        <p:nvSpPr>
          <p:cNvPr id="67" name="Rounded Rectangle 66"/>
          <p:cNvSpPr/>
          <p:nvPr/>
        </p:nvSpPr>
        <p:spPr>
          <a:xfrm>
            <a:off x="4361688" y="1828800"/>
            <a:ext cx="3474720" cy="1673352"/>
          </a:xfrm>
          <a:prstGeom prst="roundRect">
            <a:avLst>
              <a:gd name="adj" fmla="val 3825"/>
            </a:avLst>
          </a:prstGeom>
          <a:solidFill>
            <a:srgbClr val="FDECEA"/>
          </a:solidFill>
          <a:ln>
            <a:noFill/>
          </a:ln>
          <a:effectLst/>
        </p:spPr>
        <p:txBody>
          <a:bodyPr rtlCol="0" anchor="t" lIns="128016" rIns="128016" tIns="91440" bIns="91440" wrap="square"/>
          <a:lstStyle/>
          <a:p>
            <a:pPr algn="l">
              <a:spcBef>
                <a:spcPts val="0"/>
              </a:spcBef>
              <a:spcAft>
                <a:spcPts val="500"/>
              </a:spcAft>
            </a:pPr>
            <a:r>
              <a:rPr sz="1700" b="1" i="0">
                <a:solidFill>
                  <a:srgbClr val="B3261E"/>
                </a:solidFill>
                <a:latin typeface="Calibri"/>
              </a:rPr>
              <a:t>Red flags reach a person</a:t>
            </a:r>
          </a:p>
          <a:p>
            <a:pPr algn="l">
              <a:spcBef>
                <a:spcPts val="0"/>
              </a:spcBef>
              <a:spcAft>
                <a:spcPts val="500"/>
              </a:spcAft>
            </a:pPr>
            <a:r>
              <a:rPr sz="1500" b="0" i="0">
                <a:solidFill>
                  <a:srgbClr val="1F2933"/>
                </a:solidFill>
                <a:latin typeface="Calibri"/>
              </a:rPr>
              <a:t>A fixed word list triggers a fixed message, "contact your nurse / call 112", and a nurse alert. No AI is involved.</a:t>
            </a:r>
          </a:p>
        </p:txBody>
      </p:sp>
      <p:sp>
        <p:nvSpPr>
          <p:cNvPr id="68" name="Rounded Rectangle 67"/>
          <p:cNvSpPr/>
          <p:nvPr/>
        </p:nvSpPr>
        <p:spPr>
          <a:xfrm>
            <a:off x="8065008" y="1828800"/>
            <a:ext cx="3474720" cy="1673352"/>
          </a:xfrm>
          <a:prstGeom prst="roundRect">
            <a:avLst>
              <a:gd name="adj" fmla="val 3825"/>
            </a:avLst>
          </a:prstGeom>
          <a:solidFill>
            <a:srgbClr val="EAF4FB"/>
          </a:solidFill>
          <a:ln>
            <a:noFill/>
          </a:ln>
          <a:effectLst/>
        </p:spPr>
        <p:txBody>
          <a:bodyPr rtlCol="0" anchor="t" lIns="128016" rIns="128016" tIns="91440" bIns="91440" wrap="square"/>
          <a:lstStyle/>
          <a:p>
            <a:pPr algn="l">
              <a:spcBef>
                <a:spcPts val="0"/>
              </a:spcBef>
              <a:spcAft>
                <a:spcPts val="500"/>
              </a:spcAft>
            </a:pPr>
            <a:r>
              <a:rPr sz="1700" b="1" i="0">
                <a:solidFill>
                  <a:srgbClr val="253653"/>
                </a:solidFill>
                <a:latin typeface="Calibri"/>
              </a:rPr>
              <a:t>Consent and STOP</a:t>
            </a:r>
          </a:p>
          <a:p>
            <a:pPr algn="l">
              <a:spcBef>
                <a:spcPts val="0"/>
              </a:spcBef>
              <a:spcAft>
                <a:spcPts val="500"/>
              </a:spcAft>
            </a:pPr>
            <a:r>
              <a:rPr sz="1500" b="0" i="0">
                <a:solidFill>
                  <a:srgbClr val="1F2933"/>
                </a:solidFill>
                <a:latin typeface="Calibri"/>
              </a:rPr>
              <a:t>Family updates only if the patient consents and the family member opts in. STOP ends them. Itemised consent screen: in development.</a:t>
            </a:r>
          </a:p>
        </p:txBody>
      </p:sp>
      <p:sp>
        <p:nvSpPr>
          <p:cNvPr id="69" name="Rounded Rectangle 68"/>
          <p:cNvSpPr/>
          <p:nvPr/>
        </p:nvSpPr>
        <p:spPr>
          <a:xfrm>
            <a:off x="658368" y="3639312"/>
            <a:ext cx="3474720" cy="1673352"/>
          </a:xfrm>
          <a:prstGeom prst="roundRect">
            <a:avLst>
              <a:gd name="adj" fmla="val 3825"/>
            </a:avLst>
          </a:prstGeom>
          <a:solidFill>
            <a:srgbClr val="EAF4FB"/>
          </a:solidFill>
          <a:ln>
            <a:noFill/>
          </a:ln>
          <a:effectLst/>
        </p:spPr>
        <p:txBody>
          <a:bodyPr rtlCol="0" anchor="t" lIns="128016" rIns="128016" tIns="91440" bIns="91440" wrap="square"/>
          <a:lstStyle/>
          <a:p>
            <a:pPr algn="l">
              <a:spcBef>
                <a:spcPts val="0"/>
              </a:spcBef>
              <a:spcAft>
                <a:spcPts val="500"/>
              </a:spcAft>
            </a:pPr>
            <a:r>
              <a:rPr sz="1700" b="1" i="0">
                <a:solidFill>
                  <a:srgbClr val="253653"/>
                </a:solidFill>
                <a:latin typeface="Calibri"/>
              </a:rPr>
              <a:t>Hospitals kept apart</a:t>
            </a:r>
          </a:p>
          <a:p>
            <a:pPr algn="l">
              <a:spcBef>
                <a:spcPts val="0"/>
              </a:spcBef>
              <a:spcAft>
                <a:spcPts val="500"/>
              </a:spcAft>
            </a:pPr>
            <a:r>
              <a:rPr sz="1500" b="0" i="0">
                <a:solidFill>
                  <a:srgbClr val="1F2933"/>
                </a:solidFill>
                <a:latin typeface="Calibri"/>
              </a:rPr>
              <a:t>Every record carries its hospital, checked on each request and covered by tests. An audit log records who did what.</a:t>
            </a:r>
          </a:p>
        </p:txBody>
      </p:sp>
      <p:sp>
        <p:nvSpPr>
          <p:cNvPr id="70" name="Rounded Rectangle 69"/>
          <p:cNvSpPr/>
          <p:nvPr/>
        </p:nvSpPr>
        <p:spPr>
          <a:xfrm>
            <a:off x="4361688" y="3639312"/>
            <a:ext cx="3474720" cy="1673352"/>
          </a:xfrm>
          <a:prstGeom prst="roundRect">
            <a:avLst>
              <a:gd name="adj" fmla="val 3825"/>
            </a:avLst>
          </a:prstGeom>
          <a:solidFill>
            <a:srgbClr val="EAF4FB"/>
          </a:solidFill>
          <a:ln>
            <a:noFill/>
          </a:ln>
          <a:effectLst/>
        </p:spPr>
        <p:txBody>
          <a:bodyPr rtlCol="0" anchor="t" lIns="128016" rIns="128016" tIns="91440" bIns="91440" wrap="square"/>
          <a:lstStyle/>
          <a:p>
            <a:pPr algn="l">
              <a:spcBef>
                <a:spcPts val="0"/>
              </a:spcBef>
              <a:spcAft>
                <a:spcPts val="500"/>
              </a:spcAft>
            </a:pPr>
            <a:r>
              <a:rPr sz="1700" b="1" i="0">
                <a:solidFill>
                  <a:srgbClr val="253653"/>
                </a:solidFill>
                <a:latin typeface="Calibri"/>
              </a:rPr>
              <a:t>Fake patients only</a:t>
            </a:r>
          </a:p>
          <a:p>
            <a:pPr algn="l">
              <a:spcBef>
                <a:spcPts val="0"/>
              </a:spcBef>
              <a:spcAft>
                <a:spcPts val="500"/>
              </a:spcAft>
            </a:pPr>
            <a:r>
              <a:rPr sz="1500" b="0" i="0">
                <a:solidFill>
                  <a:srgbClr val="1F2933"/>
                </a:solidFill>
                <a:latin typeface="Calibri"/>
              </a:rPr>
              <a:t>The demo holds no real health data and collects no government ID. No outside body has reviewed the product yet.</a:t>
            </a:r>
          </a:p>
        </p:txBody>
      </p:sp>
      <p:sp>
        <p:nvSpPr>
          <p:cNvPr id="71" name="Rounded Rectangle 70"/>
          <p:cNvSpPr/>
          <p:nvPr/>
        </p:nvSpPr>
        <p:spPr>
          <a:xfrm>
            <a:off x="8065008" y="3639312"/>
            <a:ext cx="3474720" cy="1673352"/>
          </a:xfrm>
          <a:prstGeom prst="roundRect">
            <a:avLst>
              <a:gd name="adj" fmla="val 3825"/>
            </a:avLst>
          </a:prstGeom>
          <a:solidFill>
            <a:srgbClr val="EAF4FB"/>
          </a:solidFill>
          <a:ln>
            <a:noFill/>
          </a:ln>
          <a:effectLst/>
        </p:spPr>
        <p:txBody>
          <a:bodyPr rtlCol="0" anchor="t" lIns="128016" rIns="128016" tIns="91440" bIns="91440" wrap="square"/>
          <a:lstStyle/>
          <a:p>
            <a:pPr algn="l">
              <a:spcBef>
                <a:spcPts val="0"/>
              </a:spcBef>
              <a:spcAft>
                <a:spcPts val="500"/>
              </a:spcAft>
            </a:pPr>
            <a:r>
              <a:rPr sz="1700" b="1" i="0">
                <a:solidFill>
                  <a:srgbClr val="253653"/>
                </a:solidFill>
                <a:latin typeface="Calibri"/>
              </a:rPr>
              <a:t>No money in the apps</a:t>
            </a:r>
          </a:p>
          <a:p>
            <a:pPr algn="l">
              <a:spcBef>
                <a:spcPts val="0"/>
              </a:spcBef>
              <a:spcAft>
                <a:spcPts val="500"/>
              </a:spcAft>
            </a:pPr>
            <a:r>
              <a:rPr sz="1500" b="0" i="0">
                <a:solidFill>
                  <a:srgbClr val="1F2933"/>
                </a:solidFill>
                <a:latin typeface="Calibri"/>
              </a:rPr>
              <a:t>Nothing about payments, bills or insurance in the hospital, nurse or patient apps.</a:t>
            </a:r>
          </a:p>
        </p:txBody>
      </p:sp>
      <p:sp>
        <p:nvSpPr>
          <p:cNvPr id="72" name="Rounded Rectangle 71"/>
          <p:cNvSpPr/>
          <p:nvPr/>
        </p:nvSpPr>
        <p:spPr>
          <a:xfrm>
            <a:off x="658368" y="5449824"/>
            <a:ext cx="10881360" cy="640080"/>
          </a:xfrm>
          <a:prstGeom prst="roundRect">
            <a:avLst>
              <a:gd name="adj" fmla="val 10000"/>
            </a:avLst>
          </a:prstGeom>
          <a:solidFill>
            <a:srgbClr val="F1F3F5"/>
          </a:solidFill>
          <a:ln>
            <a:noFill/>
          </a:ln>
          <a:effectLst/>
        </p:spPr>
        <p:txBody>
          <a:bodyPr rtlCol="0" anchor="ctr" lIns="128016" rIns="128016" tIns="91440" bIns="91440" wrap="square"/>
          <a:lstStyle/>
          <a:p>
            <a:pPr algn="l">
              <a:spcBef>
                <a:spcPts val="0"/>
              </a:spcBef>
              <a:spcAft>
                <a:spcPts val="0"/>
              </a:spcAft>
            </a:pPr>
            <a:r>
              <a:rPr sz="1400" b="1" i="0">
                <a:solidFill>
                  <a:srgbClr val="253653"/>
                </a:solidFill>
                <a:latin typeface="Calibri"/>
              </a:rPr>
              <a:t>Accessible:</a:t>
            </a:r>
            <a:r>
              <a:rPr sz="1400" b="0" i="0">
                <a:solidFill>
                  <a:srgbClr val="1F2933"/>
                </a:solidFill>
                <a:latin typeface="Calibri"/>
              </a:rPr>
              <a:t> large text, one action per screen, voice in the patient's language, no typing.   </a:t>
            </a:r>
            <a:r>
              <a:rPr sz="1400" b="1" i="0">
                <a:solidFill>
                  <a:srgbClr val="253653"/>
                </a:solidFill>
                <a:latin typeface="Calibri"/>
              </a:rPr>
              <a:t>Law:</a:t>
            </a:r>
            <a:r>
              <a:rPr sz="1400" b="0" i="0">
                <a:solidFill>
                  <a:srgbClr val="1F2933"/>
                </a:solidFill>
                <a:latin typeface="Calibri"/>
              </a:rPr>
              <a:t> designed for India's DPDP Act 2023; we claim nothing until it is checked.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6" name="Google Shape;56;p4"/>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4"/>
              </a:buClr>
              <a:buSzPts val="3000"/>
              <a:buFont typeface="Play"/>
              <a:buNone/>
            </a:pPr>
            <a:r>
              <a:rPr b="1" lang="en-IN" sz="3000">
                <a:solidFill>
                  <a:schemeClr val="accent4"/>
                </a:solidFill>
                <a:latin typeface="Play"/>
                <a:ea typeface="Play"/>
                <a:cs typeface="Play"/>
                <a:sym typeface="Play"/>
              </a:rPr>
              <a:t>MVP / Prototype: Honest Status</a:t>
            </a:r>
            <a:endParaRPr sz="2400">
              <a:solidFill>
                <a:schemeClr val="accent4"/>
              </a:solidFill>
              <a:latin typeface="Calibri"/>
              <a:ea typeface="Calibri"/>
              <a:cs typeface="Calibri"/>
              <a:sym typeface="Calibri"/>
            </a:endParaRPr>
          </a:p>
        </p:txBody>
      </p:sp>
      <p:sp>
        <p:nvSpPr>
          <p:cNvPr id="58" name="Google Shape;58;p4"/>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 name="Google Shape;59;p4"/>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 name="Google Shape;60;p4"/>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 name="Google Shape;61;p4"/>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 name="Google Shape;62;p4"/>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63" name="Google Shape;63;p4"/>
          <p:cNvSpPr txBox="1"/>
          <p:nvPr/>
        </p:nvSpPr>
        <p:spPr>
          <a:xfrm>
            <a:off x="11109960" y="6547104"/>
            <a:ext cx="438912"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11</a:t>
            </a:r>
            <a:endParaRPr/>
          </a:p>
        </p:txBody>
      </p:sp>
      <p:pic>
        <p:nvPicPr>
          <p:cNvPr id="64" name="Picture 63" descr="Dolphin Tank India logo"/>
          <p:cNvPicPr>
            <a:picLocks noChangeAspect="1"/>
          </p:cNvPicPr>
          <p:nvPr/>
        </p:nvPicPr>
        <p:blipFill>
          <a:blip r:embed="rId2"/>
          <a:stretch>
            <a:fillRect/>
          </a:stretch>
        </p:blipFill>
        <p:spPr>
          <a:xfrm>
            <a:off x="10669520" y="146304"/>
            <a:ext cx="1387352" cy="654087"/>
          </a:xfrm>
          <a:prstGeom prst="rect">
            <a:avLst/>
          </a:prstGeom>
        </p:spPr>
      </p:pic>
      <p:sp>
        <p:nvSpPr>
          <p:cNvPr id="65" name="TextBox 64"/>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Honest status: the software works, the device is not built, and no patient has used it yet.</a:t>
            </a:r>
          </a:p>
        </p:txBody>
      </p:sp>
      <p:sp>
        <p:nvSpPr>
          <p:cNvPr id="66" name="Rounded Rectangle 65"/>
          <p:cNvSpPr/>
          <p:nvPr/>
        </p:nvSpPr>
        <p:spPr>
          <a:xfrm>
            <a:off x="658368" y="1828800"/>
            <a:ext cx="3474720" cy="3200400"/>
          </a:xfrm>
          <a:prstGeom prst="roundRect">
            <a:avLst>
              <a:gd name="adj" fmla="val 2000"/>
            </a:avLst>
          </a:prstGeom>
          <a:solidFill>
            <a:srgbClr val="E6F4EA"/>
          </a:solidFill>
          <a:ln>
            <a:noFill/>
          </a:ln>
          <a:effectLst/>
        </p:spPr>
        <p:txBody>
          <a:bodyPr rtlCol="0" anchor="t" lIns="128016" rIns="128016" tIns="91440" bIns="91440"/>
          <a:lstStyle/>
          <a:p>
            <a:pPr algn="ctr"/>
          </a:p>
        </p:txBody>
      </p:sp>
      <p:sp>
        <p:nvSpPr>
          <p:cNvPr id="67" name="TextBox 66"/>
          <p:cNvSpPr txBox="1"/>
          <p:nvPr/>
        </p:nvSpPr>
        <p:spPr>
          <a:xfrm>
            <a:off x="822959" y="1920240"/>
            <a:ext cx="3145536" cy="365760"/>
          </a:xfrm>
          <a:prstGeom prst="rect">
            <a:avLst/>
          </a:prstGeom>
          <a:noFill/>
        </p:spPr>
        <p:txBody>
          <a:bodyPr wrap="square" lIns="0" rIns="0" tIns="0" bIns="0" anchor="ctr">
            <a:spAutoFit/>
          </a:bodyPr>
          <a:lstStyle/>
          <a:p>
            <a:pPr algn="l">
              <a:spcBef>
                <a:spcPts val="0"/>
              </a:spcBef>
              <a:spcAft>
                <a:spcPts val="0"/>
              </a:spcAft>
            </a:pPr>
            <a:r>
              <a:rPr sz="1800" b="1" i="0">
                <a:solidFill>
                  <a:srgbClr val="1B7035"/>
                </a:solidFill>
                <a:latin typeface="Calibri"/>
              </a:rPr>
              <a:t>Working today</a:t>
            </a:r>
          </a:p>
        </p:txBody>
      </p:sp>
      <p:sp>
        <p:nvSpPr>
          <p:cNvPr id="68" name="TextBox 67"/>
          <p:cNvSpPr txBox="1"/>
          <p:nvPr/>
        </p:nvSpPr>
        <p:spPr>
          <a:xfrm>
            <a:off x="822959" y="2359152"/>
            <a:ext cx="3145536" cy="2606040"/>
          </a:xfrm>
          <a:prstGeom prst="rect">
            <a:avLst/>
          </a:prstGeom>
          <a:noFill/>
        </p:spPr>
        <p:txBody>
          <a:bodyPr wrap="square" lIns="0" rIns="0" tIns="0" bIns="0" anchor="t">
            <a:spAutoFit/>
          </a:bodyPr>
          <a:lstStyle/>
          <a:p>
            <a:pPr algn="l" marL="182880" indent="-182880">
              <a:spcBef>
                <a:spcPts val="0"/>
              </a:spcBef>
              <a:spcAft>
                <a:spcPts val="600"/>
              </a:spcAft>
              <a:buFont typeface="Arial"/>
              <a:buChar char="•"/>
            </a:pPr>
            <a:r>
              <a:rPr sz="1400" b="0" i="0">
                <a:solidFill>
                  <a:srgbClr val="1F2933"/>
                </a:solidFill>
                <a:latin typeface="Calibri"/>
              </a:rPr>
              <a:t>Public site and staff logins; hospitals kept apart</a:t>
            </a:r>
          </a:p>
          <a:p>
            <a:pPr algn="l" marL="182880" indent="-182880">
              <a:spcBef>
                <a:spcPts val="0"/>
              </a:spcBef>
              <a:spcAft>
                <a:spcPts val="600"/>
              </a:spcAft>
              <a:buFont typeface="Arial"/>
              <a:buChar char="•"/>
            </a:pPr>
            <a:r>
              <a:rPr sz="1400" b="0" i="0">
                <a:solidFill>
                  <a:srgbClr val="1F2933"/>
                </a:solidFill>
                <a:latin typeface="Calibri"/>
              </a:rPr>
              <a:t>Nurse triage list and alerts, by fixed rules</a:t>
            </a:r>
          </a:p>
          <a:p>
            <a:pPr algn="l" marL="182880" indent="-182880">
              <a:spcBef>
                <a:spcPts val="0"/>
              </a:spcBef>
              <a:spcAft>
                <a:spcPts val="600"/>
              </a:spcAft>
              <a:buFont typeface="Arial"/>
              <a:buChar char="•"/>
            </a:pPr>
            <a:r>
              <a:rPr sz="1400" b="0" i="0">
                <a:solidFill>
                  <a:srgbClr val="1F2933"/>
                </a:solidFill>
                <a:latin typeface="Calibri"/>
              </a:rPr>
              <a:t>Patient app with a voice coach in 10 Indian languages and English</a:t>
            </a:r>
          </a:p>
          <a:p>
            <a:pPr algn="l" marL="182880" indent="-182880">
              <a:spcBef>
                <a:spcPts val="0"/>
              </a:spcBef>
              <a:spcAft>
                <a:spcPts val="600"/>
              </a:spcAft>
              <a:buFont typeface="Arial"/>
              <a:buChar char="•"/>
            </a:pPr>
            <a:r>
              <a:rPr sz="1400" b="0" i="0">
                <a:solidFill>
                  <a:srgbClr val="1F2933"/>
                </a:solidFill>
                <a:latin typeface="Calibri"/>
              </a:rPr>
              <a:t>The doctor's prescription on the patient's phone, pharmacy screen and QR check</a:t>
            </a:r>
          </a:p>
          <a:p>
            <a:pPr algn="l" marL="182880" indent="-182880">
              <a:spcBef>
                <a:spcPts val="0"/>
              </a:spcBef>
              <a:spcAft>
                <a:spcPts val="600"/>
              </a:spcAft>
              <a:buFont typeface="Arial"/>
              <a:buChar char="•"/>
            </a:pPr>
            <a:r>
              <a:rPr sz="1400" b="0" i="0">
                <a:solidFill>
                  <a:srgbClr val="1F2933"/>
                </a:solidFill>
                <a:latin typeface="Calibri"/>
              </a:rPr>
              <a:t>400+ automated tests</a:t>
            </a:r>
          </a:p>
        </p:txBody>
      </p:sp>
      <p:sp>
        <p:nvSpPr>
          <p:cNvPr id="69" name="Rounded Rectangle 68"/>
          <p:cNvSpPr/>
          <p:nvPr/>
        </p:nvSpPr>
        <p:spPr>
          <a:xfrm>
            <a:off x="4361688" y="1828800"/>
            <a:ext cx="3474720" cy="3200400"/>
          </a:xfrm>
          <a:prstGeom prst="roundRect">
            <a:avLst>
              <a:gd name="adj" fmla="val 2000"/>
            </a:avLst>
          </a:prstGeom>
          <a:solidFill>
            <a:srgbClr val="FFF5E1"/>
          </a:solidFill>
          <a:ln>
            <a:noFill/>
          </a:ln>
          <a:effectLst/>
        </p:spPr>
        <p:txBody>
          <a:bodyPr rtlCol="0" anchor="t" lIns="128016" rIns="128016" tIns="91440" bIns="91440"/>
          <a:lstStyle/>
          <a:p>
            <a:pPr algn="ctr"/>
          </a:p>
        </p:txBody>
      </p:sp>
      <p:sp>
        <p:nvSpPr>
          <p:cNvPr id="70" name="TextBox 69"/>
          <p:cNvSpPr txBox="1"/>
          <p:nvPr/>
        </p:nvSpPr>
        <p:spPr>
          <a:xfrm>
            <a:off x="4526279" y="1920240"/>
            <a:ext cx="3145536" cy="365760"/>
          </a:xfrm>
          <a:prstGeom prst="rect">
            <a:avLst/>
          </a:prstGeom>
          <a:noFill/>
        </p:spPr>
        <p:txBody>
          <a:bodyPr wrap="square" lIns="0" rIns="0" tIns="0" bIns="0" anchor="ctr">
            <a:spAutoFit/>
          </a:bodyPr>
          <a:lstStyle/>
          <a:p>
            <a:pPr algn="l">
              <a:spcBef>
                <a:spcPts val="0"/>
              </a:spcBef>
              <a:spcAft>
                <a:spcPts val="0"/>
              </a:spcAft>
            </a:pPr>
            <a:r>
              <a:rPr sz="1800" b="1" i="0">
                <a:solidFill>
                  <a:srgbClr val="8F5100"/>
                </a:solidFill>
                <a:latin typeface="Calibri"/>
              </a:rPr>
              <a:t>Simulated</a:t>
            </a:r>
          </a:p>
        </p:txBody>
      </p:sp>
      <p:sp>
        <p:nvSpPr>
          <p:cNvPr id="71" name="TextBox 70"/>
          <p:cNvSpPr txBox="1"/>
          <p:nvPr/>
        </p:nvSpPr>
        <p:spPr>
          <a:xfrm>
            <a:off x="4526279" y="2359152"/>
            <a:ext cx="3145536" cy="2606040"/>
          </a:xfrm>
          <a:prstGeom prst="rect">
            <a:avLst/>
          </a:prstGeom>
          <a:noFill/>
        </p:spPr>
        <p:txBody>
          <a:bodyPr wrap="square" lIns="0" rIns="0" tIns="0" bIns="0" anchor="t">
            <a:spAutoFit/>
          </a:bodyPr>
          <a:lstStyle/>
          <a:p>
            <a:pPr algn="l" marL="182880" indent="-182880">
              <a:spcBef>
                <a:spcPts val="0"/>
              </a:spcBef>
              <a:spcAft>
                <a:spcPts val="600"/>
              </a:spcAft>
              <a:buFont typeface="Arial"/>
              <a:buChar char="•"/>
            </a:pPr>
            <a:r>
              <a:rPr sz="1400" b="0" i="0">
                <a:solidFill>
                  <a:srgbClr val="1F2933"/>
                </a:solidFill>
                <a:latin typeface="Calibri"/>
              </a:rPr>
              <a:t>Breaths: from a built-in simulator</a:t>
            </a:r>
          </a:p>
          <a:p>
            <a:pPr algn="l" marL="182880" indent="-182880">
              <a:spcBef>
                <a:spcPts val="0"/>
              </a:spcBef>
              <a:spcAft>
                <a:spcPts val="600"/>
              </a:spcAft>
              <a:buFont typeface="Arial"/>
              <a:buChar char="•"/>
            </a:pPr>
            <a:r>
              <a:rPr sz="1400" b="0" i="0">
                <a:solidFill>
                  <a:srgbClr val="1F2933"/>
                </a:solidFill>
                <a:latin typeface="Calibri"/>
              </a:rPr>
              <a:t>Breath model: 95.8% on simulated breaths. Real-patient accuracy is not measured</a:t>
            </a:r>
          </a:p>
          <a:p>
            <a:pPr algn="l" marL="182880" indent="-182880">
              <a:spcBef>
                <a:spcPts val="0"/>
              </a:spcBef>
              <a:spcAft>
                <a:spcPts val="600"/>
              </a:spcAft>
              <a:buFont typeface="Arial"/>
              <a:buChar char="•"/>
            </a:pPr>
            <a:r>
              <a:rPr sz="1400" b="0" i="0">
                <a:solidFill>
                  <a:srgbClr val="1F2933"/>
                </a:solidFill>
                <a:latin typeface="Calibri"/>
              </a:rPr>
              <a:t>WhatsApp updates and phone calls: previews, not real sends</a:t>
            </a:r>
          </a:p>
          <a:p>
            <a:pPr algn="l" marL="182880" indent="-182880">
              <a:spcBef>
                <a:spcPts val="0"/>
              </a:spcBef>
              <a:spcAft>
                <a:spcPts val="600"/>
              </a:spcAft>
              <a:buFont typeface="Arial"/>
              <a:buChar char="•"/>
            </a:pPr>
            <a:r>
              <a:rPr sz="1400" b="0" i="0">
                <a:solidFill>
                  <a:srgbClr val="1F2933"/>
                </a:solidFill>
                <a:latin typeface="Calibri"/>
              </a:rPr>
              <a:t>Every patient, staff member and hospital in the demo is fictional</a:t>
            </a:r>
          </a:p>
        </p:txBody>
      </p:sp>
      <p:sp>
        <p:nvSpPr>
          <p:cNvPr id="72" name="Rounded Rectangle 71"/>
          <p:cNvSpPr/>
          <p:nvPr/>
        </p:nvSpPr>
        <p:spPr>
          <a:xfrm>
            <a:off x="8065008" y="1828800"/>
            <a:ext cx="3474720" cy="3200400"/>
          </a:xfrm>
          <a:prstGeom prst="roundRect">
            <a:avLst>
              <a:gd name="adj" fmla="val 2000"/>
            </a:avLst>
          </a:prstGeom>
          <a:solidFill>
            <a:srgbClr val="FDECEA"/>
          </a:solidFill>
          <a:ln>
            <a:noFill/>
          </a:ln>
          <a:effectLst/>
        </p:spPr>
        <p:txBody>
          <a:bodyPr rtlCol="0" anchor="t" lIns="128016" rIns="128016" tIns="91440" bIns="91440"/>
          <a:lstStyle/>
          <a:p>
            <a:pPr algn="ctr"/>
          </a:p>
        </p:txBody>
      </p:sp>
      <p:sp>
        <p:nvSpPr>
          <p:cNvPr id="73" name="TextBox 72"/>
          <p:cNvSpPr txBox="1"/>
          <p:nvPr/>
        </p:nvSpPr>
        <p:spPr>
          <a:xfrm>
            <a:off x="8229600" y="1920240"/>
            <a:ext cx="3145536" cy="365760"/>
          </a:xfrm>
          <a:prstGeom prst="rect">
            <a:avLst/>
          </a:prstGeom>
          <a:noFill/>
        </p:spPr>
        <p:txBody>
          <a:bodyPr wrap="square" lIns="0" rIns="0" tIns="0" bIns="0" anchor="ctr">
            <a:spAutoFit/>
          </a:bodyPr>
          <a:lstStyle/>
          <a:p>
            <a:pPr algn="l">
              <a:spcBef>
                <a:spcPts val="0"/>
              </a:spcBef>
              <a:spcAft>
                <a:spcPts val="0"/>
              </a:spcAft>
            </a:pPr>
            <a:r>
              <a:rPr sz="1800" b="1" i="0">
                <a:solidFill>
                  <a:srgbClr val="B3261E"/>
                </a:solidFill>
                <a:latin typeface="Calibri"/>
              </a:rPr>
              <a:t>Not yet</a:t>
            </a:r>
          </a:p>
        </p:txBody>
      </p:sp>
      <p:sp>
        <p:nvSpPr>
          <p:cNvPr id="74" name="TextBox 73"/>
          <p:cNvSpPr txBox="1"/>
          <p:nvPr/>
        </p:nvSpPr>
        <p:spPr>
          <a:xfrm>
            <a:off x="8229600" y="2359152"/>
            <a:ext cx="3145536" cy="2606040"/>
          </a:xfrm>
          <a:prstGeom prst="rect">
            <a:avLst/>
          </a:prstGeom>
          <a:noFill/>
        </p:spPr>
        <p:txBody>
          <a:bodyPr wrap="square" lIns="0" rIns="0" tIns="0" bIns="0" anchor="t">
            <a:spAutoFit/>
          </a:bodyPr>
          <a:lstStyle/>
          <a:p>
            <a:pPr algn="l" marL="182880" indent="-182880">
              <a:spcBef>
                <a:spcPts val="0"/>
              </a:spcBef>
              <a:spcAft>
                <a:spcPts val="600"/>
              </a:spcAft>
              <a:buFont typeface="Arial"/>
              <a:buChar char="•"/>
            </a:pPr>
            <a:r>
              <a:rPr sz="1400" b="0" i="0">
                <a:solidFill>
                  <a:srgbClr val="1F2933"/>
                </a:solidFill>
                <a:latin typeface="Calibri"/>
              </a:rPr>
              <a:t>The clip-on unit: a design and a 3D model only</a:t>
            </a:r>
          </a:p>
          <a:p>
            <a:pPr algn="l" marL="182880" indent="-182880">
              <a:spcBef>
                <a:spcPts val="0"/>
              </a:spcBef>
              <a:spcAft>
                <a:spcPts val="600"/>
              </a:spcAft>
              <a:buFont typeface="Arial"/>
              <a:buChar char="•"/>
            </a:pPr>
            <a:r>
              <a:rPr sz="1400" b="0" i="0">
                <a:solidFill>
                  <a:srgbClr val="1F2933"/>
                </a:solidFill>
                <a:latin typeface="Calibri"/>
              </a:rPr>
              <a:t>Real breaths from real people</a:t>
            </a:r>
          </a:p>
          <a:p>
            <a:pPr algn="l" marL="182880" indent="-182880">
              <a:spcBef>
                <a:spcPts val="0"/>
              </a:spcBef>
              <a:spcAft>
                <a:spcPts val="600"/>
              </a:spcAft>
              <a:buFont typeface="Arial"/>
              <a:buChar char="•"/>
            </a:pPr>
            <a:r>
              <a:rPr sz="1400" b="0" i="0">
                <a:solidFill>
                  <a:srgbClr val="1F2933"/>
                </a:solidFill>
                <a:latin typeface="Calibri"/>
              </a:rPr>
              <a:t>Any patient, any pilot, any result</a:t>
            </a:r>
          </a:p>
          <a:p>
            <a:pPr algn="l" marL="182880" indent="-182880">
              <a:spcBef>
                <a:spcPts val="0"/>
              </a:spcBef>
              <a:spcAft>
                <a:spcPts val="600"/>
              </a:spcAft>
              <a:buFont typeface="Arial"/>
              <a:buChar char="•"/>
            </a:pPr>
            <a:r>
              <a:rPr sz="1400" b="0" i="0">
                <a:solidFill>
                  <a:srgbClr val="1F2933"/>
                </a:solidFill>
                <a:latin typeface="Calibri"/>
              </a:rPr>
              <a:t>Any review by a regulator or outside body</a:t>
            </a:r>
          </a:p>
          <a:p>
            <a:pPr algn="l" marL="182880" indent="-182880">
              <a:spcBef>
                <a:spcPts val="0"/>
              </a:spcBef>
              <a:spcAft>
                <a:spcPts val="600"/>
              </a:spcAft>
              <a:buFont typeface="Arial"/>
              <a:buChar char="•"/>
            </a:pPr>
            <a:r>
              <a:rPr sz="1400" b="0" i="0">
                <a:solidFill>
                  <a:srgbClr val="1F2933"/>
                </a:solidFill>
                <a:latin typeface="Calibri"/>
              </a:rPr>
              <a:t>A test with a real pharmacy</a:t>
            </a:r>
          </a:p>
        </p:txBody>
      </p:sp>
      <p:sp>
        <p:nvSpPr>
          <p:cNvPr id="75" name="Rounded Rectangle 74"/>
          <p:cNvSpPr/>
          <p:nvPr/>
        </p:nvSpPr>
        <p:spPr>
          <a:xfrm>
            <a:off x="658368" y="5175504"/>
            <a:ext cx="10881360" cy="749808"/>
          </a:xfrm>
          <a:prstGeom prst="roundRect">
            <a:avLst>
              <a:gd name="adj" fmla="val 8536"/>
            </a:avLst>
          </a:prstGeom>
          <a:solidFill>
            <a:srgbClr val="EAF4FB"/>
          </a:solidFill>
          <a:ln>
            <a:noFill/>
          </a:ln>
          <a:effectLst/>
        </p:spPr>
        <p:txBody>
          <a:bodyPr rtlCol="0" anchor="ctr" lIns="128016" rIns="128016" tIns="91440" bIns="91440" wrap="square"/>
          <a:lstStyle/>
          <a:p>
            <a:pPr algn="l">
              <a:spcBef>
                <a:spcPts val="0"/>
              </a:spcBef>
              <a:spcAft>
                <a:spcPts val="0"/>
              </a:spcAft>
            </a:pPr>
            <a:r>
              <a:rPr sz="1400" b="1" i="0">
                <a:solidFill>
                  <a:srgbClr val="253653"/>
                </a:solidFill>
                <a:latin typeface="Calibri"/>
              </a:rPr>
              <a:t>Readiness: TRL 3-4.</a:t>
            </a:r>
            <a:r>
              <a:rPr sz="1400" b="0" i="0">
                <a:solidFill>
                  <a:srgbClr val="1F2933"/>
                </a:solidFill>
                <a:latin typeface="Calibri"/>
              </a:rPr>
              <a:t> Software about TRL 4: it runs end to end on a live site with simulated breaths. Device TRL 3: a design and a 3D model. </a:t>
            </a:r>
            <a:r>
              <a:rPr sz="1400" b="1" i="0">
                <a:solidFill>
                  <a:srgbClr val="253653"/>
                </a:solidFill>
                <a:latin typeface="Calibri"/>
              </a:rPr>
              <a:t>In development now:</a:t>
            </a:r>
            <a:r>
              <a:rPr sz="1400" b="0" i="0">
                <a:solidFill>
                  <a:srgbClr val="1F2933"/>
                </a:solidFill>
                <a:latin typeface="Calibri"/>
              </a:rPr>
              <a:t> patient login with hospital registration number + PIN.</a:t>
            </a:r>
          </a:p>
        </p:txBody>
      </p:sp>
      <p:sp>
        <p:nvSpPr>
          <p:cNvPr id="76" name="TextBox 75"/>
          <p:cNvSpPr txBox="1"/>
          <p:nvPr/>
        </p:nvSpPr>
        <p:spPr>
          <a:xfrm>
            <a:off x="658368" y="6035040"/>
            <a:ext cx="9326880" cy="402336"/>
          </a:xfrm>
          <a:prstGeom prst="rect">
            <a:avLst/>
          </a:prstGeom>
          <a:noFill/>
        </p:spPr>
        <p:txBody>
          <a:bodyPr wrap="square" lIns="0" rIns="0" tIns="0" bIns="0" anchor="b">
            <a:spAutoFit/>
          </a:bodyPr>
          <a:lstStyle/>
          <a:p>
            <a:pPr algn="l">
              <a:spcBef>
                <a:spcPts val="0"/>
              </a:spcBef>
              <a:spcAft>
                <a:spcPts val="0"/>
              </a:spcAft>
            </a:pPr>
            <a:r>
              <a:rPr sz="1000" b="0" i="0">
                <a:solidFill>
                  <a:srgbClr val="5B6B7D"/>
                </a:solidFill>
                <a:latin typeface="Calibri"/>
              </a:rPr>
              <a:t>Every status label on the site comes from one list in the code (backend/app/features.py): Live / Simulated / In development / Planned.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6" name="Google Shape;56;p4"/>
          <p:cNvSpPr/>
          <p:nvPr/>
        </p:nvSpPr>
        <p:spPr>
          <a:xfrm>
            <a:off x="658368" y="146304"/>
            <a:ext cx="9750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4"/>
              </a:buClr>
              <a:buSzPts val="3000"/>
              <a:buFont typeface="Play"/>
              <a:buNone/>
            </a:pPr>
            <a:r>
              <a:rPr b="1" lang="en-IN" sz="3000">
                <a:solidFill>
                  <a:schemeClr val="accent4"/>
                </a:solidFill>
                <a:latin typeface="Play"/>
                <a:ea typeface="Play"/>
                <a:cs typeface="Play"/>
                <a:sym typeface="Play"/>
              </a:rPr>
              <a:t>Scalability: Arogya Sathi Roadmap</a:t>
            </a:r>
            <a:endParaRPr sz="2400">
              <a:solidFill>
                <a:schemeClr val="accent4"/>
              </a:solidFill>
              <a:latin typeface="Calibri"/>
              <a:ea typeface="Calibri"/>
              <a:cs typeface="Calibri"/>
              <a:sym typeface="Calibri"/>
            </a:endParaRPr>
          </a:p>
        </p:txBody>
      </p:sp>
      <p:sp>
        <p:nvSpPr>
          <p:cNvPr id="58" name="Google Shape;58;p4"/>
          <p:cNvSpPr/>
          <p:nvPr/>
        </p:nvSpPr>
        <p:spPr>
          <a:xfrm>
            <a:off x="0" y="859536"/>
            <a:ext cx="12191695" cy="64008"/>
          </a:xfrm>
          <a:prstGeom prst="rect">
            <a:avLst/>
          </a:prstGeom>
          <a:solidFill>
            <a:srgbClr val="38A0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 name="Google Shape;59;p4"/>
          <p:cNvSpPr/>
          <p:nvPr/>
        </p:nvSpPr>
        <p:spPr>
          <a:xfrm>
            <a:off x="0" y="859536"/>
            <a:ext cx="1389888" cy="64008"/>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 name="Google Shape;60;p4"/>
          <p:cNvSpPr/>
          <p:nvPr/>
        </p:nvSpPr>
        <p:spPr>
          <a:xfrm>
            <a:off x="347472" y="173736"/>
            <a:ext cx="91440" cy="457200"/>
          </a:xfrm>
          <a:prstGeom prst="rect">
            <a:avLst/>
          </a:prstGeom>
          <a:solidFill>
            <a:srgbClr val="E8701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 name="Google Shape;61;p4"/>
          <p:cNvSpPr/>
          <p:nvPr/>
        </p:nvSpPr>
        <p:spPr>
          <a:xfrm>
            <a:off x="658368" y="6510528"/>
            <a:ext cx="10881360" cy="16459"/>
          </a:xfrm>
          <a:prstGeom prst="rect">
            <a:avLst/>
          </a:prstGeom>
          <a:solidFill>
            <a:srgbClr val="B9D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 name="Google Shape;62;p4"/>
          <p:cNvSpPr txBox="1"/>
          <p:nvPr/>
        </p:nvSpPr>
        <p:spPr>
          <a:xfrm>
            <a:off x="658368" y="6565392"/>
            <a:ext cx="53035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IN" sz="800">
                <a:solidFill>
                  <a:srgbClr val="5B6B7D"/>
                </a:solidFill>
                <a:latin typeface="Arial"/>
                <a:ea typeface="Arial"/>
                <a:cs typeface="Arial"/>
                <a:sym typeface="Arial"/>
              </a:rPr>
              <a:t>DOLPHIN TANK INDIA  •  SOCIAL IMPACT HACKATHON</a:t>
            </a:r>
            <a:endParaRPr/>
          </a:p>
        </p:txBody>
      </p:sp>
      <p:sp>
        <p:nvSpPr>
          <p:cNvPr id="63" name="Google Shape;63;p4"/>
          <p:cNvSpPr txBox="1"/>
          <p:nvPr/>
        </p:nvSpPr>
        <p:spPr>
          <a:xfrm>
            <a:off x="11109960" y="6547104"/>
            <a:ext cx="438912"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IN" sz="900">
                <a:solidFill>
                  <a:srgbClr val="203050"/>
                </a:solidFill>
                <a:latin typeface="Arial"/>
                <a:ea typeface="Arial"/>
                <a:cs typeface="Arial"/>
                <a:sym typeface="Arial"/>
              </a:rPr>
              <a:t>14</a:t>
            </a:r>
            <a:endParaRPr/>
          </a:p>
        </p:txBody>
      </p:sp>
      <p:pic>
        <p:nvPicPr>
          <p:cNvPr id="64" name="Picture 63" descr="Dolphin Tank India logo"/>
          <p:cNvPicPr>
            <a:picLocks noChangeAspect="1"/>
          </p:cNvPicPr>
          <p:nvPr/>
        </p:nvPicPr>
        <p:blipFill>
          <a:blip r:embed="rId2"/>
          <a:stretch>
            <a:fillRect/>
          </a:stretch>
        </p:blipFill>
        <p:spPr>
          <a:xfrm>
            <a:off x="10669520" y="146304"/>
            <a:ext cx="1387352" cy="654087"/>
          </a:xfrm>
          <a:prstGeom prst="rect">
            <a:avLst/>
          </a:prstGeom>
        </p:spPr>
      </p:pic>
      <p:sp>
        <p:nvSpPr>
          <p:cNvPr id="65" name="TextBox 64"/>
          <p:cNvSpPr txBox="1"/>
          <p:nvPr/>
        </p:nvSpPr>
        <p:spPr>
          <a:xfrm>
            <a:off x="658368" y="987552"/>
            <a:ext cx="10881360" cy="749808"/>
          </a:xfrm>
          <a:prstGeom prst="rect">
            <a:avLst/>
          </a:prstGeom>
          <a:noFill/>
        </p:spPr>
        <p:txBody>
          <a:bodyPr wrap="square" lIns="0" rIns="0" tIns="0" bIns="0" anchor="ctr">
            <a:spAutoFit/>
          </a:bodyPr>
          <a:lstStyle/>
          <a:p>
            <a:pPr algn="l">
              <a:spcBef>
                <a:spcPts val="0"/>
              </a:spcBef>
              <a:spcAft>
                <a:spcPts val="0"/>
              </a:spcAft>
            </a:pPr>
            <a:r>
              <a:rPr sz="2200" b="1" i="0">
                <a:solidFill>
                  <a:srgbClr val="253653"/>
                </a:solidFill>
                <a:latin typeface="Calibri"/>
              </a:rPr>
              <a:t>The bigger picture: Arogya Sathi ("health companion"), with the SpiroBuddy breathing coach.</a:t>
            </a:r>
          </a:p>
        </p:txBody>
      </p:sp>
      <p:sp>
        <p:nvSpPr>
          <p:cNvPr id="66" name="Rounded Rectangle 65"/>
          <p:cNvSpPr/>
          <p:nvPr/>
        </p:nvSpPr>
        <p:spPr>
          <a:xfrm>
            <a:off x="658368" y="1828800"/>
            <a:ext cx="7269480" cy="704088"/>
          </a:xfrm>
          <a:prstGeom prst="roundRect">
            <a:avLst>
              <a:gd name="adj" fmla="val 9090"/>
            </a:avLst>
          </a:prstGeom>
          <a:solidFill>
            <a:srgbClr val="F1F3F5"/>
          </a:solidFill>
          <a:ln>
            <a:noFill/>
          </a:ln>
          <a:effectLst/>
        </p:spPr>
        <p:txBody>
          <a:bodyPr rtlCol="0" anchor="t" lIns="128016" rIns="128016" tIns="91440" bIns="91440"/>
          <a:lstStyle/>
          <a:p>
            <a:pPr algn="ctr"/>
          </a:p>
        </p:txBody>
      </p:sp>
      <p:sp>
        <p:nvSpPr>
          <p:cNvPr id="67" name="Rounded Rectangle 66"/>
          <p:cNvSpPr/>
          <p:nvPr/>
        </p:nvSpPr>
        <p:spPr>
          <a:xfrm>
            <a:off x="658368" y="1828800"/>
            <a:ext cx="1600200" cy="704088"/>
          </a:xfrm>
          <a:prstGeom prst="roundRect">
            <a:avLst>
              <a:gd name="adj" fmla="val 9090"/>
            </a:avLst>
          </a:prstGeom>
          <a:solidFill>
            <a:srgbClr val="253653"/>
          </a:solidFill>
          <a:ln>
            <a:noFill/>
          </a:ln>
          <a:effectLst/>
        </p:spPr>
        <p:txBody>
          <a:bodyPr rtlCol="0" anchor="ctr" lIns="45720" rIns="45720" wrap="square"/>
          <a:lstStyle/>
          <a:p>
            <a:pPr algn="ctr">
              <a:spcBef>
                <a:spcPts val="0"/>
              </a:spcBef>
              <a:spcAft>
                <a:spcPts val="0"/>
              </a:spcAft>
            </a:pPr>
            <a:r>
              <a:rPr sz="1600" b="1" i="0">
                <a:solidFill>
                  <a:srgbClr val="FFFFFF"/>
                </a:solidFill>
                <a:latin typeface="Calibri"/>
              </a:rPr>
              <a:t>Hospital</a:t>
            </a:r>
          </a:p>
        </p:txBody>
      </p:sp>
      <p:sp>
        <p:nvSpPr>
          <p:cNvPr id="68" name="TextBox 67"/>
          <p:cNvSpPr txBox="1"/>
          <p:nvPr/>
        </p:nvSpPr>
        <p:spPr>
          <a:xfrm>
            <a:off x="2395728" y="1828800"/>
            <a:ext cx="3611880" cy="704088"/>
          </a:xfrm>
          <a:prstGeom prst="rect">
            <a:avLst/>
          </a:prstGeom>
          <a:noFill/>
        </p:spPr>
        <p:txBody>
          <a:bodyPr wrap="square" lIns="0" rIns="0" tIns="0" bIns="0" anchor="ctr">
            <a:spAutoFit/>
          </a:bodyPr>
          <a:lstStyle/>
          <a:p>
            <a:pPr algn="l">
              <a:spcBef>
                <a:spcPts val="0"/>
              </a:spcBef>
              <a:spcAft>
                <a:spcPts val="0"/>
              </a:spcAft>
            </a:pPr>
            <a:r>
              <a:rPr sz="1400" b="0" i="0">
                <a:solidFill>
                  <a:srgbClr val="1F2933"/>
                </a:solidFill>
                <a:latin typeface="Calibri"/>
              </a:rPr>
              <a:t>Whole-hospital view: check-ins, check-outs, beds</a:t>
            </a:r>
          </a:p>
        </p:txBody>
      </p:sp>
      <p:sp>
        <p:nvSpPr>
          <p:cNvPr id="69" name="Rounded Rectangle 68"/>
          <p:cNvSpPr/>
          <p:nvPr/>
        </p:nvSpPr>
        <p:spPr>
          <a:xfrm>
            <a:off x="6126480" y="2039112"/>
            <a:ext cx="1691640" cy="274320"/>
          </a:xfrm>
          <a:prstGeom prst="roundRect">
            <a:avLst>
              <a:gd name="adj" fmla="val 50000"/>
            </a:avLst>
          </a:prstGeom>
          <a:solidFill>
            <a:srgbClr val="E9ECEF"/>
          </a:solidFill>
          <a:ln>
            <a:noFill/>
          </a:ln>
          <a:effectLst/>
        </p:spPr>
        <p:txBody>
          <a:bodyPr rtlCol="0" anchor="ctr" lIns="45720" rIns="45720" wrap="square"/>
          <a:lstStyle/>
          <a:p>
            <a:pPr algn="ctr">
              <a:spcBef>
                <a:spcPts val="0"/>
              </a:spcBef>
              <a:spcAft>
                <a:spcPts val="0"/>
              </a:spcAft>
            </a:pPr>
            <a:r>
              <a:rPr sz="1200" b="1" i="0">
                <a:solidFill>
                  <a:srgbClr val="44505C"/>
                </a:solidFill>
                <a:latin typeface="Calibri"/>
              </a:rPr>
              <a:t>Planned</a:t>
            </a:r>
          </a:p>
        </p:txBody>
      </p:sp>
      <p:sp>
        <p:nvSpPr>
          <p:cNvPr id="70" name="Rounded Rectangle 69"/>
          <p:cNvSpPr/>
          <p:nvPr/>
        </p:nvSpPr>
        <p:spPr>
          <a:xfrm>
            <a:off x="658368" y="2624328"/>
            <a:ext cx="7269480" cy="704088"/>
          </a:xfrm>
          <a:prstGeom prst="roundRect">
            <a:avLst>
              <a:gd name="adj" fmla="val 9090"/>
            </a:avLst>
          </a:prstGeom>
          <a:solidFill>
            <a:srgbClr val="F1F3F5"/>
          </a:solidFill>
          <a:ln>
            <a:noFill/>
          </a:ln>
          <a:effectLst/>
        </p:spPr>
        <p:txBody>
          <a:bodyPr rtlCol="0" anchor="t" lIns="128016" rIns="128016" tIns="91440" bIns="91440"/>
          <a:lstStyle/>
          <a:p>
            <a:pPr algn="ctr"/>
          </a:p>
        </p:txBody>
      </p:sp>
      <p:sp>
        <p:nvSpPr>
          <p:cNvPr id="71" name="Rounded Rectangle 70"/>
          <p:cNvSpPr/>
          <p:nvPr/>
        </p:nvSpPr>
        <p:spPr>
          <a:xfrm>
            <a:off x="658368" y="2624328"/>
            <a:ext cx="1600200" cy="704088"/>
          </a:xfrm>
          <a:prstGeom prst="roundRect">
            <a:avLst>
              <a:gd name="adj" fmla="val 9090"/>
            </a:avLst>
          </a:prstGeom>
          <a:solidFill>
            <a:srgbClr val="253653"/>
          </a:solidFill>
          <a:ln>
            <a:noFill/>
          </a:ln>
          <a:effectLst/>
        </p:spPr>
        <p:txBody>
          <a:bodyPr rtlCol="0" anchor="ctr" lIns="45720" rIns="45720" wrap="square"/>
          <a:lstStyle/>
          <a:p>
            <a:pPr algn="ctr">
              <a:spcBef>
                <a:spcPts val="0"/>
              </a:spcBef>
              <a:spcAft>
                <a:spcPts val="0"/>
              </a:spcAft>
            </a:pPr>
            <a:r>
              <a:rPr sz="1600" b="1" i="0">
                <a:solidFill>
                  <a:srgbClr val="FFFFFF"/>
                </a:solidFill>
                <a:latin typeface="Calibri"/>
              </a:rPr>
              <a:t>Department</a:t>
            </a:r>
          </a:p>
        </p:txBody>
      </p:sp>
      <p:sp>
        <p:nvSpPr>
          <p:cNvPr id="72" name="TextBox 71"/>
          <p:cNvSpPr txBox="1"/>
          <p:nvPr/>
        </p:nvSpPr>
        <p:spPr>
          <a:xfrm>
            <a:off x="2395728" y="2624328"/>
            <a:ext cx="3611880" cy="704088"/>
          </a:xfrm>
          <a:prstGeom prst="rect">
            <a:avLst/>
          </a:prstGeom>
          <a:noFill/>
        </p:spPr>
        <p:txBody>
          <a:bodyPr wrap="square" lIns="0" rIns="0" tIns="0" bIns="0" anchor="ctr">
            <a:spAutoFit/>
          </a:bodyPr>
          <a:lstStyle/>
          <a:p>
            <a:pPr algn="l">
              <a:spcBef>
                <a:spcPts val="0"/>
              </a:spcBef>
              <a:spcAft>
                <a:spcPts val="0"/>
              </a:spcAft>
            </a:pPr>
            <a:r>
              <a:rPr sz="1400" b="0" i="0">
                <a:solidFill>
                  <a:srgbClr val="1F2933"/>
                </a:solidFill>
                <a:latin typeface="Calibri"/>
              </a:rPr>
              <a:t>Registers patients; bed board, appointments, nurse roster</a:t>
            </a:r>
          </a:p>
        </p:txBody>
      </p:sp>
      <p:sp>
        <p:nvSpPr>
          <p:cNvPr id="73" name="Rounded Rectangle 72"/>
          <p:cNvSpPr/>
          <p:nvPr/>
        </p:nvSpPr>
        <p:spPr>
          <a:xfrm>
            <a:off x="6126480" y="2834640"/>
            <a:ext cx="1691640" cy="274320"/>
          </a:xfrm>
          <a:prstGeom prst="roundRect">
            <a:avLst>
              <a:gd name="adj" fmla="val 50000"/>
            </a:avLst>
          </a:prstGeom>
          <a:solidFill>
            <a:srgbClr val="E9ECEF"/>
          </a:solidFill>
          <a:ln>
            <a:noFill/>
          </a:ln>
          <a:effectLst/>
        </p:spPr>
        <p:txBody>
          <a:bodyPr rtlCol="0" anchor="ctr" lIns="45720" rIns="45720" wrap="square"/>
          <a:lstStyle/>
          <a:p>
            <a:pPr algn="ctr">
              <a:spcBef>
                <a:spcPts val="0"/>
              </a:spcBef>
              <a:spcAft>
                <a:spcPts val="0"/>
              </a:spcAft>
            </a:pPr>
            <a:r>
              <a:rPr sz="1200" b="1" i="0">
                <a:solidFill>
                  <a:srgbClr val="44505C"/>
                </a:solidFill>
                <a:latin typeface="Calibri"/>
              </a:rPr>
              <a:t>Planned</a:t>
            </a:r>
          </a:p>
        </p:txBody>
      </p:sp>
      <p:sp>
        <p:nvSpPr>
          <p:cNvPr id="74" name="Rounded Rectangle 73"/>
          <p:cNvSpPr/>
          <p:nvPr/>
        </p:nvSpPr>
        <p:spPr>
          <a:xfrm>
            <a:off x="658368" y="3419856"/>
            <a:ext cx="7269480" cy="704088"/>
          </a:xfrm>
          <a:prstGeom prst="roundRect">
            <a:avLst>
              <a:gd name="adj" fmla="val 9090"/>
            </a:avLst>
          </a:prstGeom>
          <a:solidFill>
            <a:srgbClr val="F1F3F5"/>
          </a:solidFill>
          <a:ln>
            <a:noFill/>
          </a:ln>
          <a:effectLst/>
        </p:spPr>
        <p:txBody>
          <a:bodyPr rtlCol="0" anchor="t" lIns="128016" rIns="128016" tIns="91440" bIns="91440"/>
          <a:lstStyle/>
          <a:p>
            <a:pPr algn="ctr"/>
          </a:p>
        </p:txBody>
      </p:sp>
      <p:sp>
        <p:nvSpPr>
          <p:cNvPr id="75" name="Rounded Rectangle 74"/>
          <p:cNvSpPr/>
          <p:nvPr/>
        </p:nvSpPr>
        <p:spPr>
          <a:xfrm>
            <a:off x="658368" y="3419856"/>
            <a:ext cx="1600200" cy="704088"/>
          </a:xfrm>
          <a:prstGeom prst="roundRect">
            <a:avLst>
              <a:gd name="adj" fmla="val 9090"/>
            </a:avLst>
          </a:prstGeom>
          <a:solidFill>
            <a:srgbClr val="253653"/>
          </a:solidFill>
          <a:ln>
            <a:noFill/>
          </a:ln>
          <a:effectLst/>
        </p:spPr>
        <p:txBody>
          <a:bodyPr rtlCol="0" anchor="ctr" lIns="45720" rIns="45720" wrap="square"/>
          <a:lstStyle/>
          <a:p>
            <a:pPr algn="ctr">
              <a:spcBef>
                <a:spcPts val="0"/>
              </a:spcBef>
              <a:spcAft>
                <a:spcPts val="0"/>
              </a:spcAft>
            </a:pPr>
            <a:r>
              <a:rPr sz="1600" b="1" i="0">
                <a:solidFill>
                  <a:srgbClr val="FFFFFF"/>
                </a:solidFill>
                <a:latin typeface="Calibri"/>
              </a:rPr>
              <a:t>Doctor</a:t>
            </a:r>
          </a:p>
        </p:txBody>
      </p:sp>
      <p:sp>
        <p:nvSpPr>
          <p:cNvPr id="76" name="TextBox 75"/>
          <p:cNvSpPr txBox="1"/>
          <p:nvPr/>
        </p:nvSpPr>
        <p:spPr>
          <a:xfrm>
            <a:off x="2395728" y="3419856"/>
            <a:ext cx="3611880" cy="704088"/>
          </a:xfrm>
          <a:prstGeom prst="rect">
            <a:avLst/>
          </a:prstGeom>
          <a:noFill/>
        </p:spPr>
        <p:txBody>
          <a:bodyPr wrap="square" lIns="0" rIns="0" tIns="0" bIns="0" anchor="ctr">
            <a:spAutoFit/>
          </a:bodyPr>
          <a:lstStyle/>
          <a:p>
            <a:pPr algn="l">
              <a:spcBef>
                <a:spcPts val="0"/>
              </a:spcBef>
              <a:spcAft>
                <a:spcPts val="0"/>
              </a:spcAft>
            </a:pPr>
            <a:r>
              <a:rPr sz="1400" b="0" i="0">
                <a:solidFill>
                  <a:srgbClr val="1F2933"/>
                </a:solidFill>
                <a:latin typeface="Calibri"/>
              </a:rPr>
              <a:t>Today's patients, records, prescriptions. "My day" page: Planned</a:t>
            </a:r>
          </a:p>
        </p:txBody>
      </p:sp>
      <p:sp>
        <p:nvSpPr>
          <p:cNvPr id="77" name="Rounded Rectangle 76"/>
          <p:cNvSpPr/>
          <p:nvPr/>
        </p:nvSpPr>
        <p:spPr>
          <a:xfrm>
            <a:off x="6126480" y="3630168"/>
            <a:ext cx="1691640" cy="274320"/>
          </a:xfrm>
          <a:prstGeom prst="roundRect">
            <a:avLst>
              <a:gd name="adj" fmla="val 50000"/>
            </a:avLst>
          </a:prstGeom>
          <a:solidFill>
            <a:srgbClr val="E6F4EA"/>
          </a:solidFill>
          <a:ln>
            <a:noFill/>
          </a:ln>
          <a:effectLst/>
        </p:spPr>
        <p:txBody>
          <a:bodyPr rtlCol="0" anchor="ctr" lIns="45720" rIns="45720" wrap="square"/>
          <a:lstStyle/>
          <a:p>
            <a:pPr algn="ctr">
              <a:spcBef>
                <a:spcPts val="0"/>
              </a:spcBef>
              <a:spcAft>
                <a:spcPts val="0"/>
              </a:spcAft>
            </a:pPr>
            <a:r>
              <a:rPr sz="1200" b="1" i="0">
                <a:solidFill>
                  <a:srgbClr val="1B7035"/>
                </a:solidFill>
                <a:latin typeface="Calibri"/>
              </a:rPr>
              <a:t>Live: prescriptions</a:t>
            </a:r>
          </a:p>
        </p:txBody>
      </p:sp>
      <p:sp>
        <p:nvSpPr>
          <p:cNvPr id="78" name="Rounded Rectangle 77"/>
          <p:cNvSpPr/>
          <p:nvPr/>
        </p:nvSpPr>
        <p:spPr>
          <a:xfrm>
            <a:off x="658368" y="4215383"/>
            <a:ext cx="7269480" cy="704088"/>
          </a:xfrm>
          <a:prstGeom prst="roundRect">
            <a:avLst>
              <a:gd name="adj" fmla="val 9090"/>
            </a:avLst>
          </a:prstGeom>
          <a:solidFill>
            <a:srgbClr val="F1F3F5"/>
          </a:solidFill>
          <a:ln>
            <a:noFill/>
          </a:ln>
          <a:effectLst/>
        </p:spPr>
        <p:txBody>
          <a:bodyPr rtlCol="0" anchor="t" lIns="128016" rIns="128016" tIns="91440" bIns="91440"/>
          <a:lstStyle/>
          <a:p>
            <a:pPr algn="ctr"/>
          </a:p>
        </p:txBody>
      </p:sp>
      <p:sp>
        <p:nvSpPr>
          <p:cNvPr id="79" name="Rounded Rectangle 78"/>
          <p:cNvSpPr/>
          <p:nvPr/>
        </p:nvSpPr>
        <p:spPr>
          <a:xfrm>
            <a:off x="658368" y="4215383"/>
            <a:ext cx="1600200" cy="704088"/>
          </a:xfrm>
          <a:prstGeom prst="roundRect">
            <a:avLst>
              <a:gd name="adj" fmla="val 9090"/>
            </a:avLst>
          </a:prstGeom>
          <a:solidFill>
            <a:srgbClr val="253653"/>
          </a:solidFill>
          <a:ln>
            <a:noFill/>
          </a:ln>
          <a:effectLst/>
        </p:spPr>
        <p:txBody>
          <a:bodyPr rtlCol="0" anchor="ctr" lIns="45720" rIns="45720" wrap="square"/>
          <a:lstStyle/>
          <a:p>
            <a:pPr algn="ctr">
              <a:spcBef>
                <a:spcPts val="0"/>
              </a:spcBef>
              <a:spcAft>
                <a:spcPts val="0"/>
              </a:spcAft>
            </a:pPr>
            <a:r>
              <a:rPr sz="1600" b="1" i="0">
                <a:solidFill>
                  <a:srgbClr val="FFFFFF"/>
                </a:solidFill>
                <a:latin typeface="Calibri"/>
              </a:rPr>
              <a:t>Nurse</a:t>
            </a:r>
          </a:p>
        </p:txBody>
      </p:sp>
      <p:sp>
        <p:nvSpPr>
          <p:cNvPr id="80" name="TextBox 79"/>
          <p:cNvSpPr txBox="1"/>
          <p:nvPr/>
        </p:nvSpPr>
        <p:spPr>
          <a:xfrm>
            <a:off x="2395728" y="4215383"/>
            <a:ext cx="3611880" cy="704088"/>
          </a:xfrm>
          <a:prstGeom prst="rect">
            <a:avLst/>
          </a:prstGeom>
          <a:noFill/>
        </p:spPr>
        <p:txBody>
          <a:bodyPr wrap="square" lIns="0" rIns="0" tIns="0" bIns="0" anchor="ctr">
            <a:spAutoFit/>
          </a:bodyPr>
          <a:lstStyle/>
          <a:p>
            <a:pPr algn="l">
              <a:spcBef>
                <a:spcPts val="0"/>
              </a:spcBef>
              <a:spcAft>
                <a:spcPts val="0"/>
              </a:spcAft>
            </a:pPr>
            <a:r>
              <a:rPr sz="1400" b="0" i="0">
                <a:solidFill>
                  <a:srgbClr val="1F2933"/>
                </a:solidFill>
                <a:latin typeface="Calibri"/>
              </a:rPr>
              <a:t>Duty, rooms, tasks and alerts. Her phone app: Planned</a:t>
            </a:r>
          </a:p>
        </p:txBody>
      </p:sp>
      <p:sp>
        <p:nvSpPr>
          <p:cNvPr id="81" name="Rounded Rectangle 80"/>
          <p:cNvSpPr/>
          <p:nvPr/>
        </p:nvSpPr>
        <p:spPr>
          <a:xfrm>
            <a:off x="6126480" y="4425696"/>
            <a:ext cx="1691640" cy="274320"/>
          </a:xfrm>
          <a:prstGeom prst="roundRect">
            <a:avLst>
              <a:gd name="adj" fmla="val 50000"/>
            </a:avLst>
          </a:prstGeom>
          <a:solidFill>
            <a:srgbClr val="E6F4EA"/>
          </a:solidFill>
          <a:ln>
            <a:noFill/>
          </a:ln>
          <a:effectLst/>
        </p:spPr>
        <p:txBody>
          <a:bodyPr rtlCol="0" anchor="ctr" lIns="45720" rIns="45720" wrap="square"/>
          <a:lstStyle/>
          <a:p>
            <a:pPr algn="ctr">
              <a:spcBef>
                <a:spcPts val="0"/>
              </a:spcBef>
              <a:spcAft>
                <a:spcPts val="0"/>
              </a:spcAft>
            </a:pPr>
            <a:r>
              <a:rPr sz="1200" b="1" i="0">
                <a:solidFill>
                  <a:srgbClr val="1B7035"/>
                </a:solidFill>
                <a:latin typeface="Calibri"/>
              </a:rPr>
              <a:t>Live: triage list</a:t>
            </a:r>
          </a:p>
        </p:txBody>
      </p:sp>
      <p:sp>
        <p:nvSpPr>
          <p:cNvPr id="82" name="Rounded Rectangle 81"/>
          <p:cNvSpPr/>
          <p:nvPr/>
        </p:nvSpPr>
        <p:spPr>
          <a:xfrm>
            <a:off x="658368" y="5010912"/>
            <a:ext cx="7269480" cy="704088"/>
          </a:xfrm>
          <a:prstGeom prst="roundRect">
            <a:avLst>
              <a:gd name="adj" fmla="val 9090"/>
            </a:avLst>
          </a:prstGeom>
          <a:solidFill>
            <a:srgbClr val="F1F3F5"/>
          </a:solidFill>
          <a:ln>
            <a:noFill/>
          </a:ln>
          <a:effectLst/>
        </p:spPr>
        <p:txBody>
          <a:bodyPr rtlCol="0" anchor="t" lIns="128016" rIns="128016" tIns="91440" bIns="91440"/>
          <a:lstStyle/>
          <a:p>
            <a:pPr algn="ctr"/>
          </a:p>
        </p:txBody>
      </p:sp>
      <p:sp>
        <p:nvSpPr>
          <p:cNvPr id="83" name="Rounded Rectangle 82"/>
          <p:cNvSpPr/>
          <p:nvPr/>
        </p:nvSpPr>
        <p:spPr>
          <a:xfrm>
            <a:off x="658368" y="5010912"/>
            <a:ext cx="1600200" cy="704088"/>
          </a:xfrm>
          <a:prstGeom prst="roundRect">
            <a:avLst>
              <a:gd name="adj" fmla="val 9090"/>
            </a:avLst>
          </a:prstGeom>
          <a:solidFill>
            <a:srgbClr val="253653"/>
          </a:solidFill>
          <a:ln>
            <a:noFill/>
          </a:ln>
          <a:effectLst/>
        </p:spPr>
        <p:txBody>
          <a:bodyPr rtlCol="0" anchor="ctr" lIns="45720" rIns="45720" wrap="square"/>
          <a:lstStyle/>
          <a:p>
            <a:pPr algn="ctr">
              <a:spcBef>
                <a:spcPts val="0"/>
              </a:spcBef>
              <a:spcAft>
                <a:spcPts val="0"/>
              </a:spcAft>
            </a:pPr>
            <a:r>
              <a:rPr sz="1600" b="1" i="0">
                <a:solidFill>
                  <a:srgbClr val="FFFFFF"/>
                </a:solidFill>
                <a:latin typeface="Calibri"/>
              </a:rPr>
              <a:t>Patient</a:t>
            </a:r>
          </a:p>
        </p:txBody>
      </p:sp>
      <p:sp>
        <p:nvSpPr>
          <p:cNvPr id="84" name="TextBox 83"/>
          <p:cNvSpPr txBox="1"/>
          <p:nvPr/>
        </p:nvSpPr>
        <p:spPr>
          <a:xfrm>
            <a:off x="2395728" y="5010912"/>
            <a:ext cx="3611880" cy="704088"/>
          </a:xfrm>
          <a:prstGeom prst="rect">
            <a:avLst/>
          </a:prstGeom>
          <a:noFill/>
        </p:spPr>
        <p:txBody>
          <a:bodyPr wrap="square" lIns="0" rIns="0" tIns="0" bIns="0" anchor="ctr">
            <a:spAutoFit/>
          </a:bodyPr>
          <a:lstStyle/>
          <a:p>
            <a:pPr algn="l">
              <a:spcBef>
                <a:spcPts val="0"/>
              </a:spcBef>
              <a:spcAft>
                <a:spcPts val="0"/>
              </a:spcAft>
            </a:pPr>
            <a:r>
              <a:rPr sz="1400" b="0" i="0">
                <a:solidFill>
                  <a:srgbClr val="1F2933"/>
                </a:solidFill>
                <a:latin typeface="Calibri"/>
              </a:rPr>
              <a:t>Prescriptions, pharmacy screen, breathing coach. Dose reminders: in development</a:t>
            </a:r>
          </a:p>
        </p:txBody>
      </p:sp>
      <p:sp>
        <p:nvSpPr>
          <p:cNvPr id="85" name="Rounded Rectangle 84"/>
          <p:cNvSpPr/>
          <p:nvPr/>
        </p:nvSpPr>
        <p:spPr>
          <a:xfrm>
            <a:off x="6126480" y="5221224"/>
            <a:ext cx="1691640" cy="274320"/>
          </a:xfrm>
          <a:prstGeom prst="roundRect">
            <a:avLst>
              <a:gd name="adj" fmla="val 50000"/>
            </a:avLst>
          </a:prstGeom>
          <a:solidFill>
            <a:srgbClr val="FFF5E1"/>
          </a:solidFill>
          <a:ln>
            <a:noFill/>
          </a:ln>
          <a:effectLst/>
        </p:spPr>
        <p:txBody>
          <a:bodyPr rtlCol="0" anchor="ctr" lIns="45720" rIns="45720" wrap="square"/>
          <a:lstStyle/>
          <a:p>
            <a:pPr algn="ctr">
              <a:spcBef>
                <a:spcPts val="0"/>
              </a:spcBef>
              <a:spcAft>
                <a:spcPts val="0"/>
              </a:spcAft>
            </a:pPr>
            <a:r>
              <a:rPr sz="1200" b="1" i="0">
                <a:solidFill>
                  <a:srgbClr val="8F5100"/>
                </a:solidFill>
                <a:latin typeface="Calibri"/>
              </a:rPr>
              <a:t>Live / Simulated</a:t>
            </a:r>
          </a:p>
        </p:txBody>
      </p:sp>
      <p:sp>
        <p:nvSpPr>
          <p:cNvPr id="86" name="Rounded Rectangle 85"/>
          <p:cNvSpPr/>
          <p:nvPr/>
        </p:nvSpPr>
        <p:spPr>
          <a:xfrm>
            <a:off x="8138160" y="1828800"/>
            <a:ext cx="3401568" cy="1243584"/>
          </a:xfrm>
          <a:prstGeom prst="roundRect">
            <a:avLst>
              <a:gd name="adj" fmla="val 5147"/>
            </a:avLst>
          </a:prstGeom>
          <a:solidFill>
            <a:srgbClr val="EAF4FB"/>
          </a:solidFill>
          <a:ln>
            <a:noFill/>
          </a:ln>
          <a:effectLst/>
        </p:spPr>
        <p:txBody>
          <a:bodyPr rtlCol="0" anchor="t" lIns="128016" rIns="128016" tIns="91440" bIns="91440" wrap="square"/>
          <a:lstStyle/>
          <a:p>
            <a:pPr algn="l">
              <a:spcBef>
                <a:spcPts val="0"/>
              </a:spcBef>
              <a:spcAft>
                <a:spcPts val="500"/>
              </a:spcAft>
            </a:pPr>
            <a:r>
              <a:rPr sz="1500" b="1" i="0">
                <a:solidFill>
                  <a:srgbClr val="253653"/>
                </a:solidFill>
                <a:latin typeface="Calibri"/>
              </a:rPr>
              <a:t>Device modules</a:t>
            </a:r>
          </a:p>
          <a:p>
            <a:pPr algn="l">
              <a:spcBef>
                <a:spcPts val="0"/>
              </a:spcBef>
              <a:spcAft>
                <a:spcPts val="500"/>
              </a:spcAft>
            </a:pPr>
            <a:r>
              <a:rPr sz="1400" b="0" i="0">
                <a:solidFill>
                  <a:srgbClr val="1F2933"/>
                </a:solidFill>
                <a:latin typeface="Calibri"/>
              </a:rPr>
              <a:t>The spirometer clip-on is device module 1. More Bluetooth devices can plug into the same screens later (Planned).</a:t>
            </a:r>
          </a:p>
        </p:txBody>
      </p:sp>
      <p:sp>
        <p:nvSpPr>
          <p:cNvPr id="87" name="Rounded Rectangle 86"/>
          <p:cNvSpPr/>
          <p:nvPr/>
        </p:nvSpPr>
        <p:spPr>
          <a:xfrm>
            <a:off x="8138160" y="3154680"/>
            <a:ext cx="3401568" cy="1243584"/>
          </a:xfrm>
          <a:prstGeom prst="roundRect">
            <a:avLst>
              <a:gd name="adj" fmla="val 5147"/>
            </a:avLst>
          </a:prstGeom>
          <a:solidFill>
            <a:srgbClr val="EAF4FB"/>
          </a:solidFill>
          <a:ln>
            <a:noFill/>
          </a:ln>
          <a:effectLst/>
        </p:spPr>
        <p:txBody>
          <a:bodyPr rtlCol="0" anchor="t" lIns="128016" rIns="128016" tIns="91440" bIns="91440" wrap="square"/>
          <a:lstStyle/>
          <a:p>
            <a:pPr algn="l">
              <a:spcBef>
                <a:spcPts val="0"/>
              </a:spcBef>
              <a:spcAft>
                <a:spcPts val="500"/>
              </a:spcAft>
            </a:pPr>
            <a:r>
              <a:rPr sz="1500" b="1" i="0">
                <a:solidFill>
                  <a:srgbClr val="253653"/>
                </a:solidFill>
                <a:latin typeface="Calibri"/>
              </a:rPr>
              <a:t>Each hospital's own look</a:t>
            </a:r>
          </a:p>
          <a:p>
            <a:pPr algn="l">
              <a:spcBef>
                <a:spcPts val="0"/>
              </a:spcBef>
              <a:spcAft>
                <a:spcPts val="500"/>
              </a:spcAft>
            </a:pPr>
            <a:r>
              <a:rPr sz="1400" b="0" i="0">
                <a:solidFill>
                  <a:srgbClr val="1F2933"/>
                </a:solidFill>
                <a:latin typeface="Calibri"/>
              </a:rPr>
              <a:t>Its name, logo and colour inside the app after login (Planned). Safety messages stay fixed.</a:t>
            </a:r>
          </a:p>
        </p:txBody>
      </p:sp>
      <p:sp>
        <p:nvSpPr>
          <p:cNvPr id="88" name="Rounded Rectangle 87"/>
          <p:cNvSpPr/>
          <p:nvPr/>
        </p:nvSpPr>
        <p:spPr>
          <a:xfrm>
            <a:off x="8138160" y="4480560"/>
            <a:ext cx="3401568" cy="1243584"/>
          </a:xfrm>
          <a:prstGeom prst="roundRect">
            <a:avLst>
              <a:gd name="adj" fmla="val 5147"/>
            </a:avLst>
          </a:prstGeom>
          <a:solidFill>
            <a:srgbClr val="FDF1E7"/>
          </a:solidFill>
          <a:ln>
            <a:noFill/>
          </a:ln>
          <a:effectLst/>
        </p:spPr>
        <p:txBody>
          <a:bodyPr rtlCol="0" anchor="t" lIns="128016" rIns="128016" tIns="91440" bIns="91440" wrap="square"/>
          <a:lstStyle/>
          <a:p>
            <a:pPr algn="l">
              <a:spcBef>
                <a:spcPts val="0"/>
              </a:spcBef>
              <a:spcAft>
                <a:spcPts val="500"/>
              </a:spcAft>
            </a:pPr>
            <a:r>
              <a:rPr sz="1500" b="1" i="0">
                <a:solidFill>
                  <a:srgbClr val="253653"/>
                </a:solidFill>
                <a:latin typeface="Calibri"/>
              </a:rPr>
              <a:t>About the name</a:t>
            </a:r>
          </a:p>
          <a:p>
            <a:pPr algn="l">
              <a:spcBef>
                <a:spcPts val="0"/>
              </a:spcBef>
              <a:spcAft>
                <a:spcPts val="500"/>
              </a:spcAft>
            </a:pPr>
            <a:r>
              <a:rPr sz="1400" b="0" i="0">
                <a:solidFill>
                  <a:srgbClr val="1F2933"/>
                </a:solidFill>
                <a:latin typeface="Calibri"/>
              </a:rPr>
              <a:t>Arogya Sathi is a working name for the planned whole-hospital app. This entry and the live site stay named SpiroBuddy.</a:t>
            </a:r>
          </a:p>
        </p:txBody>
      </p:sp>
      <p:sp>
        <p:nvSpPr>
          <p:cNvPr id="89" name="TextBox 88"/>
          <p:cNvSpPr txBox="1"/>
          <p:nvPr/>
        </p:nvSpPr>
        <p:spPr>
          <a:xfrm>
            <a:off x="658368" y="6035040"/>
            <a:ext cx="9326880" cy="402336"/>
          </a:xfrm>
          <a:prstGeom prst="rect">
            <a:avLst/>
          </a:prstGeom>
          <a:noFill/>
        </p:spPr>
        <p:txBody>
          <a:bodyPr wrap="square" lIns="0" rIns="0" tIns="0" bIns="0" anchor="b">
            <a:spAutoFit/>
          </a:bodyPr>
          <a:lstStyle/>
          <a:p>
            <a:pPr algn="l">
              <a:spcBef>
                <a:spcPts val="0"/>
              </a:spcBef>
              <a:spcAft>
                <a:spcPts val="0"/>
              </a:spcAft>
            </a:pPr>
            <a:r>
              <a:rPr sz="1000" b="0" i="0">
                <a:solidFill>
                  <a:srgbClr val="5B6B7D"/>
                </a:solidFill>
                <a:latin typeface="Calibri"/>
              </a:rPr>
              <a:t>A roadmap, not a claim: everything here beyond what the demo site marks Live or Simulated is Planned.</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CPL">
      <a:dk1>
        <a:srgbClr val="000000"/>
      </a:dk1>
      <a:lt1>
        <a:srgbClr val="FFFFFF"/>
      </a:lt1>
      <a:dk2>
        <a:srgbClr val="39302A"/>
      </a:dk2>
      <a:lt2>
        <a:srgbClr val="E5DEDB"/>
      </a:lt2>
      <a:accent1>
        <a:srgbClr val="F7C000"/>
      </a:accent1>
      <a:accent2>
        <a:srgbClr val="F19B0C"/>
      </a:accent2>
      <a:accent3>
        <a:srgbClr val="E57116"/>
      </a:accent3>
      <a:accent4>
        <a:srgbClr val="253653"/>
      </a:accent4>
      <a:accent5>
        <a:srgbClr val="3CA5D8"/>
      </a:accent5>
      <a:accent6>
        <a:srgbClr val="676767"/>
      </a:accent6>
      <a:hlink>
        <a:srgbClr val="3DA4D8"/>
      </a:hlink>
      <a:folHlink>
        <a:srgbClr val="86868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2026-10-08T09:40:18Z</dcterms:created>
  <dc:creator>Welcome CC</dc:creator>
  <dc:title>SpiroBuddy - Dolphin Tank India Social Impact Hackathon pitch</dc:title>
  <dc:subject>Health &amp; Well-being, SDG 3</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0x0101005412AF445DB6E74EB51FE2F8964C2B9F</vt:lpwstr>
  </property>
  <property fmtid="{D5CDD505-2E9C-101B-9397-08002B2CF9AE}" pid="3" name="MediaServiceImageTags">
    <vt:lpwstr/>
  </property>
</Properties>
</file>